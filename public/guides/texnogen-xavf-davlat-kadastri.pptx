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1" r:id="rId2"/>
    <p:sldId id="256" r:id="rId3"/>
    <p:sldId id="257" r:id="rId4"/>
    <p:sldId id="258" r:id="rId5"/>
    <p:sldId id="259" r:id="rId6"/>
    <p:sldId id="276" r:id="rId7"/>
    <p:sldId id="273" r:id="rId8"/>
    <p:sldId id="274" r:id="rId9"/>
    <p:sldId id="275" r:id="rId10"/>
    <p:sldId id="282" r:id="rId11"/>
    <p:sldId id="277" r:id="rId12"/>
    <p:sldId id="278" r:id="rId13"/>
    <p:sldId id="279" r:id="rId14"/>
    <p:sldId id="280" r:id="rId15"/>
    <p:sldId id="281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8" r:id="rId2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2" d="100"/>
          <a:sy n="112" d="100"/>
        </p:scale>
        <p:origin x="43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36158-A440-421D-B1AD-9539093E313C}" type="datetimeFigureOut">
              <a:rPr lang="ru-RU" smtClean="0"/>
              <a:t>08.09.2020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50828D-DA1C-4950-9F49-B6E3EB75F1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504449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36158-A440-421D-B1AD-9539093E313C}" type="datetimeFigureOut">
              <a:rPr lang="ru-RU" smtClean="0"/>
              <a:t>08.09.2020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50828D-DA1C-4950-9F49-B6E3EB75F1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818771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36158-A440-421D-B1AD-9539093E313C}" type="datetimeFigureOut">
              <a:rPr lang="ru-RU" smtClean="0"/>
              <a:t>08.09.2020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50828D-DA1C-4950-9F49-B6E3EB75F1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13085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36158-A440-421D-B1AD-9539093E313C}" type="datetimeFigureOut">
              <a:rPr lang="ru-RU" smtClean="0"/>
              <a:t>08.09.2020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50828D-DA1C-4950-9F49-B6E3EB75F1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731854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36158-A440-421D-B1AD-9539093E313C}" type="datetimeFigureOut">
              <a:rPr lang="ru-RU" smtClean="0"/>
              <a:t>08.09.2020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50828D-DA1C-4950-9F49-B6E3EB75F1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720143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36158-A440-421D-B1AD-9539093E313C}" type="datetimeFigureOut">
              <a:rPr lang="ru-RU" smtClean="0"/>
              <a:t>08.09.2020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50828D-DA1C-4950-9F49-B6E3EB75F1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373244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36158-A440-421D-B1AD-9539093E313C}" type="datetimeFigureOut">
              <a:rPr lang="ru-RU" smtClean="0"/>
              <a:t>08.09.2020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50828D-DA1C-4950-9F49-B6E3EB75F1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43839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36158-A440-421D-B1AD-9539093E313C}" type="datetimeFigureOut">
              <a:rPr lang="ru-RU" smtClean="0"/>
              <a:t>08.09.2020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50828D-DA1C-4950-9F49-B6E3EB75F1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901110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36158-A440-421D-B1AD-9539093E313C}" type="datetimeFigureOut">
              <a:rPr lang="ru-RU" smtClean="0"/>
              <a:t>08.09.2020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50828D-DA1C-4950-9F49-B6E3EB75F1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473907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36158-A440-421D-B1AD-9539093E313C}" type="datetimeFigureOut">
              <a:rPr lang="ru-RU" smtClean="0"/>
              <a:t>08.09.2020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50828D-DA1C-4950-9F49-B6E3EB75F1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68523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36158-A440-421D-B1AD-9539093E313C}" type="datetimeFigureOut">
              <a:rPr lang="ru-RU" smtClean="0"/>
              <a:t>08.09.2020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50828D-DA1C-4950-9F49-B6E3EB75F1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133733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A36158-A440-421D-B1AD-9539093E313C}" type="datetimeFigureOut">
              <a:rPr lang="ru-RU" smtClean="0"/>
              <a:t>08.09.2020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50828D-DA1C-4950-9F49-B6E3EB75F1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607297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lex.uz/docs/507436#517510" TargetMode="External"/><Relationship Id="rId2" Type="http://schemas.openxmlformats.org/officeDocument/2006/relationships/hyperlink" Target="http://lex.uz/docs/29794" TargetMode="Externa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://lex.uz/docs/1061181" TargetMode="Externa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2453431" y="2591402"/>
            <a:ext cx="7327329" cy="938896"/>
          </a:xfrm>
          <a:scene3d>
            <a:camera prst="orthographicFront"/>
            <a:lightRig rig="freezing" dir="t">
              <a:rot lat="0" lon="0" rev="5640000"/>
            </a:lightRig>
          </a:scene3d>
          <a:sp3d>
            <a:bevelT w="165100" prst="coolSlant"/>
          </a:sp3d>
        </p:spPr>
        <p:txBody>
          <a:bodyPr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/>
          <a:p>
            <a:pPr marL="172396">
              <a:defRPr/>
            </a:pPr>
            <a:r>
              <a:rPr lang="uz-Cyrl-UZ" sz="3175" b="1" dirty="0">
                <a:latin typeface="Times New Roman" pitchFamily="18" charset="0"/>
                <a:cs typeface="Times New Roman" pitchFamily="18" charset="0"/>
              </a:rPr>
              <a:t>Ўзбекистон Республикаси </a:t>
            </a:r>
            <a:br>
              <a:rPr lang="uz-Cyrl-UZ" sz="3175" b="1" dirty="0">
                <a:latin typeface="Times New Roman" pitchFamily="18" charset="0"/>
                <a:cs typeface="Times New Roman" pitchFamily="18" charset="0"/>
              </a:rPr>
            </a:br>
            <a:r>
              <a:rPr lang="uz-Cyrl-UZ" sz="3175" b="1" dirty="0">
                <a:latin typeface="Times New Roman" pitchFamily="18" charset="0"/>
                <a:cs typeface="Times New Roman" pitchFamily="18" charset="0"/>
              </a:rPr>
              <a:t>Саноат хавфсизлиги давлат қўмитаси </a:t>
            </a:r>
            <a:endParaRPr lang="ru-RU" sz="3175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5106671" y="6121730"/>
            <a:ext cx="2316517" cy="407074"/>
          </a:xfrm>
        </p:spPr>
        <p:txBody>
          <a:bodyPr>
            <a:noAutofit/>
          </a:bodyPr>
          <a:lstStyle/>
          <a:p>
            <a:r>
              <a:rPr lang="ru-RU" sz="2053" b="1" dirty="0" err="1">
                <a:latin typeface="Times New Roman" pitchFamily="18" charset="0"/>
                <a:cs typeface="Times New Roman" pitchFamily="18" charset="0"/>
              </a:rPr>
              <a:t>Тошкент</a:t>
            </a:r>
            <a:r>
              <a:rPr lang="ru-RU" sz="2053" b="1" dirty="0">
                <a:latin typeface="Times New Roman" pitchFamily="18" charset="0"/>
                <a:cs typeface="Times New Roman" pitchFamily="18" charset="0"/>
              </a:rPr>
              <a:t> - </a:t>
            </a:r>
            <a:r>
              <a:rPr lang="ru-RU" sz="2053" b="1" dirty="0" smtClean="0">
                <a:latin typeface="Times New Roman" pitchFamily="18" charset="0"/>
                <a:cs typeface="Times New Roman" pitchFamily="18" charset="0"/>
              </a:rPr>
              <a:t>2020</a:t>
            </a:r>
            <a:endParaRPr lang="ru-RU" sz="2053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315" name="Прямоугольник 3"/>
          <p:cNvSpPr>
            <a:spLocks noChangeArrowheads="1"/>
          </p:cNvSpPr>
          <p:nvPr/>
        </p:nvSpPr>
        <p:spPr bwMode="auto">
          <a:xfrm rot="10800000" flipV="1">
            <a:off x="1997954" y="4002602"/>
            <a:ext cx="8533953" cy="133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spcBef>
                <a:spcPts val="565"/>
              </a:spcBef>
            </a:pPr>
            <a:r>
              <a:rPr lang="ru-RU" sz="2400" b="1" dirty="0" err="1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Техноген</a:t>
            </a:r>
            <a:r>
              <a:rPr lang="ru-RU" sz="2400" b="1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b="1" dirty="0" err="1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хавф</a:t>
            </a:r>
            <a:r>
              <a:rPr lang="ru-RU" sz="2400" b="1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b="1" dirty="0" err="1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юқори</a:t>
            </a:r>
            <a:r>
              <a:rPr lang="ru-RU" sz="2400" b="1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b="1" dirty="0" err="1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бўлган</a:t>
            </a:r>
            <a:r>
              <a:rPr lang="ru-RU" sz="2400" b="1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b="1" dirty="0" err="1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зоналар</a:t>
            </a:r>
            <a:r>
              <a:rPr lang="ru-RU" sz="2400" b="1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</a:p>
          <a:p>
            <a:pPr algn="ctr">
              <a:spcBef>
                <a:spcPts val="565"/>
              </a:spcBef>
            </a:pPr>
            <a:r>
              <a:rPr lang="ru-RU" sz="2400" b="1" dirty="0" err="1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давлат</a:t>
            </a:r>
            <a:r>
              <a:rPr lang="ru-RU" sz="2400" b="1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b="1" dirty="0" err="1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кадастри</a:t>
            </a:r>
            <a:r>
              <a:rPr lang="ru-RU" sz="2400" b="1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b="1" dirty="0" err="1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бўйича</a:t>
            </a:r>
            <a:r>
              <a:rPr lang="ru-RU" sz="2400" b="1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</a:p>
          <a:p>
            <a:pPr algn="ctr">
              <a:spcBef>
                <a:spcPts val="565"/>
              </a:spcBef>
            </a:pPr>
            <a:r>
              <a:rPr lang="uz-Cyrl-UZ" sz="2280" b="1" dirty="0" smtClean="0">
                <a:latin typeface="Times New Roman" pitchFamily="18" charset="0"/>
                <a:cs typeface="Times New Roman" pitchFamily="18" charset="0"/>
              </a:rPr>
              <a:t>Т </a:t>
            </a:r>
            <a:r>
              <a:rPr lang="uz-Cyrl-UZ" sz="2280" b="1" dirty="0">
                <a:latin typeface="Times New Roman" pitchFamily="18" charset="0"/>
                <a:cs typeface="Times New Roman" pitchFamily="18" charset="0"/>
              </a:rPr>
              <a:t>А Қ Д И М О Т  </a:t>
            </a:r>
          </a:p>
        </p:txBody>
      </p:sp>
      <p:pic>
        <p:nvPicPr>
          <p:cNvPr id="6" name="Picture 3" descr="C:\Documents and Settings\Admin\Рабочий стол\elektro energiya 1.t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5298" y="639804"/>
            <a:ext cx="7823599" cy="23758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62954644"/>
      </p:ext>
    </p:extLst>
  </p:cSld>
  <p:clrMapOvr>
    <a:masterClrMapping/>
  </p:clrMapOvr>
  <p:transition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334736" y="396340"/>
            <a:ext cx="11519807" cy="61709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 dirty="0" err="1" smtClean="0">
                <a:solidFill>
                  <a:srgbClr val="00008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Ўзбекистон</a:t>
            </a:r>
            <a:r>
              <a:rPr lang="ru-RU" dirty="0" smtClean="0">
                <a:solidFill>
                  <a:srgbClr val="00008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 smtClean="0">
                <a:solidFill>
                  <a:srgbClr val="00008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Ресрубликаси</a:t>
            </a:r>
            <a:r>
              <a:rPr lang="ru-RU" dirty="0" smtClean="0">
                <a:solidFill>
                  <a:srgbClr val="00008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 smtClean="0">
                <a:solidFill>
                  <a:srgbClr val="00008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Вазирлар</a:t>
            </a:r>
            <a:r>
              <a:rPr lang="ru-RU" dirty="0" smtClean="0">
                <a:solidFill>
                  <a:srgbClr val="00008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8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Маҳкамасининг</a:t>
            </a:r>
            <a:r>
              <a:rPr lang="ru-RU" dirty="0">
                <a:solidFill>
                  <a:srgbClr val="00008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/>
            </a:r>
            <a:br>
              <a:rPr lang="ru-RU" dirty="0">
                <a:solidFill>
                  <a:srgbClr val="00008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dirty="0">
                <a:solidFill>
                  <a:srgbClr val="00008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2005 </a:t>
            </a:r>
            <a:r>
              <a:rPr lang="ru-RU" dirty="0" err="1">
                <a:solidFill>
                  <a:srgbClr val="00008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йил</a:t>
            </a:r>
            <a:r>
              <a:rPr lang="ru-RU" dirty="0">
                <a:solidFill>
                  <a:srgbClr val="00008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30 </a:t>
            </a:r>
            <a:r>
              <a:rPr lang="ru-RU" dirty="0" err="1">
                <a:solidFill>
                  <a:srgbClr val="00008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июндаги</a:t>
            </a:r>
            <a:r>
              <a:rPr lang="ru-RU" dirty="0">
                <a:solidFill>
                  <a:srgbClr val="00008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smtClean="0">
                <a:solidFill>
                  <a:srgbClr val="00008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152-сонли </a:t>
            </a:r>
            <a:r>
              <a:rPr lang="ru-RU" dirty="0" err="1">
                <a:solidFill>
                  <a:srgbClr val="00008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қарори</a:t>
            </a:r>
            <a:r>
              <a:rPr lang="ru-RU" dirty="0">
                <a:solidFill>
                  <a:srgbClr val="00008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8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билан</a:t>
            </a:r>
            <a:r>
              <a:rPr lang="ru-RU" dirty="0">
                <a:solidFill>
                  <a:srgbClr val="00008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8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тасдиқланган</a:t>
            </a:r>
            <a:r>
              <a:rPr lang="ru-RU" dirty="0">
                <a:solidFill>
                  <a:srgbClr val="00008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/>
            </a:r>
            <a:br>
              <a:rPr lang="ru-RU" dirty="0">
                <a:solidFill>
                  <a:srgbClr val="00008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endParaRPr lang="ru-RU" dirty="0" smtClean="0">
              <a:solidFill>
                <a:srgbClr val="00008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>
              <a:spcAft>
                <a:spcPts val="600"/>
              </a:spcAft>
            </a:pPr>
            <a:r>
              <a:rPr lang="ru-RU" b="1" dirty="0" err="1" smtClean="0">
                <a:solidFill>
                  <a:srgbClr val="00008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Техноген</a:t>
            </a:r>
            <a:r>
              <a:rPr lang="ru-RU" b="1" dirty="0" smtClean="0">
                <a:solidFill>
                  <a:srgbClr val="00008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rgbClr val="00008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хавф</a:t>
            </a:r>
            <a:r>
              <a:rPr lang="ru-RU" b="1" dirty="0">
                <a:solidFill>
                  <a:srgbClr val="00008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rgbClr val="00008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юқори</a:t>
            </a:r>
            <a:r>
              <a:rPr lang="ru-RU" b="1" dirty="0">
                <a:solidFill>
                  <a:srgbClr val="00008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rgbClr val="00008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бўлган</a:t>
            </a:r>
            <a:r>
              <a:rPr lang="ru-RU" b="1" dirty="0">
                <a:solidFill>
                  <a:srgbClr val="00008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rgbClr val="00008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зоналар</a:t>
            </a:r>
            <a:r>
              <a:rPr lang="ru-RU" b="1" dirty="0">
                <a:solidFill>
                  <a:srgbClr val="00008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b="1" dirty="0" err="1" smtClean="0">
                <a:solidFill>
                  <a:srgbClr val="00008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давлат</a:t>
            </a:r>
            <a:r>
              <a:rPr lang="ru-RU" b="1" dirty="0" smtClean="0">
                <a:solidFill>
                  <a:srgbClr val="00008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rgbClr val="00008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кадастрини</a:t>
            </a:r>
            <a:r>
              <a:rPr lang="ru-RU" b="1" dirty="0">
                <a:solidFill>
                  <a:srgbClr val="00008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rgbClr val="00008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юритиш</a:t>
            </a:r>
            <a:r>
              <a:rPr lang="ru-RU" b="1" dirty="0">
                <a:solidFill>
                  <a:srgbClr val="00008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rgbClr val="00008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тартиби</a:t>
            </a:r>
            <a:r>
              <a:rPr lang="ru-RU" b="1" dirty="0">
                <a:solidFill>
                  <a:srgbClr val="00008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rgbClr val="00008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тўғрисида</a:t>
            </a:r>
            <a:r>
              <a:rPr lang="ru-RU" b="1" dirty="0">
                <a:solidFill>
                  <a:srgbClr val="00008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endParaRPr lang="ru-RU" sz="1600" dirty="0" smtClean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>
              <a:spcAft>
                <a:spcPts val="600"/>
              </a:spcAft>
            </a:pPr>
            <a:r>
              <a:rPr lang="ru-RU" cap="all" dirty="0">
                <a:solidFill>
                  <a:srgbClr val="00008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НИЗОМ</a:t>
            </a:r>
            <a:endParaRPr lang="ru-RU" sz="1600" dirty="0" smtClean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>
              <a:spcAft>
                <a:spcPts val="600"/>
              </a:spcAft>
            </a:pPr>
            <a:r>
              <a:rPr lang="ru-RU" b="1" dirty="0">
                <a:solidFill>
                  <a:srgbClr val="00008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I. </a:t>
            </a:r>
            <a:r>
              <a:rPr lang="ru-RU" b="1" dirty="0" err="1">
                <a:solidFill>
                  <a:srgbClr val="00008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Умумий</a:t>
            </a:r>
            <a:r>
              <a:rPr lang="ru-RU" b="1" dirty="0">
                <a:solidFill>
                  <a:srgbClr val="00008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rgbClr val="00008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қоидалар</a:t>
            </a:r>
            <a:endParaRPr lang="ru-RU" sz="1600" dirty="0" smtClean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540385" algn="just">
              <a:spcAft>
                <a:spcPts val="600"/>
              </a:spcAft>
            </a:pPr>
            <a:r>
              <a:rPr lang="ru-RU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1.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Техноген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хавф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юқори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бўлган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зоналар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давлат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кадастри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(ТХЮЗДК) «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Давлат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кадастрлари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тўғрисида»ги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Ўзбекистон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Республикаси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hlinkClick r:id="rId2"/>
              </a:rPr>
              <a:t>Қонунига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Ўзбекистон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Республикаси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Вазирлар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Маҳкамасининг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2005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йил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16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февралдаги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66-сон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қарори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билан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тасдиқланган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Давлат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кадастрлари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ягона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тизими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(ДКЯТ)ни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яратиш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ва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юритиш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тартиби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тўғрисидаги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8080"/>
                </a:solidFill>
                <a:latin typeface="Times New Roman" panose="02020603050405020304" pitchFamily="18" charset="0"/>
                <a:ea typeface="Times New Roman" panose="02020603050405020304" pitchFamily="18" charset="0"/>
                <a:hlinkClick r:id="rId3"/>
              </a:rPr>
              <a:t>низомга</a:t>
            </a:r>
            <a:r>
              <a:rPr lang="ru-RU" dirty="0">
                <a:solidFill>
                  <a:srgbClr val="008080"/>
                </a:solidFill>
                <a:latin typeface="Times New Roman" panose="02020603050405020304" pitchFamily="18" charset="0"/>
                <a:ea typeface="Times New Roman" panose="02020603050405020304" pitchFamily="18" charset="0"/>
                <a:hlinkClick r:id="rId3"/>
              </a:rPr>
              <a:t>,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бошқа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норматив-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ҳуқуқий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ҳужжатларга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ҳамда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ушбу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Низомга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мувофиқ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юритилади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ru-RU" sz="1600" dirty="0" smtClean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540385" algn="just">
              <a:spcAft>
                <a:spcPts val="600"/>
              </a:spcAft>
            </a:pPr>
            <a:r>
              <a:rPr lang="ru-RU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2.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ТХЮЗДК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ДКЯТнинг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таркибий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қисми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ҳисобланади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ва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тизимли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кузатишлар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ўлчашлар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тадқиқотлар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ҳамда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ахборотлар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тўплаш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натижалари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бўйича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тайёрланадиган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техноген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хавф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юқори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бўлган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зоналар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(ТХЮЗ)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нинг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унификация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қилинган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қисқача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тавсифлари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ва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тасвирлари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тўпламидан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иборат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бўлади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ru-RU" sz="1600" dirty="0" smtClean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540385" algn="just">
              <a:spcAft>
                <a:spcPts val="600"/>
              </a:spcAft>
            </a:pPr>
            <a:r>
              <a:rPr lang="ru-RU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3.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ТХЮЗДК кадастр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объектларини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ҳисобга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олишни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уларнинг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ҳолатини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ва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рўй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берган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хавфли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техноген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ҳодисалар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оқибатларини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баҳолаш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мақсадида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юритилади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ru-RU" sz="1600" dirty="0" smtClean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540385" algn="just">
              <a:spcAft>
                <a:spcPts val="600"/>
              </a:spcAft>
            </a:pPr>
            <a:r>
              <a:rPr lang="ru-RU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4.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ТХЮЗДКни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юритиш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ТХЮЗни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хатловдан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ўтказиш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унинг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тавсифлари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ва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параметрларини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баҳолаш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кадастр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ахборотларини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ҳужжатлаштириш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ҳисобга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олиш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ҳамда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ундан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техноген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авариялар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ва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ҳалокатларни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олдини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олиш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бўйича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профилактика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ва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огоҳлантириш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чораларини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ўз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вақтида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ва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самарали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амалга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ошириш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улар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вужудга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келган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тақдирда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эса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—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уларни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тезкорлик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билан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маҳаллийлаштириш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ва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бартараф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этишни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таъминлаш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орқали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таъминланади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45044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318405" y="133085"/>
            <a:ext cx="11552465" cy="66018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540385" algn="just">
              <a:spcAft>
                <a:spcPts val="600"/>
              </a:spcAft>
            </a:pPr>
            <a:r>
              <a:rPr lang="ru-RU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5.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Ўзбекистон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Республикасининг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«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Хавфли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ишлаб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чиқариш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объектларининг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саноат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хавфсизлиги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тўғрисида»ги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8080"/>
                </a:solidFill>
                <a:latin typeface="Times New Roman" panose="02020603050405020304" pitchFamily="18" charset="0"/>
                <a:ea typeface="Times New Roman" panose="02020603050405020304" pitchFamily="18" charset="0"/>
                <a:hlinkClick r:id="rId2"/>
              </a:rPr>
              <a:t>Қонунининг</a:t>
            </a:r>
            <a:r>
              <a:rPr lang="ru-RU" dirty="0">
                <a:solidFill>
                  <a:srgbClr val="008080"/>
                </a:solidFill>
                <a:latin typeface="Times New Roman" panose="02020603050405020304" pitchFamily="18" charset="0"/>
                <a:ea typeface="Times New Roman" panose="02020603050405020304" pitchFamily="18" charset="0"/>
                <a:hlinkClick r:id="rId2"/>
              </a:rPr>
              <a:t> 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4-моддаси </a:t>
            </a:r>
            <a:r>
              <a:rPr lang="uz-Cyrl-UZ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Х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авфли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ишлаб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чиқариш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объектларида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рўй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бериши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мумкин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бўлган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техноген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ҳодисалар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(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ёнғинлар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портлашлар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хавфли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зарарли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моддаларни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ташқарига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чиқариш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бинолар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иншоотлар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техник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қурилмалар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ва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шу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кабилар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) </a:t>
            </a:r>
            <a:r>
              <a:rPr lang="ru-RU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зоналари</a:t>
            </a:r>
            <a:endParaRPr lang="ru-RU" sz="1600" dirty="0" smtClean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540385">
              <a:spcAft>
                <a:spcPts val="600"/>
              </a:spcAft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1)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қуйидаги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хавфли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моддалар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lang="ru-RU" sz="1600" dirty="0" smtClean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540385" algn="just">
              <a:spcAft>
                <a:spcPts val="600"/>
              </a:spcAft>
            </a:pP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портлаш-ёнғин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хавфи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бўлган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муҳитни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юзага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келтириши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мумкин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бўлган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моддалар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;</a:t>
            </a:r>
            <a:endParaRPr lang="ru-RU" sz="1600" dirty="0" smtClean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540385" algn="just">
              <a:spcAft>
                <a:spcPts val="600"/>
              </a:spcAft>
            </a:pP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тасдиқланган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стандартларга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мувофиқ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тирик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организмга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таъсир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қилиш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даражасига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кўра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I, II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ва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III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хавфлилик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даражаларига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(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ўта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хавфли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юқори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даражада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хавфли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ва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ўртача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даражада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хавфли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)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мансуб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зарарли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моддалар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;</a:t>
            </a:r>
            <a:endParaRPr lang="ru-RU" sz="1600" dirty="0" smtClean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540385" algn="just">
              <a:spcAft>
                <a:spcPts val="600"/>
              </a:spcAft>
            </a:pP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муайян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турдаги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ташқи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таъсир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чоғида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иссиқлик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ажратган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ва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газлар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ҳосил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қилган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ҳолда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ўз-ўзидан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жуда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тез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тарқаладиган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кимёвий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ўзгарувчан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портловчи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моддалар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;</a:t>
            </a:r>
            <a:endParaRPr lang="ru-RU" sz="1600" dirty="0" smtClean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540385" algn="just">
              <a:spcAft>
                <a:spcPts val="600"/>
              </a:spcAft>
            </a:pP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инсон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соғлиғи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ва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атроф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муҳит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учун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хавфли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концентрацияли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моддалар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мавжуд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бўлган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ишлаб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чиқариш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чиқиндилари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фойдаланиладиган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ишлаб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чиқариладиган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қайта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ишланадиган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ҳосил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қилинадиган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сақланадиган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ташиладиган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йўқ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қилинадиган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;</a:t>
            </a:r>
            <a:endParaRPr lang="ru-RU" sz="1600" dirty="0" smtClean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540385" algn="just">
              <a:spcAft>
                <a:spcPts val="600"/>
              </a:spcAft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2) 0,07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мегапаскалдан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ортиқ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босим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остида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ёки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ишлатиладиган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суюқликнинг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нормал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атмосфера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босимидаги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қайнаш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ҳароратидан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ортиқ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ҳароратда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ишлайдиган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ускуналардан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фойдаланиладиган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;</a:t>
            </a:r>
            <a:endParaRPr lang="ru-RU" sz="1600" dirty="0" smtClean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540385" algn="just">
              <a:spcAft>
                <a:spcPts val="600"/>
              </a:spcAft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3)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кўчмас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асосга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ўрнатилган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юк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кўтариш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механизмлари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эскалаторлар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осма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йўллар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фуникулёрлардан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(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тоғ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темир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йўлларидан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)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фойдаланиладиган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;</a:t>
            </a:r>
            <a:endParaRPr lang="ru-RU" sz="1600" dirty="0" smtClean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540385" algn="just">
              <a:spcAft>
                <a:spcPts val="600"/>
              </a:spcAft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4)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қора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ва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рангли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металлар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эритмалари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ҳамда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ушбу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эритмалар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асосида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қотишмалар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олинадиган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;</a:t>
            </a:r>
            <a:endParaRPr lang="ru-RU" sz="1600" dirty="0" smtClean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540385" algn="just">
              <a:spcAft>
                <a:spcPts val="600"/>
              </a:spcAft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5)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кончилик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ишлари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фойдали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қазилмаларни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қазиб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олиш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ва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бойитиш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ишлари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шунингдек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ер ости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шароитида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иш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олиб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бориладиган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корхоналар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ёки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уларнинг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цехлари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участкалари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майдончалари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шунингдек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бошқа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ишлаб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чиқариш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объектлари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киради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70692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538843" y="1359084"/>
            <a:ext cx="11225893" cy="32470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540385" algn="just">
              <a:spcAft>
                <a:spcPts val="600"/>
              </a:spcAft>
            </a:pPr>
            <a:r>
              <a:rPr lang="ru-RU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Бу</a:t>
            </a:r>
            <a:r>
              <a:rPr lang="ru-RU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объектлардан</a:t>
            </a:r>
            <a:r>
              <a:rPr lang="ru-RU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ташқари</a:t>
            </a:r>
            <a:r>
              <a:rPr lang="ru-RU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қуйидаги</a:t>
            </a:r>
            <a:r>
              <a:rPr lang="uz-Cyrl-UZ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объектлар ҳам ТХЮЗДК объектларига </a:t>
            </a:r>
            <a:r>
              <a:rPr lang="uz-Cyrl-UZ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киради</a:t>
            </a:r>
            <a:endParaRPr lang="ru-RU" sz="1600" dirty="0" smtClean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540385" algn="just">
              <a:spcAft>
                <a:spcPts val="600"/>
              </a:spcAft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а)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радиоактив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моддалар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ва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материаллар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ишлаб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чиқариладиган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улардан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фойдаланиладиган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улар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қайта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ишланадиган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ҳосил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бўладиган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сақланадиган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ташиладиган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йўқ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қилиб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ташланадиган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объектлар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;</a:t>
            </a:r>
            <a:endParaRPr lang="ru-RU" sz="1600" dirty="0" smtClean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540385" algn="just">
              <a:spcAft>
                <a:spcPts val="600"/>
              </a:spcAft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б)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барча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турдаги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саноат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электр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қурилмалари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қўлланадиган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объектлар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;</a:t>
            </a:r>
            <a:endParaRPr lang="ru-RU" sz="1600" dirty="0" smtClean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540385" algn="just">
              <a:spcAft>
                <a:spcPts val="600"/>
              </a:spcAft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в) гидротехника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иншоотларидан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шу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жумладан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йирик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корхоналар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чиқиндихоналари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ва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тиндиргичларидан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фойдаланиладиган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объектлар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; </a:t>
            </a:r>
            <a:endParaRPr lang="ru-RU" sz="1600" dirty="0" smtClean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540385" algn="just">
              <a:spcAft>
                <a:spcPts val="600"/>
              </a:spcAft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г)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ионли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нурланишлар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манбаларидан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фойдаланиладиган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объектлар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; </a:t>
            </a:r>
            <a:endParaRPr lang="ru-RU" sz="1600" dirty="0" smtClean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540385" algn="just">
              <a:spcAft>
                <a:spcPts val="600"/>
              </a:spcAft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д)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фавқулодда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вазиятларга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(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сув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газ,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иссиқлик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ва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электр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энергияси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таъминотининг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тўхтаб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қолишига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уй-жой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массивларини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сув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босишига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канализация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ва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сувни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тозалаш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тизимларининг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ишдан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чиқишига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)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олиб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келувчи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бузилишлар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(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зарарланишлар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)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содир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бўлиши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мумкин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бўлган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объектлар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ТХЮЗДК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объектлари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ҳисобланади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77694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334735" y="630462"/>
            <a:ext cx="11503479" cy="55399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540385" algn="just">
              <a:spcAft>
                <a:spcPts val="600"/>
              </a:spcAft>
            </a:pPr>
            <a:r>
              <a:rPr lang="ru-RU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6.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ТХЮЗДКни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юритиш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қуйидаги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бўлинмалар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томонидан</a:t>
            </a:r>
            <a:endParaRPr lang="ru-RU" sz="1600" dirty="0" smtClean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540385" algn="just">
              <a:spcAft>
                <a:spcPts val="600"/>
              </a:spcAft>
            </a:pP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ушбу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Низомнинг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>
                <a:solidFill>
                  <a:srgbClr val="00808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5-бандида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кўрсатилган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объектлардан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фойдаланадиган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ташкилотлар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томонидан</a:t>
            </a:r>
            <a:r>
              <a:rPr lang="ru-RU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: </a:t>
            </a:r>
            <a:endParaRPr lang="ru-RU" sz="1600" dirty="0" smtClean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540385" algn="just">
              <a:spcAft>
                <a:spcPts val="600"/>
              </a:spcAft>
            </a:pPr>
            <a:r>
              <a:rPr lang="uz-Cyrl-UZ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1. </a:t>
            </a:r>
            <a:r>
              <a:rPr lang="ru-RU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ишлаб</a:t>
            </a:r>
            <a:r>
              <a:rPr lang="ru-RU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чиқариш</a:t>
            </a:r>
            <a:r>
              <a:rPr lang="ru-RU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объектларида</a:t>
            </a:r>
            <a:r>
              <a:rPr lang="ru-RU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ru-RU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портлаш-ёнғин</a:t>
            </a:r>
            <a:r>
              <a:rPr lang="ru-RU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чиқиши</a:t>
            </a:r>
            <a:r>
              <a:rPr lang="ru-RU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ва</a:t>
            </a:r>
            <a:r>
              <a:rPr lang="ru-RU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радиация </a:t>
            </a:r>
            <a:r>
              <a:rPr lang="ru-RU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хавфи</a:t>
            </a:r>
            <a:r>
              <a:rPr lang="ru-RU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мавжуд</a:t>
            </a:r>
            <a:r>
              <a:rPr lang="ru-RU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бўлган</a:t>
            </a:r>
            <a:r>
              <a:rPr lang="ru-RU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объектларда</a:t>
            </a:r>
            <a:r>
              <a:rPr lang="ru-RU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авария </a:t>
            </a:r>
            <a:r>
              <a:rPr lang="ru-RU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ҳоллари</a:t>
            </a:r>
            <a:r>
              <a:rPr lang="ru-RU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содир</a:t>
            </a:r>
            <a:r>
              <a:rPr lang="ru-RU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бўлиши</a:t>
            </a:r>
            <a:r>
              <a:rPr lang="ru-RU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мумкин</a:t>
            </a:r>
            <a:r>
              <a:rPr lang="ru-RU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бўлган</a:t>
            </a:r>
            <a:r>
              <a:rPr lang="ru-RU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юқори</a:t>
            </a:r>
            <a:r>
              <a:rPr lang="ru-RU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хавфли</a:t>
            </a:r>
            <a:r>
              <a:rPr lang="ru-RU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зоналар</a:t>
            </a:r>
            <a:r>
              <a:rPr lang="ru-RU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бўйича</a:t>
            </a:r>
            <a:r>
              <a:rPr lang="ru-RU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— </a:t>
            </a:r>
            <a:r>
              <a:rPr lang="ru-RU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Ўзбекистон</a:t>
            </a:r>
            <a:r>
              <a:rPr lang="ru-RU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Республикаси</a:t>
            </a:r>
            <a:r>
              <a:rPr lang="ru-RU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Саноат</a:t>
            </a:r>
            <a:r>
              <a:rPr lang="ru-RU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хавфсизлиги</a:t>
            </a:r>
            <a:r>
              <a:rPr lang="ru-RU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давлат</a:t>
            </a:r>
            <a:r>
              <a:rPr lang="ru-RU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қўмитаси</a:t>
            </a:r>
            <a:r>
              <a:rPr lang="ru-RU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ru-RU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унинг</a:t>
            </a:r>
            <a:r>
              <a:rPr lang="ru-RU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инспекциялари</a:t>
            </a:r>
            <a:r>
              <a:rPr lang="ru-RU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ва</a:t>
            </a:r>
            <a:r>
              <a:rPr lang="ru-RU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ҳудудий</a:t>
            </a:r>
            <a:r>
              <a:rPr lang="ru-RU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бошқармаларининг</a:t>
            </a:r>
            <a:r>
              <a:rPr lang="ru-RU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Техноген</a:t>
            </a:r>
            <a:r>
              <a:rPr lang="ru-RU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хавф</a:t>
            </a:r>
            <a:r>
              <a:rPr lang="ru-RU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юқори</a:t>
            </a:r>
            <a:r>
              <a:rPr lang="ru-RU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бўлган</a:t>
            </a:r>
            <a:r>
              <a:rPr lang="ru-RU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зоналарнинг</a:t>
            </a:r>
            <a:r>
              <a:rPr lang="ru-RU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бош кадастр </a:t>
            </a:r>
            <a:r>
              <a:rPr lang="ru-RU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маркази</a:t>
            </a:r>
            <a:r>
              <a:rPr lang="ru-RU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(</a:t>
            </a:r>
            <a:r>
              <a:rPr lang="ru-RU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кейинги</a:t>
            </a:r>
            <a:r>
              <a:rPr lang="ru-RU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ўринларда</a:t>
            </a:r>
            <a:r>
              <a:rPr lang="ru-RU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ТХЮЗ БКМ </a:t>
            </a:r>
            <a:r>
              <a:rPr lang="ru-RU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деб</a:t>
            </a:r>
            <a:r>
              <a:rPr lang="ru-RU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аталади</a:t>
            </a:r>
            <a:r>
              <a:rPr lang="ru-RU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) </a:t>
            </a:r>
            <a:r>
              <a:rPr lang="ru-RU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томонидан</a:t>
            </a:r>
            <a:r>
              <a:rPr lang="ru-RU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;</a:t>
            </a:r>
            <a:endParaRPr lang="ru-RU" sz="1600" b="1" dirty="0" smtClean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540385" algn="just">
              <a:spcAft>
                <a:spcPts val="600"/>
              </a:spcAft>
            </a:pPr>
            <a:r>
              <a:rPr lang="uz-Cyrl-UZ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2.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одамларни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эвакуация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қилишни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ёки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кўчиришни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талаб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қиладиган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хавф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юқори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бўлган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зоналар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бўйича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—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Ўзбекистон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Республикаси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Фавқулодда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вазиятлар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вазирлигининг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Техноген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хавф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юқори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бўлган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зоналарнинг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кадастр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маркази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томонидан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;</a:t>
            </a:r>
            <a:endParaRPr lang="ru-RU" sz="1600" dirty="0" smtClean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540385" algn="just">
              <a:spcAft>
                <a:spcPts val="600"/>
              </a:spcAft>
            </a:pPr>
            <a:r>
              <a:rPr lang="uz-Cyrl-UZ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3.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портлаш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ва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ёнғин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чиқиши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хавфи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юқори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бўлган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зоналар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(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объектлар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)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бўйича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—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Ўзбекистон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Республикаси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Фавқулодда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вазиятлар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вазирлиги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Давлат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ёнғин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хавфсизлиги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хизматининг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ТХЮЗ КМ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томонидан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;</a:t>
            </a:r>
            <a:endParaRPr lang="ru-RU" sz="1600" dirty="0" smtClean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540385" algn="just">
              <a:spcAft>
                <a:spcPts val="600"/>
              </a:spcAft>
            </a:pPr>
            <a:r>
              <a:rPr lang="uz-Cyrl-UZ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4.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кучли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таъсир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қилувчи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заҳарли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химикатлар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пестцидлар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радиоизотоп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буюмлар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радиоактив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ва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бошқа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моддаларни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ишлаб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чиқариш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қайта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ишлаш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сақлаш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ва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улардан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фойдаланиш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объектлари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бўйича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—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Ўзбекистон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Республикаси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Соғлиқни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сақлаш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вазирлиги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Давлат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санитария-эпидемиология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назорати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республика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маркази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ва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унинг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ҳудудий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марказлари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ТХЮЗ КМ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томонидан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;</a:t>
            </a:r>
            <a:endParaRPr lang="ru-RU" sz="1600" dirty="0" smtClean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540385" algn="just">
              <a:spcAft>
                <a:spcPts val="600"/>
              </a:spcAft>
            </a:pPr>
            <a:r>
              <a:rPr lang="uz-Cyrl-UZ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5. 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ядро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физикаси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корхоналарида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радиация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хавфи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юқори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бўлган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зоналар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бўйича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—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Ўзбекистон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Республикаси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Фанлар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академияси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Ядро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физикаси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институтининг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ТХЮЗ КМ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томонидан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амалга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оширилади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47845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673974" y="532293"/>
            <a:ext cx="10861335" cy="56791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90237" algn="just">
              <a:lnSpc>
                <a:spcPct val="150000"/>
              </a:lnSpc>
              <a:spcAft>
                <a:spcPts val="1089"/>
              </a:spcAft>
            </a:pPr>
            <a:r>
              <a:rPr lang="ru-RU" sz="2359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Ўзбекистон</a:t>
            </a:r>
            <a:r>
              <a:rPr lang="ru-RU" sz="2359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359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Республикаси</a:t>
            </a:r>
            <a:r>
              <a:rPr lang="ru-RU" sz="2359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359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Адлия</a:t>
            </a:r>
            <a:r>
              <a:rPr lang="ru-RU" sz="2359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359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вазирлигидан</a:t>
            </a:r>
            <a:r>
              <a:rPr lang="ru-RU" sz="2359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2014 </a:t>
            </a:r>
            <a:r>
              <a:rPr lang="ru-RU" sz="2359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йил</a:t>
            </a:r>
            <a:r>
              <a:rPr lang="ru-RU" sz="2359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8 </a:t>
            </a:r>
            <a:r>
              <a:rPr lang="ru-RU" sz="2359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октябрда</a:t>
            </a:r>
            <a:r>
              <a:rPr lang="ru-RU" sz="2359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2618-сон </a:t>
            </a:r>
            <a:r>
              <a:rPr lang="ru-RU" sz="2359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билан</a:t>
            </a:r>
            <a:r>
              <a:rPr lang="ru-RU" sz="2359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359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рўйхатдан</a:t>
            </a:r>
            <a:r>
              <a:rPr lang="ru-RU" sz="2359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359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ўтказилган</a:t>
            </a:r>
            <a:r>
              <a:rPr lang="ru-RU" sz="2359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“</a:t>
            </a:r>
            <a:r>
              <a:rPr lang="ru-RU" sz="2359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Давлат</a:t>
            </a:r>
            <a:r>
              <a:rPr lang="ru-RU" sz="2359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359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кадастрлари</a:t>
            </a:r>
            <a:r>
              <a:rPr lang="ru-RU" sz="2359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359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ягона</a:t>
            </a:r>
            <a:r>
              <a:rPr lang="ru-RU" sz="2359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359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тизимига</a:t>
            </a:r>
            <a:r>
              <a:rPr lang="ru-RU" sz="2359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359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тегишли</a:t>
            </a:r>
            <a:r>
              <a:rPr lang="ru-RU" sz="2359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359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давлат</a:t>
            </a:r>
            <a:r>
              <a:rPr lang="ru-RU" sz="2359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359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кадастрлари</a:t>
            </a:r>
            <a:r>
              <a:rPr lang="ru-RU" sz="2359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359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маълумотларининг</a:t>
            </a:r>
            <a:r>
              <a:rPr lang="ru-RU" sz="2359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359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таркиби</a:t>
            </a:r>
            <a:r>
              <a:rPr lang="ru-RU" sz="2359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359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ва</a:t>
            </a:r>
            <a:r>
              <a:rPr lang="ru-RU" sz="2359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359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уларни</a:t>
            </a:r>
            <a:r>
              <a:rPr lang="ru-RU" sz="2359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359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тақдим</a:t>
            </a:r>
            <a:r>
              <a:rPr lang="ru-RU" sz="2359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359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этиш</a:t>
            </a:r>
            <a:r>
              <a:rPr lang="ru-RU" sz="2359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359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тартиби</a:t>
            </a:r>
            <a:r>
              <a:rPr lang="ru-RU" sz="2359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359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тўғрисида”ги</a:t>
            </a:r>
            <a:r>
              <a:rPr lang="ru-RU" sz="2359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359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низомига</a:t>
            </a:r>
            <a:r>
              <a:rPr lang="ru-RU" sz="2359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359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асосан</a:t>
            </a:r>
            <a:r>
              <a:rPr lang="ru-RU" sz="2359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359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Саноат</a:t>
            </a:r>
            <a:r>
              <a:rPr lang="ru-RU" sz="2359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359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хавфсизлиги</a:t>
            </a:r>
            <a:r>
              <a:rPr lang="ru-RU" sz="2359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359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давлат</a:t>
            </a:r>
            <a:r>
              <a:rPr lang="ru-RU" sz="2359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359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қўмитаси</a:t>
            </a:r>
            <a:r>
              <a:rPr lang="ru-RU" sz="2359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359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ҳар</a:t>
            </a:r>
            <a:r>
              <a:rPr lang="ru-RU" sz="2359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359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йили</a:t>
            </a:r>
            <a:r>
              <a:rPr lang="ru-RU" sz="2359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март </a:t>
            </a:r>
            <a:r>
              <a:rPr lang="ru-RU" sz="2359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ойида</a:t>
            </a:r>
            <a:r>
              <a:rPr lang="ru-RU" sz="2359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359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ТХЮЗга</a:t>
            </a:r>
            <a:r>
              <a:rPr lang="ru-RU" sz="2359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359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эга</a:t>
            </a:r>
            <a:r>
              <a:rPr lang="ru-RU" sz="2359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359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корхоналар</a:t>
            </a:r>
            <a:r>
              <a:rPr lang="ru-RU" sz="2359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359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ва</a:t>
            </a:r>
            <a:r>
              <a:rPr lang="ru-RU" sz="2359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359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объектлар</a:t>
            </a:r>
            <a:r>
              <a:rPr lang="ru-RU" sz="2359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359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тўғрисида</a:t>
            </a:r>
            <a:r>
              <a:rPr lang="ru-RU" sz="2359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359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тегишли</a:t>
            </a:r>
            <a:r>
              <a:rPr lang="ru-RU" sz="2359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359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маълумотларни</a:t>
            </a:r>
            <a:r>
              <a:rPr lang="ru-RU" sz="2359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359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хатловдан</a:t>
            </a:r>
            <a:r>
              <a:rPr lang="ru-RU" sz="2359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359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ўтказиб</a:t>
            </a:r>
            <a:r>
              <a:rPr lang="ru-RU" sz="2359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ru-RU" sz="2359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умумлаштириб</a:t>
            </a:r>
            <a:r>
              <a:rPr lang="ru-RU" sz="2359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2359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ArcGIS </a:t>
            </a:r>
            <a:r>
              <a:rPr lang="ru-RU" sz="2359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дастурий</a:t>
            </a:r>
            <a:r>
              <a:rPr lang="ru-RU" sz="2359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359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таъминоти</a:t>
            </a:r>
            <a:r>
              <a:rPr lang="ru-RU" sz="2359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359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ёрдамида</a:t>
            </a:r>
            <a:r>
              <a:rPr lang="ru-RU" sz="2359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359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географик</a:t>
            </a:r>
            <a:r>
              <a:rPr lang="ru-RU" sz="2359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359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ахборот</a:t>
            </a:r>
            <a:r>
              <a:rPr lang="ru-RU" sz="2359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359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базаси</a:t>
            </a:r>
            <a:r>
              <a:rPr lang="ru-RU" sz="2359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359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шакллантирилган</a:t>
            </a:r>
            <a:r>
              <a:rPr lang="ru-RU" sz="2359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359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ҳолда</a:t>
            </a:r>
            <a:r>
              <a:rPr lang="ru-RU" sz="2359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359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Давергеодезкадастр</a:t>
            </a:r>
            <a:r>
              <a:rPr lang="ru-RU" sz="2359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359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қўмитасига</a:t>
            </a:r>
            <a:r>
              <a:rPr lang="ru-RU" sz="2359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359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тақдим</a:t>
            </a:r>
            <a:r>
              <a:rPr lang="ru-RU" sz="2359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359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этиш</a:t>
            </a:r>
            <a:r>
              <a:rPr lang="ru-RU" sz="2359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359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белгиланган</a:t>
            </a:r>
            <a:r>
              <a:rPr lang="ru-RU" sz="2359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  <a:p>
            <a:pPr indent="490237" algn="just">
              <a:lnSpc>
                <a:spcPct val="150000"/>
              </a:lnSpc>
              <a:spcAft>
                <a:spcPts val="1089"/>
              </a:spcAft>
            </a:pPr>
            <a:r>
              <a:rPr lang="ru-RU" sz="2359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ТХЮЗга</a:t>
            </a:r>
            <a:r>
              <a:rPr lang="ru-RU" sz="2359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359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эга</a:t>
            </a:r>
            <a:r>
              <a:rPr lang="ru-RU" sz="2359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359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корхоналар</a:t>
            </a:r>
            <a:r>
              <a:rPr lang="ru-RU" sz="2359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359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ва</a:t>
            </a:r>
            <a:r>
              <a:rPr lang="ru-RU" sz="2359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359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объектлар</a:t>
            </a:r>
            <a:r>
              <a:rPr lang="ru-RU" sz="2359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359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тўғрисида</a:t>
            </a:r>
            <a:r>
              <a:rPr lang="ru-RU" sz="2359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359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тегишли</a:t>
            </a:r>
            <a:r>
              <a:rPr lang="ru-RU" sz="2359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359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маълумотлар</a:t>
            </a:r>
            <a:r>
              <a:rPr lang="ru-RU" sz="2359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359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жадвали</a:t>
            </a:r>
            <a:r>
              <a:rPr lang="ru-RU" sz="2359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24 та </a:t>
            </a:r>
            <a:r>
              <a:rPr lang="ru-RU" sz="2359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устундан</a:t>
            </a:r>
            <a:r>
              <a:rPr lang="ru-RU" sz="2359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359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иборат</a:t>
            </a:r>
            <a:r>
              <a:rPr lang="ru-RU" sz="2359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359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бўлиб</a:t>
            </a:r>
            <a:r>
              <a:rPr lang="ru-RU" sz="2359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улар </a:t>
            </a:r>
            <a:r>
              <a:rPr lang="ru-RU" sz="2359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қуйидагича</a:t>
            </a:r>
            <a:r>
              <a:rPr lang="ru-RU" sz="2359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35676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1" y="477535"/>
            <a:ext cx="10515600" cy="706329"/>
          </a:xfrm>
        </p:spPr>
        <p:txBody>
          <a:bodyPr>
            <a:normAutofit fontScale="90000"/>
          </a:bodyPr>
          <a:lstStyle/>
          <a:p>
            <a:pPr algn="ctr"/>
            <a:r>
              <a:rPr lang="uz-Cyrl-UZ" sz="2359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Техноген хавф юқори бўлган зоналар (ТХЮЗ)га эга корхоналар ва объектлар тўғрисида маълумотлар жадвали</a:t>
            </a:r>
            <a:endParaRPr lang="ru-RU" sz="2359" b="1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/>
          </p:nvPr>
        </p:nvGraphicFramePr>
        <p:xfrm>
          <a:off x="535723" y="1298566"/>
          <a:ext cx="10818077" cy="1250524"/>
        </p:xfrm>
        <a:graphic>
          <a:graphicData uri="http://schemas.openxmlformats.org/drawingml/2006/table">
            <a:tbl>
              <a:tblPr firstRow="1" firstCol="1" bandRow="1"/>
              <a:tblGrid>
                <a:gridCol w="483943">
                  <a:extLst>
                    <a:ext uri="{9D8B030D-6E8A-4147-A177-3AD203B41FA5}">
                      <a16:colId xmlns:a16="http://schemas.microsoft.com/office/drawing/2014/main" val="1625460798"/>
                    </a:ext>
                  </a:extLst>
                </a:gridCol>
                <a:gridCol w="1899203">
                  <a:extLst>
                    <a:ext uri="{9D8B030D-6E8A-4147-A177-3AD203B41FA5}">
                      <a16:colId xmlns:a16="http://schemas.microsoft.com/office/drawing/2014/main" val="2160148734"/>
                    </a:ext>
                  </a:extLst>
                </a:gridCol>
                <a:gridCol w="2134363">
                  <a:extLst>
                    <a:ext uri="{9D8B030D-6E8A-4147-A177-3AD203B41FA5}">
                      <a16:colId xmlns:a16="http://schemas.microsoft.com/office/drawing/2014/main" val="2396149922"/>
                    </a:ext>
                  </a:extLst>
                </a:gridCol>
                <a:gridCol w="2032557">
                  <a:extLst>
                    <a:ext uri="{9D8B030D-6E8A-4147-A177-3AD203B41FA5}">
                      <a16:colId xmlns:a16="http://schemas.microsoft.com/office/drawing/2014/main" val="616237768"/>
                    </a:ext>
                  </a:extLst>
                </a:gridCol>
                <a:gridCol w="2235454">
                  <a:extLst>
                    <a:ext uri="{9D8B030D-6E8A-4147-A177-3AD203B41FA5}">
                      <a16:colId xmlns:a16="http://schemas.microsoft.com/office/drawing/2014/main" val="1810139049"/>
                    </a:ext>
                  </a:extLst>
                </a:gridCol>
                <a:gridCol w="2032557">
                  <a:extLst>
                    <a:ext uri="{9D8B030D-6E8A-4147-A177-3AD203B41FA5}">
                      <a16:colId xmlns:a16="http://schemas.microsoft.com/office/drawing/2014/main" val="482643700"/>
                    </a:ext>
                  </a:extLst>
                </a:gridCol>
              </a:tblGrid>
              <a:tr h="894111"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ru-RU" sz="15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Т/р</a:t>
                      </a:r>
                      <a:endParaRPr lang="ru-RU" sz="15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2213" marR="6221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ru-RU" sz="15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ТХЮЗ </a:t>
                      </a:r>
                    </a:p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ru-RU" sz="15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объектининг</a:t>
                      </a:r>
                      <a:r>
                        <a:rPr lang="ru-RU" sz="15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5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номи</a:t>
                      </a:r>
                      <a:endParaRPr lang="ru-RU" sz="15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2213" marR="6221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ru-RU" sz="15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ТХЮЗ </a:t>
                      </a:r>
                      <a:r>
                        <a:rPr lang="ru-RU" sz="15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объектининг</a:t>
                      </a:r>
                      <a:r>
                        <a:rPr lang="ru-RU" sz="15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5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идоравий</a:t>
                      </a:r>
                      <a:r>
                        <a:rPr lang="ru-RU" sz="15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5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мансублиги</a:t>
                      </a:r>
                      <a:endParaRPr lang="ru-RU" sz="15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2213" marR="6221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ru-RU" sz="15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ТХЮЗ</a:t>
                      </a:r>
                    </a:p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ru-RU" sz="15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объектининг</a:t>
                      </a:r>
                      <a:r>
                        <a:rPr lang="ru-RU" sz="15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5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манзили</a:t>
                      </a:r>
                      <a:endParaRPr lang="ru-RU" sz="15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2213" marR="6221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uz-Cyrl-UZ" sz="15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ТХЮЗ объектининг</a:t>
                      </a:r>
                      <a:endParaRPr lang="ru-RU" sz="15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ru-RU" sz="15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Х координатаси</a:t>
                      </a:r>
                      <a:endParaRPr lang="ru-RU" sz="15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2213" marR="6221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uz-Cyrl-UZ" sz="15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ТХЮЗ объектининг</a:t>
                      </a:r>
                      <a:endParaRPr lang="ru-RU" sz="15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ru-RU" sz="15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 координатаси</a:t>
                      </a:r>
                      <a:endParaRPr lang="ru-RU" sz="15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2213" marR="62213" marT="0" marB="0" anchor="ctr"/>
                </a:tc>
                <a:extLst>
                  <a:ext uri="{0D108BD9-81ED-4DB2-BD59-A6C34878D82A}">
                    <a16:rowId xmlns:a16="http://schemas.microsoft.com/office/drawing/2014/main" val="1196533670"/>
                  </a:ext>
                </a:extLst>
              </a:tr>
              <a:tr h="356413"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uz-Cyrl-UZ" sz="15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ru-RU" sz="15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2213" marR="6221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uz-Cyrl-UZ" sz="15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ru-RU" sz="15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2213" marR="6221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uz-Cyrl-UZ" sz="15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ru-RU" sz="15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2213" marR="6221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uz-Cyrl-UZ" sz="15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ru-RU" sz="15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2213" marR="6221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uz-Cyrl-UZ" sz="15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ru-RU" sz="15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2213" marR="6221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uz-Cyrl-UZ" sz="15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ru-RU" sz="15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2213" marR="62213" marT="0" marB="0" anchor="ctr"/>
                </a:tc>
                <a:extLst>
                  <a:ext uri="{0D108BD9-81ED-4DB2-BD59-A6C34878D82A}">
                    <a16:rowId xmlns:a16="http://schemas.microsoft.com/office/drawing/2014/main" val="3547928226"/>
                  </a:ext>
                </a:extLst>
              </a:tr>
            </a:tbl>
          </a:graphicData>
        </a:graphic>
      </p:graphicFrame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1778542" y="1839653"/>
            <a:ext cx="167587" cy="3350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82951" tIns="41475" rIns="82951" bIns="41475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 sz="1633"/>
          </a:p>
        </p:txBody>
      </p:sp>
      <p:graphicFrame>
        <p:nvGraphicFramePr>
          <p:cNvPr id="8" name="Таблица 7"/>
          <p:cNvGraphicFramePr>
            <a:graphicFrameLocks noGrp="1"/>
          </p:cNvGraphicFramePr>
          <p:nvPr>
            <p:extLst/>
          </p:nvPr>
        </p:nvGraphicFramePr>
        <p:xfrm>
          <a:off x="535723" y="3026775"/>
          <a:ext cx="10818079" cy="1319577"/>
        </p:xfrm>
        <a:graphic>
          <a:graphicData uri="http://schemas.openxmlformats.org/drawingml/2006/table">
            <a:tbl>
              <a:tblPr firstRow="1" firstCol="1" bandRow="1"/>
              <a:tblGrid>
                <a:gridCol w="2533795">
                  <a:extLst>
                    <a:ext uri="{9D8B030D-6E8A-4147-A177-3AD203B41FA5}">
                      <a16:colId xmlns:a16="http://schemas.microsoft.com/office/drawing/2014/main" val="878743054"/>
                    </a:ext>
                  </a:extLst>
                </a:gridCol>
                <a:gridCol w="3270112">
                  <a:extLst>
                    <a:ext uri="{9D8B030D-6E8A-4147-A177-3AD203B41FA5}">
                      <a16:colId xmlns:a16="http://schemas.microsoft.com/office/drawing/2014/main" val="465737953"/>
                    </a:ext>
                  </a:extLst>
                </a:gridCol>
                <a:gridCol w="3070151">
                  <a:extLst>
                    <a:ext uri="{9D8B030D-6E8A-4147-A177-3AD203B41FA5}">
                      <a16:colId xmlns:a16="http://schemas.microsoft.com/office/drawing/2014/main" val="2534780473"/>
                    </a:ext>
                  </a:extLst>
                </a:gridCol>
                <a:gridCol w="1944021">
                  <a:extLst>
                    <a:ext uri="{9D8B030D-6E8A-4147-A177-3AD203B41FA5}">
                      <a16:colId xmlns:a16="http://schemas.microsoft.com/office/drawing/2014/main" val="2829919629"/>
                    </a:ext>
                  </a:extLst>
                </a:gridCol>
              </a:tblGrid>
              <a:tr h="1019658">
                <a:tc>
                  <a:txBody>
                    <a:bodyPr/>
                    <a:lstStyle/>
                    <a:p>
                      <a:pPr marL="0" algn="ctr" defTabSz="1007943" rtl="0" eaLnBrk="1" latinLnBrk="0" hangingPunct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ru-RU" sz="15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ТХЮЗ </a:t>
                      </a:r>
                      <a:r>
                        <a:rPr lang="ru-RU" sz="150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объектининг</a:t>
                      </a:r>
                      <a:r>
                        <a:rPr lang="ru-RU" sz="15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ер </a:t>
                      </a:r>
                      <a:r>
                        <a:rPr lang="ru-RU" sz="150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участкаси</a:t>
                      </a:r>
                      <a:r>
                        <a:rPr lang="ru-RU" sz="15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кадастр </a:t>
                      </a:r>
                      <a:r>
                        <a:rPr lang="ru-RU" sz="150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рақами</a:t>
                      </a:r>
                      <a:endParaRPr lang="ru-RU" sz="15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2213" marR="62213" marT="0" marB="0" anchor="ctr"/>
                </a:tc>
                <a:tc>
                  <a:txBody>
                    <a:bodyPr/>
                    <a:lstStyle/>
                    <a:p>
                      <a:pPr marL="0" algn="ctr" defTabSz="1007943" rtl="0" eaLnBrk="1" latinLnBrk="0" hangingPunct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ru-RU" sz="15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ТХЮЗ </a:t>
                      </a:r>
                      <a:r>
                        <a:rPr lang="ru-RU" sz="150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объектини</a:t>
                      </a:r>
                      <a:r>
                        <a:rPr lang="ru-RU" sz="15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кадастр </a:t>
                      </a:r>
                      <a:r>
                        <a:rPr lang="ru-RU" sz="150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рўйхатидан</a:t>
                      </a:r>
                      <a:r>
                        <a:rPr lang="ru-RU" sz="15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</a:p>
                    <a:p>
                      <a:pPr marL="0" algn="ctr" defTabSz="1007943" rtl="0" eaLnBrk="1" latinLnBrk="0" hangingPunct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ru-RU" sz="150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ўтказилган</a:t>
                      </a:r>
                      <a:r>
                        <a:rPr lang="ru-RU" sz="15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50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санава</a:t>
                      </a:r>
                      <a:r>
                        <a:rPr lang="ru-RU" sz="15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50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рақами</a:t>
                      </a:r>
                      <a:endParaRPr lang="ru-RU" sz="15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2213" marR="62213" marT="0" marB="0" anchor="ctr"/>
                </a:tc>
                <a:tc>
                  <a:txBody>
                    <a:bodyPr/>
                    <a:lstStyle/>
                    <a:p>
                      <a:pPr marL="0" algn="ctr" defTabSz="1007943" rtl="0" eaLnBrk="1" latinLnBrk="0" hangingPunct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ru-RU" sz="15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ТХЮЗ </a:t>
                      </a:r>
                      <a:r>
                        <a:rPr lang="ru-RU" sz="150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объектининг</a:t>
                      </a:r>
                      <a:r>
                        <a:rPr lang="ru-RU" sz="15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ер </a:t>
                      </a:r>
                      <a:r>
                        <a:rPr lang="ru-RU" sz="150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участкаси</a:t>
                      </a:r>
                      <a:endParaRPr lang="ru-RU" sz="15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0" algn="ctr" defTabSz="1007943" rtl="0" eaLnBrk="1" latinLnBrk="0" hangingPunct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ru-RU" sz="150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умумий</a:t>
                      </a:r>
                      <a:r>
                        <a:rPr lang="ru-RU" sz="15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50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майдони</a:t>
                      </a:r>
                      <a:endParaRPr lang="ru-RU" sz="15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0" algn="ctr" defTabSz="1007943" rtl="0" eaLnBrk="1" latinLnBrk="0" hangingPunct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ru-RU" sz="15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ru-RU" sz="150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гектарда</a:t>
                      </a:r>
                      <a:r>
                        <a:rPr lang="ru-RU" sz="15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62213" marR="62213" marT="0" marB="0" anchor="ctr"/>
                </a:tc>
                <a:tc>
                  <a:txBody>
                    <a:bodyPr/>
                    <a:lstStyle/>
                    <a:p>
                      <a:pPr marL="0" algn="ctr" defTabSz="1007943" rtl="0" eaLnBrk="1" latinLnBrk="0" hangingPunct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ru-RU" sz="1500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ТХЮЗ объектининг вазифалари</a:t>
                      </a:r>
                    </a:p>
                  </a:txBody>
                  <a:tcPr marL="62213" marR="62213" marT="0" marB="0" anchor="ctr"/>
                </a:tc>
                <a:extLst>
                  <a:ext uri="{0D108BD9-81ED-4DB2-BD59-A6C34878D82A}">
                    <a16:rowId xmlns:a16="http://schemas.microsoft.com/office/drawing/2014/main" val="1697658296"/>
                  </a:ext>
                </a:extLst>
              </a:tr>
              <a:tr h="299919">
                <a:tc>
                  <a:txBody>
                    <a:bodyPr/>
                    <a:lstStyle/>
                    <a:p>
                      <a:pPr marL="0" algn="ctr" defTabSz="1007943" rtl="0" eaLnBrk="1" latinLnBrk="0" hangingPunct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uz-Cyrl-UZ" sz="1500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7</a:t>
                      </a:r>
                      <a:endParaRPr lang="ru-RU" sz="1500" kern="12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2213" marR="62213" marT="0" marB="0" anchor="ctr"/>
                </a:tc>
                <a:tc>
                  <a:txBody>
                    <a:bodyPr/>
                    <a:lstStyle/>
                    <a:p>
                      <a:pPr marL="0" algn="ctr" defTabSz="1007943" rtl="0" eaLnBrk="1" latinLnBrk="0" hangingPunct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uz-Cyrl-UZ" sz="15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</a:t>
                      </a:r>
                      <a:endParaRPr lang="ru-RU" sz="15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2213" marR="62213" marT="0" marB="0" anchor="ctr"/>
                </a:tc>
                <a:tc>
                  <a:txBody>
                    <a:bodyPr/>
                    <a:lstStyle/>
                    <a:p>
                      <a:pPr marL="0" algn="ctr" defTabSz="1007943" rtl="0" eaLnBrk="1" latinLnBrk="0" hangingPunct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uz-Cyrl-UZ" sz="15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9</a:t>
                      </a:r>
                      <a:endParaRPr lang="ru-RU" sz="15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2213" marR="62213" marT="0" marB="0" anchor="ctr"/>
                </a:tc>
                <a:tc>
                  <a:txBody>
                    <a:bodyPr/>
                    <a:lstStyle/>
                    <a:p>
                      <a:pPr marL="0" algn="ctr" defTabSz="1007943" rtl="0" eaLnBrk="1" latinLnBrk="0" hangingPunct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uz-Cyrl-UZ" sz="15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10</a:t>
                      </a:r>
                      <a:endParaRPr lang="ru-RU" sz="15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2213" marR="62213" marT="0" marB="0" anchor="ctr"/>
                </a:tc>
                <a:extLst>
                  <a:ext uri="{0D108BD9-81ED-4DB2-BD59-A6C34878D82A}">
                    <a16:rowId xmlns:a16="http://schemas.microsoft.com/office/drawing/2014/main" val="2903210315"/>
                  </a:ext>
                </a:extLst>
              </a:tr>
            </a:tbl>
          </a:graphicData>
        </a:graphic>
      </p:graphicFrame>
      <p:graphicFrame>
        <p:nvGraphicFramePr>
          <p:cNvPr id="9" name="Таблица 8"/>
          <p:cNvGraphicFramePr>
            <a:graphicFrameLocks noGrp="1"/>
          </p:cNvGraphicFramePr>
          <p:nvPr>
            <p:extLst/>
          </p:nvPr>
        </p:nvGraphicFramePr>
        <p:xfrm>
          <a:off x="535722" y="4824037"/>
          <a:ext cx="10818080" cy="1423266"/>
        </p:xfrm>
        <a:graphic>
          <a:graphicData uri="http://schemas.openxmlformats.org/drawingml/2006/table">
            <a:tbl>
              <a:tblPr firstRow="1" firstCol="1" bandRow="1"/>
              <a:tblGrid>
                <a:gridCol w="3555996">
                  <a:extLst>
                    <a:ext uri="{9D8B030D-6E8A-4147-A177-3AD203B41FA5}">
                      <a16:colId xmlns:a16="http://schemas.microsoft.com/office/drawing/2014/main" val="3257957880"/>
                    </a:ext>
                  </a:extLst>
                </a:gridCol>
                <a:gridCol w="2148174">
                  <a:extLst>
                    <a:ext uri="{9D8B030D-6E8A-4147-A177-3AD203B41FA5}">
                      <a16:colId xmlns:a16="http://schemas.microsoft.com/office/drawing/2014/main" val="960893771"/>
                    </a:ext>
                  </a:extLst>
                </a:gridCol>
                <a:gridCol w="3068201">
                  <a:extLst>
                    <a:ext uri="{9D8B030D-6E8A-4147-A177-3AD203B41FA5}">
                      <a16:colId xmlns:a16="http://schemas.microsoft.com/office/drawing/2014/main" val="3260974009"/>
                    </a:ext>
                  </a:extLst>
                </a:gridCol>
                <a:gridCol w="2045709">
                  <a:extLst>
                    <a:ext uri="{9D8B030D-6E8A-4147-A177-3AD203B41FA5}">
                      <a16:colId xmlns:a16="http://schemas.microsoft.com/office/drawing/2014/main" val="1241257309"/>
                    </a:ext>
                  </a:extLst>
                </a:gridCol>
              </a:tblGrid>
              <a:tr h="1150390">
                <a:tc>
                  <a:txBody>
                    <a:bodyPr/>
                    <a:lstStyle/>
                    <a:p>
                      <a:pPr marL="0" algn="ctr" defTabSz="1007943" rtl="0" eaLnBrk="1" latinLnBrk="0" hangingPunct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ru-RU" sz="15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ТХЮЗ </a:t>
                      </a:r>
                      <a:r>
                        <a:rPr lang="ru-RU" sz="150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объектида</a:t>
                      </a:r>
                      <a:r>
                        <a:rPr lang="ru-RU" sz="15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50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ишлаб</a:t>
                      </a:r>
                      <a:r>
                        <a:rPr lang="ru-RU" sz="15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50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чиқариш</a:t>
                      </a:r>
                      <a:r>
                        <a:rPr lang="ru-RU" sz="15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ru-RU" sz="150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қайта</a:t>
                      </a:r>
                      <a:r>
                        <a:rPr lang="ru-RU" sz="15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50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ишлаш</a:t>
                      </a:r>
                      <a:r>
                        <a:rPr lang="ru-RU" sz="15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ru-RU" sz="150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сақлаш</a:t>
                      </a:r>
                      <a:r>
                        <a:rPr lang="ru-RU" sz="15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50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ва</a:t>
                      </a:r>
                      <a:r>
                        <a:rPr lang="ru-RU" sz="15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50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улардан</a:t>
                      </a:r>
                      <a:r>
                        <a:rPr lang="ru-RU" sz="15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50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фойдаланиш</a:t>
                      </a:r>
                      <a:r>
                        <a:rPr lang="ru-RU" sz="15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/>
                      </a:r>
                      <a:br>
                        <a:rPr lang="ru-RU" sz="15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</a:br>
                      <a:r>
                        <a:rPr lang="ru-RU" sz="150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моддасининг</a:t>
                      </a:r>
                      <a:r>
                        <a:rPr lang="ru-RU" sz="15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50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номлари</a:t>
                      </a:r>
                      <a:endParaRPr lang="ru-RU" sz="15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2213" marR="62213" marT="0" marB="0" anchor="ctr"/>
                </a:tc>
                <a:tc>
                  <a:txBody>
                    <a:bodyPr/>
                    <a:lstStyle/>
                    <a:p>
                      <a:pPr marL="0" algn="ctr" defTabSz="1007943" rtl="0" eaLnBrk="1" latinLnBrk="0" hangingPunct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ru-RU" sz="15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ТХЮЗ </a:t>
                      </a:r>
                      <a:r>
                        <a:rPr lang="uz-Cyrl-UZ" sz="15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о</a:t>
                      </a:r>
                      <a:r>
                        <a:rPr lang="ru-RU" sz="150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бъектининг</a:t>
                      </a:r>
                      <a:r>
                        <a:rPr lang="ru-RU" sz="15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50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ҳозирги</a:t>
                      </a:r>
                      <a:r>
                        <a:rPr lang="ru-RU" sz="15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50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кундаги</a:t>
                      </a:r>
                      <a:r>
                        <a:rPr lang="ru-RU" sz="15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50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ҳолати</a:t>
                      </a:r>
                      <a:r>
                        <a:rPr lang="ru-RU" sz="15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‎</a:t>
                      </a:r>
                    </a:p>
                  </a:txBody>
                  <a:tcPr marL="62213" marR="62213" marT="0" marB="0" anchor="ctr"/>
                </a:tc>
                <a:tc>
                  <a:txBody>
                    <a:bodyPr/>
                    <a:lstStyle/>
                    <a:p>
                      <a:pPr marL="0" algn="ctr" defTabSz="1007943" rtl="0" eaLnBrk="1" latinLnBrk="0" hangingPunct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ru-RU" sz="1500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ТХЮЗ объектининг эксплуатацияга туширилган  санаси</a:t>
                      </a:r>
                    </a:p>
                  </a:txBody>
                  <a:tcPr marL="62213" marR="62213" marT="0" marB="0" anchor="ctr"/>
                </a:tc>
                <a:tc>
                  <a:txBody>
                    <a:bodyPr/>
                    <a:lstStyle/>
                    <a:p>
                      <a:pPr marL="0" algn="ctr" defTabSz="1007943" rtl="0" eaLnBrk="1" latinLnBrk="0" hangingPunct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ru-RU" sz="1500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Санитария ҳимояси масофаси</a:t>
                      </a:r>
                    </a:p>
                  </a:txBody>
                  <a:tcPr marL="62213" marR="62213" marT="0" marB="0" anchor="ctr"/>
                </a:tc>
                <a:extLst>
                  <a:ext uri="{0D108BD9-81ED-4DB2-BD59-A6C34878D82A}">
                    <a16:rowId xmlns:a16="http://schemas.microsoft.com/office/drawing/2014/main" val="3052365839"/>
                  </a:ext>
                </a:extLst>
              </a:tr>
              <a:tr h="272876">
                <a:tc>
                  <a:txBody>
                    <a:bodyPr/>
                    <a:lstStyle/>
                    <a:p>
                      <a:pPr marL="0" algn="ctr" defTabSz="1007943" rtl="0" eaLnBrk="1" latinLnBrk="0" hangingPunct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uz-Cyrl-UZ" sz="15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11</a:t>
                      </a:r>
                      <a:endParaRPr lang="ru-RU" sz="15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2213" marR="62213" marT="0" marB="0" anchor="ctr"/>
                </a:tc>
                <a:tc>
                  <a:txBody>
                    <a:bodyPr/>
                    <a:lstStyle/>
                    <a:p>
                      <a:pPr marL="0" algn="ctr" defTabSz="1007943" rtl="0" eaLnBrk="1" latinLnBrk="0" hangingPunct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uz-Cyrl-UZ" sz="15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12</a:t>
                      </a:r>
                      <a:endParaRPr lang="ru-RU" sz="15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2213" marR="62213" marT="0" marB="0" anchor="ctr"/>
                </a:tc>
                <a:tc>
                  <a:txBody>
                    <a:bodyPr/>
                    <a:lstStyle/>
                    <a:p>
                      <a:pPr marL="0" algn="ctr" defTabSz="1007943" rtl="0" eaLnBrk="1" latinLnBrk="0" hangingPunct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uz-Cyrl-UZ" sz="15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13</a:t>
                      </a:r>
                      <a:endParaRPr lang="ru-RU" sz="15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2213" marR="62213" marT="0" marB="0" anchor="ctr"/>
                </a:tc>
                <a:tc>
                  <a:txBody>
                    <a:bodyPr/>
                    <a:lstStyle/>
                    <a:p>
                      <a:pPr marL="0" algn="ctr" defTabSz="1007943" rtl="0" eaLnBrk="1" latinLnBrk="0" hangingPunct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uz-Cyrl-UZ" sz="15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14</a:t>
                      </a:r>
                      <a:endParaRPr lang="ru-RU" sz="15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2213" marR="62213" marT="0" marB="0" anchor="ctr"/>
                </a:tc>
                <a:extLst>
                  <a:ext uri="{0D108BD9-81ED-4DB2-BD59-A6C34878D82A}">
                    <a16:rowId xmlns:a16="http://schemas.microsoft.com/office/drawing/2014/main" val="39168483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036034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1778542" y="1839653"/>
            <a:ext cx="167587" cy="3350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82951" tIns="41475" rIns="82951" bIns="41475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 sz="1633"/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>
            <p:extLst/>
          </p:nvPr>
        </p:nvGraphicFramePr>
        <p:xfrm>
          <a:off x="542347" y="633597"/>
          <a:ext cx="10802868" cy="1457539"/>
        </p:xfrm>
        <a:graphic>
          <a:graphicData uri="http://schemas.openxmlformats.org/drawingml/2006/table">
            <a:tbl>
              <a:tblPr firstRow="1" firstCol="1" bandRow="1"/>
              <a:tblGrid>
                <a:gridCol w="2733864">
                  <a:extLst>
                    <a:ext uri="{9D8B030D-6E8A-4147-A177-3AD203B41FA5}">
                      <a16:colId xmlns:a16="http://schemas.microsoft.com/office/drawing/2014/main" val="2499313816"/>
                    </a:ext>
                  </a:extLst>
                </a:gridCol>
                <a:gridCol w="2758363">
                  <a:extLst>
                    <a:ext uri="{9D8B030D-6E8A-4147-A177-3AD203B41FA5}">
                      <a16:colId xmlns:a16="http://schemas.microsoft.com/office/drawing/2014/main" val="2826331051"/>
                    </a:ext>
                  </a:extLst>
                </a:gridCol>
                <a:gridCol w="3063887">
                  <a:extLst>
                    <a:ext uri="{9D8B030D-6E8A-4147-A177-3AD203B41FA5}">
                      <a16:colId xmlns:a16="http://schemas.microsoft.com/office/drawing/2014/main" val="750814144"/>
                    </a:ext>
                  </a:extLst>
                </a:gridCol>
                <a:gridCol w="2246754">
                  <a:extLst>
                    <a:ext uri="{9D8B030D-6E8A-4147-A177-3AD203B41FA5}">
                      <a16:colId xmlns:a16="http://schemas.microsoft.com/office/drawing/2014/main" val="4238655566"/>
                    </a:ext>
                  </a:extLst>
                </a:gridCol>
              </a:tblGrid>
              <a:tr h="1168269"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ТХЮЗ </a:t>
                      </a:r>
                      <a:r>
                        <a:rPr lang="ru-RU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объектида</a:t>
                      </a: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ru-RU" sz="13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ходимларнинг</a:t>
                      </a: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умумий</a:t>
                      </a: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сони</a:t>
                      </a:r>
                      <a:endParaRPr lang="ru-RU" sz="13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2213" marR="6221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ТХЮЗ </a:t>
                      </a:r>
                      <a:r>
                        <a:rPr lang="ru-RU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объектида</a:t>
                      </a: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ru-RU" sz="13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ходимларнинг</a:t>
                      </a: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ишлаш</a:t>
                      </a: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вақти</a:t>
                      </a: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ru-RU" sz="13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ru-RU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бир</a:t>
                      </a: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сутка</a:t>
                      </a: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давомида</a:t>
                      </a: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ru-RU" sz="13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2213" marR="6221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ТХЮЗ </a:t>
                      </a:r>
                      <a:r>
                        <a:rPr lang="ru-RU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объектидан</a:t>
                      </a: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аҳоли</a:t>
                      </a: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ru-RU" sz="13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яшаш</a:t>
                      </a: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пунктигача</a:t>
                      </a: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бўлган</a:t>
                      </a: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масофа</a:t>
                      </a: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</a:t>
                      </a:r>
                      <a:r>
                        <a:rPr lang="ru-RU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кмда</a:t>
                      </a: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ru-RU" sz="13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2213" marR="6221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ТХЮЗ </a:t>
                      </a:r>
                      <a:r>
                        <a:rPr lang="ru-RU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объектига</a:t>
                      </a: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энг</a:t>
                      </a: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яқин</a:t>
                      </a: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бўлган</a:t>
                      </a: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объектлар</a:t>
                      </a: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‎‎</a:t>
                      </a:r>
                      <a:endParaRPr lang="ru-RU" sz="13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2213" marR="62213" marT="0" marB="0" anchor="ctr"/>
                </a:tc>
                <a:extLst>
                  <a:ext uri="{0D108BD9-81ED-4DB2-BD59-A6C34878D82A}">
                    <a16:rowId xmlns:a16="http://schemas.microsoft.com/office/drawing/2014/main" val="2915156624"/>
                  </a:ext>
                </a:extLst>
              </a:tr>
              <a:tr h="289270"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uz-Cyrl-UZ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</a:t>
                      </a:r>
                      <a:endParaRPr lang="ru-RU" sz="13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2213" marR="6221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uz-Cyrl-UZ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</a:t>
                      </a:r>
                      <a:endParaRPr lang="ru-RU" sz="13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2213" marR="6221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uz-Cyrl-UZ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</a:t>
                      </a:r>
                      <a:endParaRPr lang="ru-RU" sz="13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2213" marR="6221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uz-Cyrl-UZ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</a:t>
                      </a:r>
                      <a:endParaRPr lang="ru-RU" sz="13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2213" marR="62213" marT="0" marB="0" anchor="ctr"/>
                </a:tc>
                <a:extLst>
                  <a:ext uri="{0D108BD9-81ED-4DB2-BD59-A6C34878D82A}">
                    <a16:rowId xmlns:a16="http://schemas.microsoft.com/office/drawing/2014/main" val="2684828847"/>
                  </a:ext>
                </a:extLst>
              </a:tr>
            </a:tbl>
          </a:graphicData>
        </a:graphic>
      </p:graphicFrame>
      <p:graphicFrame>
        <p:nvGraphicFramePr>
          <p:cNvPr id="6" name="Таблица 5"/>
          <p:cNvGraphicFramePr>
            <a:graphicFrameLocks noGrp="1"/>
          </p:cNvGraphicFramePr>
          <p:nvPr>
            <p:extLst/>
          </p:nvPr>
        </p:nvGraphicFramePr>
        <p:xfrm>
          <a:off x="542347" y="2670405"/>
          <a:ext cx="10802868" cy="1554977"/>
        </p:xfrm>
        <a:graphic>
          <a:graphicData uri="http://schemas.openxmlformats.org/drawingml/2006/table">
            <a:tbl>
              <a:tblPr firstRow="1" firstCol="1" bandRow="1"/>
              <a:tblGrid>
                <a:gridCol w="4063510">
                  <a:extLst>
                    <a:ext uri="{9D8B030D-6E8A-4147-A177-3AD203B41FA5}">
                      <a16:colId xmlns:a16="http://schemas.microsoft.com/office/drawing/2014/main" val="4158413743"/>
                    </a:ext>
                  </a:extLst>
                </a:gridCol>
                <a:gridCol w="3473844">
                  <a:extLst>
                    <a:ext uri="{9D8B030D-6E8A-4147-A177-3AD203B41FA5}">
                      <a16:colId xmlns:a16="http://schemas.microsoft.com/office/drawing/2014/main" val="4272889915"/>
                    </a:ext>
                  </a:extLst>
                </a:gridCol>
                <a:gridCol w="3265514">
                  <a:extLst>
                    <a:ext uri="{9D8B030D-6E8A-4147-A177-3AD203B41FA5}">
                      <a16:colId xmlns:a16="http://schemas.microsoft.com/office/drawing/2014/main" val="3665178566"/>
                    </a:ext>
                  </a:extLst>
                </a:gridCol>
              </a:tblGrid>
              <a:tr h="1260825">
                <a:tc>
                  <a:txBody>
                    <a:bodyPr/>
                    <a:lstStyle/>
                    <a:p>
                      <a:pPr marL="0" algn="ctr" defTabSz="1007943" rtl="0" eaLnBrk="1" latinLnBrk="0" hangingPunct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uz-Cyrl-UZ" sz="16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ТХЮЗ объектидан туман ёнғин </a:t>
                      </a:r>
                      <a:endParaRPr lang="ru-RU" sz="16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0" algn="ctr" defTabSz="1007943" rtl="0" eaLnBrk="1" latinLnBrk="0" hangingPunct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uz-Cyrl-UZ" sz="16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хавфсизлиги бўлимигача бўлган масофа</a:t>
                      </a:r>
                      <a:endParaRPr lang="ru-RU" sz="16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0" algn="ctr" defTabSz="1007943" rtl="0" eaLnBrk="1" latinLnBrk="0" hangingPunct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uz-Cyrl-UZ" sz="16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(кмда)</a:t>
                      </a:r>
                      <a:endParaRPr lang="ru-RU" sz="16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2213" marR="62213" marT="0" marB="0" anchor="ctr"/>
                </a:tc>
                <a:tc>
                  <a:txBody>
                    <a:bodyPr/>
                    <a:lstStyle/>
                    <a:p>
                      <a:pPr marL="0" algn="ctr" defTabSz="1007943" rtl="0" eaLnBrk="1" latinLnBrk="0" hangingPunct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ru-RU" sz="16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ТХЮЗ </a:t>
                      </a:r>
                      <a:r>
                        <a:rPr lang="ru-RU" sz="160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объектида</a:t>
                      </a:r>
                      <a:r>
                        <a:rPr lang="ru-RU" sz="16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60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ёнғин</a:t>
                      </a:r>
                      <a:r>
                        <a:rPr lang="ru-RU" sz="16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60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ўчириш</a:t>
                      </a:r>
                      <a:r>
                        <a:rPr lang="ru-RU" sz="16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60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техникасининг</a:t>
                      </a:r>
                      <a:r>
                        <a:rPr lang="ru-RU" sz="16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тури </a:t>
                      </a:r>
                      <a:r>
                        <a:rPr lang="ru-RU" sz="160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ва</a:t>
                      </a:r>
                      <a:r>
                        <a:rPr lang="ru-RU" sz="16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60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сонлари</a:t>
                      </a:r>
                      <a:endParaRPr lang="ru-RU" sz="16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2213" marR="62213" marT="0" marB="0" anchor="ctr"/>
                </a:tc>
                <a:tc>
                  <a:txBody>
                    <a:bodyPr/>
                    <a:lstStyle/>
                    <a:p>
                      <a:pPr marL="0" algn="ctr" defTabSz="1007943" rtl="0" eaLnBrk="1" latinLnBrk="0" hangingPunct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ru-RU" sz="160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Техноген</a:t>
                      </a:r>
                      <a:r>
                        <a:rPr lang="ru-RU" sz="16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60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хавф</a:t>
                      </a:r>
                      <a:r>
                        <a:rPr lang="ru-RU" sz="16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60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содир</a:t>
                      </a:r>
                      <a:r>
                        <a:rPr lang="ru-RU" sz="16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60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бўлганда</a:t>
                      </a:r>
                      <a:r>
                        <a:rPr lang="ru-RU" sz="16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60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зарарланиш</a:t>
                      </a:r>
                      <a:r>
                        <a:rPr lang="ru-RU" sz="16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60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майдони</a:t>
                      </a:r>
                      <a:endParaRPr lang="ru-RU" sz="16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0" algn="ctr" defTabSz="1007943" rtl="0" eaLnBrk="1" latinLnBrk="0" hangingPunct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ru-RU" sz="16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(метр </a:t>
                      </a:r>
                      <a:r>
                        <a:rPr lang="ru-RU" sz="160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квда</a:t>
                      </a:r>
                      <a:r>
                        <a:rPr lang="ru-RU" sz="16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62213" marR="62213" marT="0" marB="0" anchor="ctr"/>
                </a:tc>
                <a:extLst>
                  <a:ext uri="{0D108BD9-81ED-4DB2-BD59-A6C34878D82A}">
                    <a16:rowId xmlns:a16="http://schemas.microsoft.com/office/drawing/2014/main" val="266207536"/>
                  </a:ext>
                </a:extLst>
              </a:tr>
              <a:tr h="294152">
                <a:tc>
                  <a:txBody>
                    <a:bodyPr/>
                    <a:lstStyle/>
                    <a:p>
                      <a:pPr marL="0" algn="ctr" defTabSz="1007943" rtl="0" eaLnBrk="1" latinLnBrk="0" hangingPunct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uz-Cyrl-UZ" sz="1600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19</a:t>
                      </a:r>
                      <a:endParaRPr lang="ru-RU" sz="1600" kern="12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2213" marR="62213" marT="0" marB="0" anchor="ctr"/>
                </a:tc>
                <a:tc>
                  <a:txBody>
                    <a:bodyPr/>
                    <a:lstStyle/>
                    <a:p>
                      <a:pPr marL="0" algn="ctr" defTabSz="1007943" rtl="0" eaLnBrk="1" latinLnBrk="0" hangingPunct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uz-Cyrl-UZ" sz="16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20</a:t>
                      </a:r>
                      <a:endParaRPr lang="ru-RU" sz="16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2213" marR="62213" marT="0" marB="0" anchor="ctr"/>
                </a:tc>
                <a:tc>
                  <a:txBody>
                    <a:bodyPr/>
                    <a:lstStyle/>
                    <a:p>
                      <a:pPr marL="0" algn="ctr" defTabSz="1007943" rtl="0" eaLnBrk="1" latinLnBrk="0" hangingPunct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uz-Cyrl-UZ" sz="16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21</a:t>
                      </a:r>
                      <a:endParaRPr lang="ru-RU" sz="16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2213" marR="62213" marT="0" marB="0" anchor="ctr"/>
                </a:tc>
                <a:extLst>
                  <a:ext uri="{0D108BD9-81ED-4DB2-BD59-A6C34878D82A}">
                    <a16:rowId xmlns:a16="http://schemas.microsoft.com/office/drawing/2014/main" val="2227796484"/>
                  </a:ext>
                </a:extLst>
              </a:tr>
            </a:tbl>
          </a:graphicData>
        </a:graphic>
      </p:graphicFrame>
      <p:graphicFrame>
        <p:nvGraphicFramePr>
          <p:cNvPr id="10" name="Таблица 9"/>
          <p:cNvGraphicFramePr>
            <a:graphicFrameLocks noGrp="1"/>
          </p:cNvGraphicFramePr>
          <p:nvPr>
            <p:extLst/>
          </p:nvPr>
        </p:nvGraphicFramePr>
        <p:xfrm>
          <a:off x="542347" y="4804654"/>
          <a:ext cx="10802868" cy="1235272"/>
        </p:xfrm>
        <a:graphic>
          <a:graphicData uri="http://schemas.openxmlformats.org/drawingml/2006/table">
            <a:tbl>
              <a:tblPr firstRow="1" firstCol="1" bandRow="1"/>
              <a:tblGrid>
                <a:gridCol w="4063510">
                  <a:extLst>
                    <a:ext uri="{9D8B030D-6E8A-4147-A177-3AD203B41FA5}">
                      <a16:colId xmlns:a16="http://schemas.microsoft.com/office/drawing/2014/main" val="1169020040"/>
                    </a:ext>
                  </a:extLst>
                </a:gridCol>
                <a:gridCol w="3473844">
                  <a:extLst>
                    <a:ext uri="{9D8B030D-6E8A-4147-A177-3AD203B41FA5}">
                      <a16:colId xmlns:a16="http://schemas.microsoft.com/office/drawing/2014/main" val="1873843189"/>
                    </a:ext>
                  </a:extLst>
                </a:gridCol>
                <a:gridCol w="3265514">
                  <a:extLst>
                    <a:ext uri="{9D8B030D-6E8A-4147-A177-3AD203B41FA5}">
                      <a16:colId xmlns:a16="http://schemas.microsoft.com/office/drawing/2014/main" val="4185553171"/>
                    </a:ext>
                  </a:extLst>
                </a:gridCol>
              </a:tblGrid>
              <a:tr h="938570">
                <a:tc>
                  <a:txBody>
                    <a:bodyPr/>
                    <a:lstStyle/>
                    <a:p>
                      <a:pPr marL="0" algn="ctr" defTabSz="1007943" rtl="0" eaLnBrk="1" latinLnBrk="0" hangingPunct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ru-RU" sz="160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Техноген</a:t>
                      </a:r>
                      <a:r>
                        <a:rPr lang="ru-RU" sz="16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60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хавф</a:t>
                      </a:r>
                      <a:r>
                        <a:rPr lang="ru-RU" sz="16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60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ривожланишида</a:t>
                      </a:r>
                      <a:r>
                        <a:rPr lang="ru-RU" sz="16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</a:p>
                    <a:p>
                      <a:pPr marL="0" algn="ctr" defTabSz="1007943" rtl="0" eaLnBrk="1" latinLnBrk="0" hangingPunct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ru-RU" sz="160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устунлик</a:t>
                      </a:r>
                      <a:r>
                        <a:rPr lang="ru-RU" sz="16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60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қилувчи</a:t>
                      </a:r>
                      <a:r>
                        <a:rPr lang="ru-RU" sz="16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тури</a:t>
                      </a:r>
                    </a:p>
                  </a:txBody>
                  <a:tcPr marL="62213" marR="62213" marT="0" marB="0" anchor="ctr"/>
                </a:tc>
                <a:tc>
                  <a:txBody>
                    <a:bodyPr/>
                    <a:lstStyle/>
                    <a:p>
                      <a:pPr marL="0" algn="ctr" defTabSz="1007943" rtl="0" eaLnBrk="1" latinLnBrk="0" hangingPunct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ru-RU" sz="16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ТХЮЗ </a:t>
                      </a:r>
                      <a:r>
                        <a:rPr lang="ru-RU" sz="160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объектининг</a:t>
                      </a:r>
                      <a:r>
                        <a:rPr lang="ru-RU" sz="16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</a:p>
                    <a:p>
                      <a:pPr marL="0" algn="ctr" defTabSz="1007943" rtl="0" eaLnBrk="1" latinLnBrk="0" hangingPunct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ru-RU" sz="160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умумий</a:t>
                      </a:r>
                      <a:r>
                        <a:rPr lang="ru-RU" sz="16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60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баҳоси</a:t>
                      </a:r>
                      <a:r>
                        <a:rPr lang="ru-RU" sz="16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‎‎</a:t>
                      </a:r>
                    </a:p>
                  </a:txBody>
                  <a:tcPr marL="62213" marR="62213" marT="0" marB="0" anchor="ctr"/>
                </a:tc>
                <a:tc>
                  <a:txBody>
                    <a:bodyPr/>
                    <a:lstStyle/>
                    <a:p>
                      <a:pPr marL="0" algn="ctr" defTabSz="1007943" rtl="0" eaLnBrk="1" latinLnBrk="0" hangingPunct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ru-RU" sz="1600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Инсон саломатлиги учун салбий </a:t>
                      </a:r>
                    </a:p>
                    <a:p>
                      <a:pPr marL="0" algn="ctr" defTabSz="1007943" rtl="0" eaLnBrk="1" latinLnBrk="0" hangingPunct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ru-RU" sz="1600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таъсир кўрсатувчи омиллар</a:t>
                      </a:r>
                    </a:p>
                  </a:txBody>
                  <a:tcPr marL="62213" marR="62213" marT="0" marB="0" anchor="ctr"/>
                </a:tc>
                <a:extLst>
                  <a:ext uri="{0D108BD9-81ED-4DB2-BD59-A6C34878D82A}">
                    <a16:rowId xmlns:a16="http://schemas.microsoft.com/office/drawing/2014/main" val="1378292251"/>
                  </a:ext>
                </a:extLst>
              </a:tr>
              <a:tr h="296702">
                <a:tc>
                  <a:txBody>
                    <a:bodyPr/>
                    <a:lstStyle/>
                    <a:p>
                      <a:pPr marL="0" algn="ctr" defTabSz="1007943" rtl="0" eaLnBrk="1" latinLnBrk="0" hangingPunct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uz-Cyrl-UZ" sz="16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22</a:t>
                      </a:r>
                      <a:endParaRPr lang="ru-RU" sz="16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2213" marR="62213" marT="0" marB="0" anchor="ctr"/>
                </a:tc>
                <a:tc>
                  <a:txBody>
                    <a:bodyPr/>
                    <a:lstStyle/>
                    <a:p>
                      <a:pPr marL="0" algn="ctr" defTabSz="1007943" rtl="0" eaLnBrk="1" latinLnBrk="0" hangingPunct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uz-Cyrl-UZ" sz="16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23</a:t>
                      </a:r>
                      <a:endParaRPr lang="ru-RU" sz="16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2213" marR="62213" marT="0" marB="0" anchor="ctr"/>
                </a:tc>
                <a:tc>
                  <a:txBody>
                    <a:bodyPr/>
                    <a:lstStyle/>
                    <a:p>
                      <a:pPr marL="0" algn="ctr" defTabSz="1007943" rtl="0" eaLnBrk="1" latinLnBrk="0" hangingPunct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uz-Cyrl-UZ" sz="16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24</a:t>
                      </a:r>
                      <a:endParaRPr lang="ru-RU" sz="16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2213" marR="62213" marT="0" marB="0" anchor="ctr"/>
                </a:tc>
                <a:extLst>
                  <a:ext uri="{0D108BD9-81ED-4DB2-BD59-A6C34878D82A}">
                    <a16:rowId xmlns:a16="http://schemas.microsoft.com/office/drawing/2014/main" val="4889650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455107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Таблица 1"/>
          <p:cNvGraphicFramePr>
            <a:graphicFrameLocks noGrp="1"/>
          </p:cNvGraphicFramePr>
          <p:nvPr>
            <p:extLst/>
          </p:nvPr>
        </p:nvGraphicFramePr>
        <p:xfrm>
          <a:off x="483092" y="234258"/>
          <a:ext cx="11171045" cy="1547380"/>
        </p:xfrm>
        <a:graphic>
          <a:graphicData uri="http://schemas.openxmlformats.org/drawingml/2006/table">
            <a:tbl>
              <a:tblPr/>
              <a:tblGrid>
                <a:gridCol w="389981">
                  <a:extLst>
                    <a:ext uri="{9D8B030D-6E8A-4147-A177-3AD203B41FA5}">
                      <a16:colId xmlns:a16="http://schemas.microsoft.com/office/drawing/2014/main" val="3806998011"/>
                    </a:ext>
                  </a:extLst>
                </a:gridCol>
                <a:gridCol w="1547340">
                  <a:extLst>
                    <a:ext uri="{9D8B030D-6E8A-4147-A177-3AD203B41FA5}">
                      <a16:colId xmlns:a16="http://schemas.microsoft.com/office/drawing/2014/main" val="4274606229"/>
                    </a:ext>
                  </a:extLst>
                </a:gridCol>
                <a:gridCol w="1761201">
                  <a:extLst>
                    <a:ext uri="{9D8B030D-6E8A-4147-A177-3AD203B41FA5}">
                      <a16:colId xmlns:a16="http://schemas.microsoft.com/office/drawing/2014/main" val="1095199088"/>
                    </a:ext>
                  </a:extLst>
                </a:gridCol>
                <a:gridCol w="1698301">
                  <a:extLst>
                    <a:ext uri="{9D8B030D-6E8A-4147-A177-3AD203B41FA5}">
                      <a16:colId xmlns:a16="http://schemas.microsoft.com/office/drawing/2014/main" val="1135786393"/>
                    </a:ext>
                  </a:extLst>
                </a:gridCol>
                <a:gridCol w="1140587">
                  <a:extLst>
                    <a:ext uri="{9D8B030D-6E8A-4147-A177-3AD203B41FA5}">
                      <a16:colId xmlns:a16="http://schemas.microsoft.com/office/drawing/2014/main" val="3098233194"/>
                    </a:ext>
                  </a:extLst>
                </a:gridCol>
                <a:gridCol w="1174134">
                  <a:extLst>
                    <a:ext uri="{9D8B030D-6E8A-4147-A177-3AD203B41FA5}">
                      <a16:colId xmlns:a16="http://schemas.microsoft.com/office/drawing/2014/main" val="3327555152"/>
                    </a:ext>
                  </a:extLst>
                </a:gridCol>
                <a:gridCol w="1811521">
                  <a:extLst>
                    <a:ext uri="{9D8B030D-6E8A-4147-A177-3AD203B41FA5}">
                      <a16:colId xmlns:a16="http://schemas.microsoft.com/office/drawing/2014/main" val="369956419"/>
                    </a:ext>
                  </a:extLst>
                </a:gridCol>
                <a:gridCol w="1647980">
                  <a:extLst>
                    <a:ext uri="{9D8B030D-6E8A-4147-A177-3AD203B41FA5}">
                      <a16:colId xmlns:a16="http://schemas.microsoft.com/office/drawing/2014/main" val="3119901739"/>
                    </a:ext>
                  </a:extLst>
                </a:gridCol>
              </a:tblGrid>
              <a:tr h="727545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Т/р</a:t>
                      </a:r>
                      <a:endParaRPr lang="ru-RU" sz="12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641" marR="8641" marT="864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ТХЮЗ </a:t>
                      </a:r>
                      <a:endParaRPr lang="ru-RU" sz="1200" u="none" strike="noStrike" dirty="0" smtClean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 fontAlgn="ctr"/>
                      <a:r>
                        <a:rPr lang="ru-RU" sz="1200" u="none" strike="noStrike" dirty="0" err="1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объектининг</a:t>
                      </a:r>
                      <a:r>
                        <a:rPr lang="ru-RU" sz="1200" u="none" strike="noStrike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2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номи</a:t>
                      </a:r>
                      <a:endParaRPr lang="ru-RU" sz="1200" b="1" i="0" u="none" strike="noStrike" dirty="0">
                        <a:solidFill>
                          <a:srgbClr val="0D0D0D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641" marR="8641" marT="864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ТХЮЗ </a:t>
                      </a:r>
                      <a:r>
                        <a:rPr lang="ru-RU" sz="12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объектининг</a:t>
                      </a:r>
                      <a:r>
                        <a:rPr lang="ru-RU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2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идоравий</a:t>
                      </a:r>
                      <a:r>
                        <a:rPr lang="ru-RU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2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мансублиги</a:t>
                      </a:r>
                      <a:endParaRPr lang="ru-RU" sz="1200" b="1" i="0" u="none" strike="noStrike" dirty="0">
                        <a:solidFill>
                          <a:srgbClr val="0D0D0D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641" marR="8641" marT="864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ТХЮЗ объектининг манзили</a:t>
                      </a:r>
                      <a:endParaRPr lang="ru-RU" sz="1200" b="1" i="0" u="none" strike="noStrike">
                        <a:solidFill>
                          <a:srgbClr val="0D0D0D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641" marR="8641" marT="864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ТХЮЗ </a:t>
                      </a:r>
                      <a:r>
                        <a:rPr lang="ru-RU" sz="12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объектининг</a:t>
                      </a:r>
                      <a:r>
                        <a:rPr lang="ru-RU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ru-RU" sz="1200" u="none" strike="noStrike" dirty="0" smtClean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 fontAlgn="ctr"/>
                      <a:r>
                        <a:rPr lang="ru-RU" sz="1200" u="none" strike="noStrike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Х </a:t>
                      </a:r>
                      <a:r>
                        <a:rPr lang="ru-RU" sz="12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координатаси</a:t>
                      </a:r>
                      <a:endParaRPr lang="ru-RU" sz="12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641" marR="8641" marT="864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ТХЮЗ </a:t>
                      </a:r>
                      <a:r>
                        <a:rPr lang="ru-RU" sz="12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объектининг</a:t>
                      </a:r>
                      <a:r>
                        <a:rPr lang="ru-RU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ru-RU" sz="1200" u="none" strike="noStrike" dirty="0" smtClean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 fontAlgn="ctr"/>
                      <a:r>
                        <a:rPr lang="en-US" sz="1200" u="none" strike="noStrike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 </a:t>
                      </a:r>
                      <a:r>
                        <a:rPr lang="ru-RU" sz="12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координатаси</a:t>
                      </a:r>
                      <a:endParaRPr lang="ru-RU" sz="12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641" marR="8641" marT="864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ТХЮЗ объектининг ер участкаси кадастр рақами</a:t>
                      </a:r>
                      <a:endParaRPr lang="ru-RU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641" marR="8641" marT="864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ТХЮЗ объектини кадастр рўйхатидан ўтказилган сана ва рақами</a:t>
                      </a:r>
                      <a:endParaRPr lang="ru-RU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641" marR="8641" marT="8641" marB="0" anchor="ctr"/>
                </a:tc>
                <a:extLst>
                  <a:ext uri="{0D108BD9-81ED-4DB2-BD59-A6C34878D82A}">
                    <a16:rowId xmlns:a16="http://schemas.microsoft.com/office/drawing/2014/main" val="2948989396"/>
                  </a:ext>
                </a:extLst>
              </a:tr>
              <a:tr h="188367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ru-RU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641" marR="8641" marT="864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ru-RU" sz="12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641" marR="8641" marT="864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ru-RU" sz="12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641" marR="8641" marT="864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ru-RU" sz="12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641" marR="8641" marT="864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ru-RU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641" marR="8641" marT="864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ru-RU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641" marR="8641" marT="864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ru-RU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641" marR="8641" marT="864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ru-RU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641" marR="8641" marT="8641" marB="0" anchor="ctr"/>
                </a:tc>
                <a:extLst>
                  <a:ext uri="{0D108BD9-81ED-4DB2-BD59-A6C34878D82A}">
                    <a16:rowId xmlns:a16="http://schemas.microsoft.com/office/drawing/2014/main" val="1667974019"/>
                  </a:ext>
                </a:extLst>
              </a:tr>
              <a:tr h="615698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</a:t>
                      </a:r>
                      <a:endParaRPr lang="ru-RU" sz="1200" b="1" i="0" u="none" strike="noStrike">
                        <a:solidFill>
                          <a:srgbClr val="0D0D0D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641" marR="8641" marT="864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"Фарғонаазот" АЖ</a:t>
                      </a:r>
                      <a:endParaRPr lang="ru-RU" sz="1200" b="1" i="0" u="none" strike="noStrike">
                        <a:solidFill>
                          <a:srgbClr val="0D0D0D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641" marR="8641" marT="864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"</a:t>
                      </a:r>
                      <a:r>
                        <a:rPr lang="ru-RU" sz="12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Ўзкимёсаноат</a:t>
                      </a:r>
                      <a:r>
                        <a:rPr lang="ru-RU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" АЖ</a:t>
                      </a:r>
                      <a:endParaRPr lang="ru-RU" sz="1200" b="1" i="0" u="none" strike="noStrike" dirty="0">
                        <a:solidFill>
                          <a:srgbClr val="0D0D0D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641" marR="8641" marT="864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Фарғона</a:t>
                      </a:r>
                      <a:r>
                        <a:rPr lang="ru-RU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2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вилояти</a:t>
                      </a:r>
                      <a:r>
                        <a:rPr lang="ru-RU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ru-RU" sz="12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Фарғона</a:t>
                      </a:r>
                      <a:r>
                        <a:rPr lang="ru-RU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2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шаҳри</a:t>
                      </a:r>
                      <a:r>
                        <a:rPr lang="ru-RU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ru-RU" sz="12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Саноат</a:t>
                      </a:r>
                      <a:r>
                        <a:rPr lang="ru-RU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2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кўчаси</a:t>
                      </a:r>
                      <a:r>
                        <a:rPr lang="ru-RU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222-уй</a:t>
                      </a:r>
                      <a:endParaRPr lang="ru-RU" sz="1200" b="1" i="0" u="none" strike="noStrike" dirty="0">
                        <a:solidFill>
                          <a:srgbClr val="0D0D0D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641" marR="8641" marT="864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60,123456</a:t>
                      </a:r>
                      <a:endParaRPr lang="ru-RU" sz="1200" b="1" i="0" u="none" strike="noStrike" dirty="0">
                        <a:solidFill>
                          <a:srgbClr val="0D0D0D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641" marR="8641" marT="864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40,123456</a:t>
                      </a:r>
                      <a:endParaRPr lang="ru-RU" sz="1200" b="1" i="0" u="none" strike="noStrike" dirty="0">
                        <a:solidFill>
                          <a:srgbClr val="0D0D0D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641" marR="8641" marT="864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15:01:01:01:01:0001</a:t>
                      </a:r>
                      <a:endParaRPr lang="ru-RU" sz="1200" b="1" i="0" u="none" strike="noStrike" dirty="0">
                        <a:solidFill>
                          <a:srgbClr val="0D0D0D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641" marR="8641" marT="864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2019 </a:t>
                      </a:r>
                      <a:r>
                        <a:rPr lang="ru-RU" sz="12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йил</a:t>
                      </a:r>
                      <a:r>
                        <a:rPr lang="ru-RU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10 август </a:t>
                      </a:r>
                      <a:endParaRPr lang="ru-RU" sz="1200" u="none" strike="noStrike" dirty="0" smtClean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 fontAlgn="ctr"/>
                      <a:r>
                        <a:rPr lang="ru-RU" sz="1200" u="none" strike="noStrike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№ </a:t>
                      </a:r>
                      <a:r>
                        <a:rPr lang="en-US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O'Y123456</a:t>
                      </a:r>
                      <a:endParaRPr lang="en-US" sz="1200" b="1" i="0" u="none" strike="noStrike" dirty="0">
                        <a:solidFill>
                          <a:srgbClr val="0D0D0D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641" marR="8641" marT="8641" marB="0" anchor="ctr"/>
                </a:tc>
                <a:extLst>
                  <a:ext uri="{0D108BD9-81ED-4DB2-BD59-A6C34878D82A}">
                    <a16:rowId xmlns:a16="http://schemas.microsoft.com/office/drawing/2014/main" val="2448295769"/>
                  </a:ext>
                </a:extLst>
              </a:tr>
            </a:tbl>
          </a:graphicData>
        </a:graphic>
      </p:graphicFrame>
      <p:graphicFrame>
        <p:nvGraphicFramePr>
          <p:cNvPr id="3" name="Таблица 2"/>
          <p:cNvGraphicFramePr>
            <a:graphicFrameLocks noGrp="1"/>
          </p:cNvGraphicFramePr>
          <p:nvPr>
            <p:extLst/>
          </p:nvPr>
        </p:nvGraphicFramePr>
        <p:xfrm>
          <a:off x="483091" y="2316235"/>
          <a:ext cx="11171044" cy="1970049"/>
        </p:xfrm>
        <a:graphic>
          <a:graphicData uri="http://schemas.openxmlformats.org/drawingml/2006/table">
            <a:tbl>
              <a:tblPr/>
              <a:tblGrid>
                <a:gridCol w="1384944">
                  <a:extLst>
                    <a:ext uri="{9D8B030D-6E8A-4147-A177-3AD203B41FA5}">
                      <a16:colId xmlns:a16="http://schemas.microsoft.com/office/drawing/2014/main" val="1510553821"/>
                    </a:ext>
                  </a:extLst>
                </a:gridCol>
                <a:gridCol w="1480599">
                  <a:extLst>
                    <a:ext uri="{9D8B030D-6E8A-4147-A177-3AD203B41FA5}">
                      <a16:colId xmlns:a16="http://schemas.microsoft.com/office/drawing/2014/main" val="1298705764"/>
                    </a:ext>
                  </a:extLst>
                </a:gridCol>
                <a:gridCol w="1929770">
                  <a:extLst>
                    <a:ext uri="{9D8B030D-6E8A-4147-A177-3AD203B41FA5}">
                      <a16:colId xmlns:a16="http://schemas.microsoft.com/office/drawing/2014/main" val="982836255"/>
                    </a:ext>
                  </a:extLst>
                </a:gridCol>
                <a:gridCol w="1135404">
                  <a:extLst>
                    <a:ext uri="{9D8B030D-6E8A-4147-A177-3AD203B41FA5}">
                      <a16:colId xmlns:a16="http://schemas.microsoft.com/office/drawing/2014/main" val="27158375"/>
                    </a:ext>
                  </a:extLst>
                </a:gridCol>
                <a:gridCol w="1247697">
                  <a:extLst>
                    <a:ext uri="{9D8B030D-6E8A-4147-A177-3AD203B41FA5}">
                      <a16:colId xmlns:a16="http://schemas.microsoft.com/office/drawing/2014/main" val="4174862680"/>
                    </a:ext>
                  </a:extLst>
                </a:gridCol>
                <a:gridCol w="1247697">
                  <a:extLst>
                    <a:ext uri="{9D8B030D-6E8A-4147-A177-3AD203B41FA5}">
                      <a16:colId xmlns:a16="http://schemas.microsoft.com/office/drawing/2014/main" val="1816076634"/>
                    </a:ext>
                  </a:extLst>
                </a:gridCol>
                <a:gridCol w="1547144">
                  <a:extLst>
                    <a:ext uri="{9D8B030D-6E8A-4147-A177-3AD203B41FA5}">
                      <a16:colId xmlns:a16="http://schemas.microsoft.com/office/drawing/2014/main" val="3597038275"/>
                    </a:ext>
                  </a:extLst>
                </a:gridCol>
                <a:gridCol w="1197789">
                  <a:extLst>
                    <a:ext uri="{9D8B030D-6E8A-4147-A177-3AD203B41FA5}">
                      <a16:colId xmlns:a16="http://schemas.microsoft.com/office/drawing/2014/main" val="1896070239"/>
                    </a:ext>
                  </a:extLst>
                </a:gridCol>
              </a:tblGrid>
              <a:tr h="1120964">
                <a:tc>
                  <a:txBody>
                    <a:bodyPr/>
                    <a:lstStyle/>
                    <a:p>
                      <a:pPr marL="0" algn="ctr" defTabSz="1007943" rtl="0" eaLnBrk="1" fontAlgn="ctr" latinLnBrk="0" hangingPunct="1"/>
                      <a:r>
                        <a:rPr lang="ru-RU" sz="1200" u="none" strike="noStrike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ТХЮЗ </a:t>
                      </a:r>
                      <a:r>
                        <a:rPr lang="ru-RU" sz="1200" u="none" strike="noStrike" kern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объектининг</a:t>
                      </a:r>
                      <a:r>
                        <a:rPr lang="ru-RU" sz="1200" u="none" strike="noStrike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ер </a:t>
                      </a:r>
                      <a:r>
                        <a:rPr lang="ru-RU" sz="1200" u="none" strike="noStrike" kern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участкаси</a:t>
                      </a:r>
                      <a:r>
                        <a:rPr lang="ru-RU" sz="1200" u="none" strike="noStrike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200" u="none" strike="noStrike" kern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умумий</a:t>
                      </a:r>
                      <a:r>
                        <a:rPr lang="ru-RU" sz="1200" u="none" strike="noStrike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200" u="none" strike="noStrike" kern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майдони</a:t>
                      </a:r>
                      <a:r>
                        <a:rPr lang="ru-RU" sz="1200" u="none" strike="noStrike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ru-RU" sz="1200" u="none" strike="noStrike" kern="1200" dirty="0" smtClean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algn="ctr" defTabSz="1007943" rtl="0" eaLnBrk="1" fontAlgn="ctr" latinLnBrk="0" hangingPunct="1"/>
                      <a:r>
                        <a:rPr lang="ru-RU" sz="1200" u="none" strike="noStrike" kern="12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ru-RU" sz="1200" u="none" strike="noStrike" kern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гектарда</a:t>
                      </a:r>
                      <a:r>
                        <a:rPr lang="ru-RU" sz="1200" u="none" strike="noStrike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ru-RU" sz="1200" u="none" strike="noStrik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8641" marR="8641" marT="8641" marB="0" anchor="ctr"/>
                </a:tc>
                <a:tc>
                  <a:txBody>
                    <a:bodyPr/>
                    <a:lstStyle/>
                    <a:p>
                      <a:pPr marL="0" algn="ctr" defTabSz="1007943" rtl="0" eaLnBrk="1" fontAlgn="ctr" latinLnBrk="0" hangingPunct="1"/>
                      <a:r>
                        <a:rPr lang="ru-RU" sz="1200" u="none" strike="noStrike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ТХЮЗ </a:t>
                      </a:r>
                      <a:r>
                        <a:rPr lang="ru-RU" sz="1200" u="none" strike="noStrike" kern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объектининг</a:t>
                      </a:r>
                      <a:r>
                        <a:rPr lang="ru-RU" sz="1200" u="none" strike="noStrike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200" u="none" strike="noStrike" kern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вазифалари</a:t>
                      </a:r>
                      <a:endParaRPr lang="ru-RU" sz="1200" u="none" strike="noStrik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8641" marR="8641" marT="8641" marB="0" anchor="ctr"/>
                </a:tc>
                <a:tc>
                  <a:txBody>
                    <a:bodyPr/>
                    <a:lstStyle/>
                    <a:p>
                      <a:pPr marL="0" algn="ctr" defTabSz="1007943" rtl="0" eaLnBrk="1" fontAlgn="ctr" latinLnBrk="0" hangingPunct="1"/>
                      <a:r>
                        <a:rPr lang="ru-RU" sz="1200" u="none" strike="noStrike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ТХЮЗ </a:t>
                      </a:r>
                      <a:r>
                        <a:rPr lang="ru-RU" sz="1200" u="none" strike="noStrike" kern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объектида</a:t>
                      </a:r>
                      <a:r>
                        <a:rPr lang="ru-RU" sz="1200" u="none" strike="noStrike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200" u="none" strike="noStrike" kern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ишлаб</a:t>
                      </a:r>
                      <a:r>
                        <a:rPr lang="ru-RU" sz="1200" u="none" strike="noStrike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200" u="none" strike="noStrike" kern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чиқариш</a:t>
                      </a:r>
                      <a:r>
                        <a:rPr lang="ru-RU" sz="1200" u="none" strike="noStrike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ru-RU" sz="1200" u="none" strike="noStrike" kern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қайта</a:t>
                      </a:r>
                      <a:r>
                        <a:rPr lang="ru-RU" sz="1200" u="none" strike="noStrike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200" u="none" strike="noStrike" kern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ишлаш</a:t>
                      </a:r>
                      <a:r>
                        <a:rPr lang="ru-RU" sz="1200" u="none" strike="noStrike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ru-RU" sz="1200" u="none" strike="noStrike" kern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сақлаш</a:t>
                      </a:r>
                      <a:r>
                        <a:rPr lang="ru-RU" sz="1200" u="none" strike="noStrike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200" u="none" strike="noStrike" kern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ва</a:t>
                      </a:r>
                      <a:r>
                        <a:rPr lang="ru-RU" sz="1200" u="none" strike="noStrike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200" u="none" strike="noStrike" kern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улардан</a:t>
                      </a:r>
                      <a:r>
                        <a:rPr lang="ru-RU" sz="1200" u="none" strike="noStrike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200" u="none" strike="noStrike" kern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фойдаланиш</a:t>
                      </a:r>
                      <a:r>
                        <a:rPr lang="ru-RU" sz="1200" u="none" strike="noStrike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/>
                      </a:r>
                      <a:br>
                        <a:rPr lang="ru-RU" sz="1200" u="none" strike="noStrike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ru-RU" sz="1200" u="none" strike="noStrike" kern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моддасининг</a:t>
                      </a:r>
                      <a:r>
                        <a:rPr lang="ru-RU" sz="1200" u="none" strike="noStrike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200" u="none" strike="noStrike" kern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номлари</a:t>
                      </a:r>
                      <a:endParaRPr lang="ru-RU" sz="1200" u="none" strike="noStrik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8641" marR="8641" marT="8641" marB="0" anchor="ctr"/>
                </a:tc>
                <a:tc>
                  <a:txBody>
                    <a:bodyPr/>
                    <a:lstStyle/>
                    <a:p>
                      <a:pPr marL="0" algn="ctr" defTabSz="1007943" rtl="0" eaLnBrk="1" fontAlgn="ctr" latinLnBrk="0" hangingPunct="1"/>
                      <a:r>
                        <a:rPr lang="ru-RU" sz="1200" u="none" strike="noStrike" kern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ТХЮЗ объектининг ҳозирги кундаги ҳолати‎</a:t>
                      </a:r>
                      <a:endParaRPr lang="ru-RU" sz="1200" u="none" strike="noStrike" kern="12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8641" marR="8641" marT="8641" marB="0" anchor="ctr"/>
                </a:tc>
                <a:tc>
                  <a:txBody>
                    <a:bodyPr/>
                    <a:lstStyle/>
                    <a:p>
                      <a:pPr marL="0" algn="ctr" defTabSz="1007943" rtl="0" eaLnBrk="1" fontAlgn="ctr" latinLnBrk="0" hangingPunct="1"/>
                      <a:r>
                        <a:rPr lang="ru-RU" sz="1200" u="none" strike="noStrike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ТХЮЗ </a:t>
                      </a:r>
                      <a:r>
                        <a:rPr lang="ru-RU" sz="1200" u="none" strike="noStrike" kern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объектининг</a:t>
                      </a:r>
                      <a:r>
                        <a:rPr lang="ru-RU" sz="1200" u="none" strike="noStrike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200" u="none" strike="noStrike" kern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эксплуатацияга</a:t>
                      </a:r>
                      <a:r>
                        <a:rPr lang="ru-RU" sz="1200" u="none" strike="noStrike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200" u="none" strike="noStrike" kern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туширилган</a:t>
                      </a:r>
                      <a:r>
                        <a:rPr lang="ru-RU" sz="1200" u="none" strike="noStrike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</a:t>
                      </a:r>
                      <a:r>
                        <a:rPr lang="ru-RU" sz="1200" u="none" strike="noStrike" kern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санаси</a:t>
                      </a:r>
                      <a:endParaRPr lang="ru-RU" sz="1200" u="none" strike="noStrik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8641" marR="8641" marT="8641" marB="0" anchor="ctr"/>
                </a:tc>
                <a:tc>
                  <a:txBody>
                    <a:bodyPr/>
                    <a:lstStyle/>
                    <a:p>
                      <a:pPr marL="0" algn="ctr" defTabSz="1007943" rtl="0" eaLnBrk="1" fontAlgn="ctr" latinLnBrk="0" hangingPunct="1"/>
                      <a:r>
                        <a:rPr lang="ru-RU" sz="1200" u="none" strike="noStrike" kern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Санитария ҳимояси масофаси</a:t>
                      </a:r>
                      <a:endParaRPr lang="ru-RU" sz="1200" u="none" strike="noStrike" kern="12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8641" marR="8641" marT="8641" marB="0" anchor="ctr"/>
                </a:tc>
                <a:tc>
                  <a:txBody>
                    <a:bodyPr/>
                    <a:lstStyle/>
                    <a:p>
                      <a:pPr marL="0" algn="ctr" defTabSz="1007943" rtl="0" eaLnBrk="1" fontAlgn="ctr" latinLnBrk="0" hangingPunct="1"/>
                      <a:r>
                        <a:rPr lang="ru-RU" sz="1200" u="none" strike="noStrike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ТХЮЗ </a:t>
                      </a:r>
                      <a:r>
                        <a:rPr lang="ru-RU" sz="1200" u="none" strike="noStrike" kern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объектида</a:t>
                      </a:r>
                      <a:r>
                        <a:rPr lang="ru-RU" sz="1200" u="none" strike="noStrike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200" u="none" strike="noStrike" kern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ходимларнинг</a:t>
                      </a:r>
                      <a:r>
                        <a:rPr lang="ru-RU" sz="1200" u="none" strike="noStrike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200" u="none" strike="noStrike" kern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умумий</a:t>
                      </a:r>
                      <a:r>
                        <a:rPr lang="ru-RU" sz="1200" u="none" strike="noStrike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сони</a:t>
                      </a:r>
                      <a:endParaRPr lang="ru-RU" sz="1200" u="none" strike="noStrik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8641" marR="8641" marT="8641" marB="0" anchor="ctr"/>
                </a:tc>
                <a:tc>
                  <a:txBody>
                    <a:bodyPr/>
                    <a:lstStyle/>
                    <a:p>
                      <a:pPr marL="0" algn="ctr" defTabSz="1007943" rtl="0" eaLnBrk="1" fontAlgn="ctr" latinLnBrk="0" hangingPunct="1"/>
                      <a:r>
                        <a:rPr lang="ru-RU" sz="1200" u="none" strike="noStrike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ТХЮЗ </a:t>
                      </a:r>
                      <a:r>
                        <a:rPr lang="ru-RU" sz="1200" u="none" strike="noStrike" kern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объектида</a:t>
                      </a:r>
                      <a:r>
                        <a:rPr lang="ru-RU" sz="1200" u="none" strike="noStrike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200" u="none" strike="noStrike" kern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ходимларнинг</a:t>
                      </a:r>
                      <a:r>
                        <a:rPr lang="ru-RU" sz="1200" u="none" strike="noStrike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200" u="none" strike="noStrike" kern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ишлаш</a:t>
                      </a:r>
                      <a:r>
                        <a:rPr lang="ru-RU" sz="1200" u="none" strike="noStrike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200" u="none" strike="noStrike" kern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вақти</a:t>
                      </a:r>
                      <a:r>
                        <a:rPr lang="ru-RU" sz="1200" u="none" strike="noStrike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ru-RU" sz="1200" u="none" strike="noStrike" kern="1200" dirty="0" smtClean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algn="ctr" defTabSz="1007943" rtl="0" eaLnBrk="1" fontAlgn="ctr" latinLnBrk="0" hangingPunct="1"/>
                      <a:r>
                        <a:rPr lang="ru-RU" sz="1200" u="none" strike="noStrike" kern="12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ru-RU" sz="1200" u="none" strike="noStrike" kern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бир</a:t>
                      </a:r>
                      <a:r>
                        <a:rPr lang="ru-RU" sz="1200" u="none" strike="noStrike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200" u="none" strike="noStrike" kern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сутка</a:t>
                      </a:r>
                      <a:r>
                        <a:rPr lang="ru-RU" sz="1200" u="none" strike="noStrike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200" u="none" strike="noStrike" kern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давомида</a:t>
                      </a:r>
                      <a:r>
                        <a:rPr lang="ru-RU" sz="1200" u="none" strike="noStrike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ru-RU" sz="1200" u="none" strike="noStrik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8641" marR="8641" marT="8641" marB="0" anchor="ctr"/>
                </a:tc>
                <a:extLst>
                  <a:ext uri="{0D108BD9-81ED-4DB2-BD59-A6C34878D82A}">
                    <a16:rowId xmlns:a16="http://schemas.microsoft.com/office/drawing/2014/main" val="2304601258"/>
                  </a:ext>
                </a:extLst>
              </a:tr>
              <a:tr h="188367">
                <a:tc>
                  <a:txBody>
                    <a:bodyPr/>
                    <a:lstStyle/>
                    <a:p>
                      <a:pPr marL="0" algn="ctr" defTabSz="1007943" rtl="0" eaLnBrk="1" fontAlgn="ctr" latinLnBrk="0" hangingPunct="1"/>
                      <a:r>
                        <a:rPr lang="ru-RU" sz="1200" u="none" strike="noStrike" kern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ru-RU" sz="1200" u="none" strike="noStrike" kern="12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8641" marR="8641" marT="8641" marB="0" anchor="ctr"/>
                </a:tc>
                <a:tc>
                  <a:txBody>
                    <a:bodyPr/>
                    <a:lstStyle/>
                    <a:p>
                      <a:pPr marL="0" algn="ctr" defTabSz="1007943" rtl="0" eaLnBrk="1" fontAlgn="ctr" latinLnBrk="0" hangingPunct="1"/>
                      <a:r>
                        <a:rPr lang="ru-RU" sz="1200" u="none" strike="noStrike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ru-RU" sz="1200" u="none" strike="noStrik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8641" marR="8641" marT="8641" marB="0" anchor="ctr"/>
                </a:tc>
                <a:tc>
                  <a:txBody>
                    <a:bodyPr/>
                    <a:lstStyle/>
                    <a:p>
                      <a:pPr marL="0" algn="ctr" defTabSz="1007943" rtl="0" eaLnBrk="1" fontAlgn="ctr" latinLnBrk="0" hangingPunct="1"/>
                      <a:r>
                        <a:rPr lang="ru-RU" sz="1200" u="none" strike="noStrike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ru-RU" sz="1200" u="none" strike="noStrik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8641" marR="8641" marT="8641" marB="0" anchor="ctr"/>
                </a:tc>
                <a:tc>
                  <a:txBody>
                    <a:bodyPr/>
                    <a:lstStyle/>
                    <a:p>
                      <a:pPr marL="0" algn="ctr" defTabSz="1007943" rtl="0" eaLnBrk="1" fontAlgn="ctr" latinLnBrk="0" hangingPunct="1"/>
                      <a:r>
                        <a:rPr lang="ru-RU" sz="1200" u="none" strike="noStrike" kern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ru-RU" sz="1200" u="none" strike="noStrike" kern="12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8641" marR="8641" marT="8641" marB="0" anchor="ctr"/>
                </a:tc>
                <a:tc>
                  <a:txBody>
                    <a:bodyPr/>
                    <a:lstStyle/>
                    <a:p>
                      <a:pPr marL="0" algn="ctr" defTabSz="1007943" rtl="0" eaLnBrk="1" fontAlgn="ctr" latinLnBrk="0" hangingPunct="1"/>
                      <a:r>
                        <a:rPr lang="ru-RU" sz="1200" u="none" strike="noStrike" kern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</a:t>
                      </a:r>
                      <a:endParaRPr lang="ru-RU" sz="1200" u="none" strike="noStrike" kern="12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8641" marR="8641" marT="8641" marB="0" anchor="ctr"/>
                </a:tc>
                <a:tc>
                  <a:txBody>
                    <a:bodyPr/>
                    <a:lstStyle/>
                    <a:p>
                      <a:pPr marL="0" algn="ctr" defTabSz="1007943" rtl="0" eaLnBrk="1" fontAlgn="ctr" latinLnBrk="0" hangingPunct="1"/>
                      <a:r>
                        <a:rPr lang="ru-RU" sz="1200" u="none" strike="noStrike" kern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</a:t>
                      </a:r>
                      <a:endParaRPr lang="ru-RU" sz="1200" u="none" strike="noStrike" kern="12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8641" marR="8641" marT="8641" marB="0" anchor="ctr"/>
                </a:tc>
                <a:tc>
                  <a:txBody>
                    <a:bodyPr/>
                    <a:lstStyle/>
                    <a:p>
                      <a:pPr marL="0" algn="ctr" defTabSz="1007943" rtl="0" eaLnBrk="1" fontAlgn="ctr" latinLnBrk="0" hangingPunct="1"/>
                      <a:r>
                        <a:rPr lang="ru-RU" sz="1200" u="none" strike="noStrike" kern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</a:t>
                      </a:r>
                      <a:endParaRPr lang="ru-RU" sz="1200" u="none" strike="noStrike" kern="12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8641" marR="8641" marT="8641" marB="0" anchor="ctr"/>
                </a:tc>
                <a:tc>
                  <a:txBody>
                    <a:bodyPr/>
                    <a:lstStyle/>
                    <a:p>
                      <a:pPr marL="0" algn="ctr" defTabSz="1007943" rtl="0" eaLnBrk="1" fontAlgn="ctr" latinLnBrk="0" hangingPunct="1"/>
                      <a:r>
                        <a:rPr lang="ru-RU" sz="1200" u="none" strike="noStrike" kern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</a:t>
                      </a:r>
                      <a:endParaRPr lang="ru-RU" sz="1200" u="none" strike="noStrike" kern="12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8641" marR="8641" marT="8641" marB="0" anchor="ctr"/>
                </a:tc>
                <a:extLst>
                  <a:ext uri="{0D108BD9-81ED-4DB2-BD59-A6C34878D82A}">
                    <a16:rowId xmlns:a16="http://schemas.microsoft.com/office/drawing/2014/main" val="75403400"/>
                  </a:ext>
                </a:extLst>
              </a:tr>
              <a:tr h="657564">
                <a:tc>
                  <a:txBody>
                    <a:bodyPr/>
                    <a:lstStyle/>
                    <a:p>
                      <a:pPr marL="0" algn="ctr" defTabSz="1007943" rtl="0" eaLnBrk="1" fontAlgn="ctr" latinLnBrk="0" hangingPunct="1"/>
                      <a:r>
                        <a:rPr lang="ru-RU" sz="1200" u="none" strike="noStrike" kern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 га</a:t>
                      </a:r>
                      <a:endParaRPr lang="ru-RU" sz="1200" u="none" strike="noStrike" kern="12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8641" marR="8641" marT="8641" marB="0" anchor="ctr"/>
                </a:tc>
                <a:tc>
                  <a:txBody>
                    <a:bodyPr/>
                    <a:lstStyle/>
                    <a:p>
                      <a:pPr marL="0" algn="ctr" defTabSz="1007943" rtl="0" eaLnBrk="1" fontAlgn="ctr" latinLnBrk="0" hangingPunct="1"/>
                      <a:r>
                        <a:rPr lang="ru-RU" sz="1200" u="none" strike="noStrike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..... </a:t>
                      </a:r>
                      <a:r>
                        <a:rPr lang="ru-RU" sz="1200" u="none" strike="noStrike" kern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ишлаб</a:t>
                      </a:r>
                      <a:r>
                        <a:rPr lang="ru-RU" sz="1200" u="none" strike="noStrike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200" u="none" strike="noStrike" kern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чиқариш</a:t>
                      </a:r>
                      <a:r>
                        <a:rPr lang="ru-RU" sz="1200" u="none" strike="noStrike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ru-RU" sz="1200" u="none" strike="noStrike" kern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қайта</a:t>
                      </a:r>
                      <a:r>
                        <a:rPr lang="ru-RU" sz="1200" u="none" strike="noStrike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200" u="none" strike="noStrike" kern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ишлаш</a:t>
                      </a:r>
                      <a:r>
                        <a:rPr lang="ru-RU" sz="1200" u="none" strike="noStrike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ru-RU" sz="1200" u="none" strike="noStrike" kern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сақлаш</a:t>
                      </a:r>
                      <a:r>
                        <a:rPr lang="ru-RU" sz="1200" u="none" strike="noStrike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200" u="none" strike="noStrike" kern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ва</a:t>
                      </a:r>
                      <a:r>
                        <a:rPr lang="ru-RU" sz="1200" u="none" strike="noStrike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200" u="none" strike="noStrike" kern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фойдаланиш</a:t>
                      </a:r>
                      <a:endParaRPr lang="ru-RU" sz="1200" u="none" strike="noStrik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8641" marR="8641" marT="8641" marB="0" anchor="ctr"/>
                </a:tc>
                <a:tc>
                  <a:txBody>
                    <a:bodyPr/>
                    <a:lstStyle/>
                    <a:p>
                      <a:pPr marL="0" algn="ctr" defTabSz="1007943" rtl="0" eaLnBrk="1" fontAlgn="ctr" latinLnBrk="0" hangingPunct="1"/>
                      <a:r>
                        <a:rPr lang="ru-RU" sz="1200" u="none" strike="noStrike" kern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Аммияк</a:t>
                      </a:r>
                      <a:r>
                        <a:rPr lang="ru-RU" sz="1200" u="none" strike="noStrike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селитра, карбамид.</a:t>
                      </a:r>
                      <a:endParaRPr lang="ru-RU" sz="1200" u="none" strike="noStrik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8641" marR="8641" marT="8641" marB="0" anchor="ctr"/>
                </a:tc>
                <a:tc>
                  <a:txBody>
                    <a:bodyPr/>
                    <a:lstStyle/>
                    <a:p>
                      <a:pPr marL="0" algn="ctr" defTabSz="1007943" rtl="0" eaLnBrk="1" fontAlgn="ctr" latinLnBrk="0" hangingPunct="1"/>
                      <a:r>
                        <a:rPr lang="ru-RU" sz="1200" u="none" strike="noStrike" kern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Иш</a:t>
                      </a:r>
                      <a:r>
                        <a:rPr lang="ru-RU" sz="1200" u="none" strike="noStrike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200" u="none" strike="noStrike" kern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ҳолатда</a:t>
                      </a:r>
                      <a:endParaRPr lang="ru-RU" sz="1200" u="none" strike="noStrik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8641" marR="8641" marT="8641" marB="0" anchor="ctr"/>
                </a:tc>
                <a:tc>
                  <a:txBody>
                    <a:bodyPr/>
                    <a:lstStyle/>
                    <a:p>
                      <a:pPr marL="0" algn="ctr" defTabSz="1007943" rtl="0" eaLnBrk="1" fontAlgn="ctr" latinLnBrk="0" hangingPunct="1"/>
                      <a:r>
                        <a:rPr lang="ru-RU" sz="1200" u="none" strike="noStrike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2018 </a:t>
                      </a:r>
                      <a:r>
                        <a:rPr lang="ru-RU" sz="1200" u="none" strike="noStrike" kern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йил</a:t>
                      </a:r>
                      <a:r>
                        <a:rPr lang="ru-RU" sz="1200" u="none" strike="noStrike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март</a:t>
                      </a:r>
                      <a:endParaRPr lang="ru-RU" sz="1200" u="none" strike="noStrik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8641" marR="8641" marT="8641" marB="0" anchor="ctr"/>
                </a:tc>
                <a:tc>
                  <a:txBody>
                    <a:bodyPr/>
                    <a:lstStyle/>
                    <a:p>
                      <a:pPr marL="0" algn="ctr" defTabSz="1007943" rtl="0" eaLnBrk="1" fontAlgn="ctr" latinLnBrk="0" hangingPunct="1"/>
                      <a:r>
                        <a:rPr lang="ru-RU" sz="1200" u="none" strike="noStrike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1000 </a:t>
                      </a:r>
                      <a:r>
                        <a:rPr lang="ru-RU" sz="1200" u="none" strike="noStrike" kern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мерт</a:t>
                      </a:r>
                      <a:endParaRPr lang="ru-RU" sz="1200" u="none" strike="noStrik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8641" marR="8641" marT="8641" marB="0" anchor="ctr"/>
                </a:tc>
                <a:tc>
                  <a:txBody>
                    <a:bodyPr/>
                    <a:lstStyle/>
                    <a:p>
                      <a:pPr marL="0" algn="ctr" defTabSz="1007943" rtl="0" eaLnBrk="1" fontAlgn="ctr" latinLnBrk="0" hangingPunct="1"/>
                      <a:r>
                        <a:rPr lang="ru-RU" sz="1200" u="none" strike="noStrike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6000 та</a:t>
                      </a:r>
                      <a:endParaRPr lang="ru-RU" sz="1200" u="none" strike="noStrik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8641" marR="8641" marT="8641" marB="0" anchor="ctr"/>
                </a:tc>
                <a:tc>
                  <a:txBody>
                    <a:bodyPr/>
                    <a:lstStyle/>
                    <a:p>
                      <a:pPr marL="0" algn="ctr" defTabSz="1007943" rtl="0" eaLnBrk="1" fontAlgn="ctr" latinLnBrk="0" hangingPunct="1"/>
                      <a:r>
                        <a:rPr lang="ru-RU" sz="1200" u="none" strike="noStrike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 </a:t>
                      </a:r>
                      <a:r>
                        <a:rPr lang="ru-RU" sz="1200" u="none" strike="noStrike" kern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соат</a:t>
                      </a:r>
                      <a:endParaRPr lang="ru-RU" sz="1200" u="none" strike="noStrik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8641" marR="8641" marT="8641" marB="0" anchor="ctr"/>
                </a:tc>
                <a:extLst>
                  <a:ext uri="{0D108BD9-81ED-4DB2-BD59-A6C34878D82A}">
                    <a16:rowId xmlns:a16="http://schemas.microsoft.com/office/drawing/2014/main" val="1847213071"/>
                  </a:ext>
                </a:extLst>
              </a:tr>
            </a:tbl>
          </a:graphicData>
        </a:graphic>
      </p:graphicFrame>
      <p:graphicFrame>
        <p:nvGraphicFramePr>
          <p:cNvPr id="4" name="Таблица 3"/>
          <p:cNvGraphicFramePr>
            <a:graphicFrameLocks noGrp="1"/>
          </p:cNvGraphicFramePr>
          <p:nvPr>
            <p:extLst/>
          </p:nvPr>
        </p:nvGraphicFramePr>
        <p:xfrm>
          <a:off x="483091" y="4833496"/>
          <a:ext cx="11171044" cy="1772937"/>
        </p:xfrm>
        <a:graphic>
          <a:graphicData uri="http://schemas.openxmlformats.org/drawingml/2006/table">
            <a:tbl>
              <a:tblPr/>
              <a:tblGrid>
                <a:gridCol w="1304647">
                  <a:extLst>
                    <a:ext uri="{9D8B030D-6E8A-4147-A177-3AD203B41FA5}">
                      <a16:colId xmlns:a16="http://schemas.microsoft.com/office/drawing/2014/main" val="1849297016"/>
                    </a:ext>
                  </a:extLst>
                </a:gridCol>
                <a:gridCol w="1304647">
                  <a:extLst>
                    <a:ext uri="{9D8B030D-6E8A-4147-A177-3AD203B41FA5}">
                      <a16:colId xmlns:a16="http://schemas.microsoft.com/office/drawing/2014/main" val="742873456"/>
                    </a:ext>
                  </a:extLst>
                </a:gridCol>
                <a:gridCol w="1304647">
                  <a:extLst>
                    <a:ext uri="{9D8B030D-6E8A-4147-A177-3AD203B41FA5}">
                      <a16:colId xmlns:a16="http://schemas.microsoft.com/office/drawing/2014/main" val="3304922053"/>
                    </a:ext>
                  </a:extLst>
                </a:gridCol>
                <a:gridCol w="1304647">
                  <a:extLst>
                    <a:ext uri="{9D8B030D-6E8A-4147-A177-3AD203B41FA5}">
                      <a16:colId xmlns:a16="http://schemas.microsoft.com/office/drawing/2014/main" val="1172409677"/>
                    </a:ext>
                  </a:extLst>
                </a:gridCol>
                <a:gridCol w="1304647">
                  <a:extLst>
                    <a:ext uri="{9D8B030D-6E8A-4147-A177-3AD203B41FA5}">
                      <a16:colId xmlns:a16="http://schemas.microsoft.com/office/drawing/2014/main" val="1677657494"/>
                    </a:ext>
                  </a:extLst>
                </a:gridCol>
                <a:gridCol w="1508500">
                  <a:extLst>
                    <a:ext uri="{9D8B030D-6E8A-4147-A177-3AD203B41FA5}">
                      <a16:colId xmlns:a16="http://schemas.microsoft.com/office/drawing/2014/main" val="2302043264"/>
                    </a:ext>
                  </a:extLst>
                </a:gridCol>
                <a:gridCol w="1576449">
                  <a:extLst>
                    <a:ext uri="{9D8B030D-6E8A-4147-A177-3AD203B41FA5}">
                      <a16:colId xmlns:a16="http://schemas.microsoft.com/office/drawing/2014/main" val="1470180436"/>
                    </a:ext>
                  </a:extLst>
                </a:gridCol>
                <a:gridCol w="1562860">
                  <a:extLst>
                    <a:ext uri="{9D8B030D-6E8A-4147-A177-3AD203B41FA5}">
                      <a16:colId xmlns:a16="http://schemas.microsoft.com/office/drawing/2014/main" val="390852517"/>
                    </a:ext>
                  </a:extLst>
                </a:gridCol>
              </a:tblGrid>
              <a:tr h="1137388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ТХЮЗ </a:t>
                      </a:r>
                      <a:r>
                        <a:rPr lang="ru-RU" sz="12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объектидан</a:t>
                      </a:r>
                      <a:r>
                        <a:rPr lang="ru-RU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2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аҳоли</a:t>
                      </a:r>
                      <a:r>
                        <a:rPr lang="ru-RU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2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яшаш</a:t>
                      </a:r>
                      <a:r>
                        <a:rPr lang="ru-RU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2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пунктигача</a:t>
                      </a:r>
                      <a:r>
                        <a:rPr lang="ru-RU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2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бўлган</a:t>
                      </a:r>
                      <a:r>
                        <a:rPr lang="ru-RU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2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масофа</a:t>
                      </a:r>
                      <a:r>
                        <a:rPr lang="ru-RU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ru-RU" sz="1200" u="none" strike="noStrike" dirty="0" smtClean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 fontAlgn="ctr"/>
                      <a:r>
                        <a:rPr lang="ru-RU" sz="1200" u="none" strike="noStrike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ru-RU" sz="12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кмда</a:t>
                      </a:r>
                      <a:r>
                        <a:rPr lang="ru-RU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ru-RU" sz="12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641" marR="8641" marT="864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ТХЮЗ </a:t>
                      </a:r>
                      <a:r>
                        <a:rPr lang="ru-RU" sz="12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объектига</a:t>
                      </a:r>
                      <a:r>
                        <a:rPr lang="ru-RU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2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энг</a:t>
                      </a:r>
                      <a:r>
                        <a:rPr lang="ru-RU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2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яқин</a:t>
                      </a:r>
                      <a:r>
                        <a:rPr lang="ru-RU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2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бўлган</a:t>
                      </a:r>
                      <a:r>
                        <a:rPr lang="ru-RU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2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объектлар</a:t>
                      </a:r>
                      <a:r>
                        <a:rPr lang="ru-RU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‎‎</a:t>
                      </a:r>
                      <a:endParaRPr lang="ru-RU" sz="12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641" marR="8641" marT="864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ТХЮЗ </a:t>
                      </a:r>
                      <a:r>
                        <a:rPr lang="ru-RU" sz="12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объектидан</a:t>
                      </a:r>
                      <a:r>
                        <a:rPr lang="ru-RU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туман </a:t>
                      </a:r>
                      <a:r>
                        <a:rPr lang="ru-RU" sz="12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ёнғин</a:t>
                      </a:r>
                      <a:r>
                        <a:rPr lang="ru-RU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2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хавфсизлиги</a:t>
                      </a:r>
                      <a:r>
                        <a:rPr lang="ru-RU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2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бўлимигача</a:t>
                      </a:r>
                      <a:r>
                        <a:rPr lang="ru-RU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2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бўлган</a:t>
                      </a:r>
                      <a:r>
                        <a:rPr lang="ru-RU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2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масофа</a:t>
                      </a:r>
                      <a:r>
                        <a:rPr lang="ru-RU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ru-RU" sz="1200" u="none" strike="noStrike" dirty="0" smtClean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 fontAlgn="ctr"/>
                      <a:r>
                        <a:rPr lang="ru-RU" sz="1200" u="none" strike="noStrike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ru-RU" sz="12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кмда</a:t>
                      </a:r>
                      <a:r>
                        <a:rPr lang="ru-RU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ru-RU" sz="12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641" marR="8641" marT="864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ТХЮЗ </a:t>
                      </a:r>
                      <a:r>
                        <a:rPr lang="ru-RU" sz="12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объектида</a:t>
                      </a:r>
                      <a:r>
                        <a:rPr lang="ru-RU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2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ёнғин</a:t>
                      </a:r>
                      <a:r>
                        <a:rPr lang="ru-RU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2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ўчириш</a:t>
                      </a:r>
                      <a:r>
                        <a:rPr lang="ru-RU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2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техникасининг</a:t>
                      </a:r>
                      <a:r>
                        <a:rPr lang="ru-RU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тури </a:t>
                      </a:r>
                      <a:r>
                        <a:rPr lang="ru-RU" sz="12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ва</a:t>
                      </a:r>
                      <a:r>
                        <a:rPr lang="ru-RU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2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сонлари</a:t>
                      </a:r>
                      <a:endParaRPr lang="ru-RU" sz="12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641" marR="8641" marT="864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Техноген</a:t>
                      </a:r>
                      <a:r>
                        <a:rPr lang="ru-RU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2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хавф</a:t>
                      </a:r>
                      <a:r>
                        <a:rPr lang="ru-RU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2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содир</a:t>
                      </a:r>
                      <a:r>
                        <a:rPr lang="ru-RU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2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бўлганда</a:t>
                      </a:r>
                      <a:r>
                        <a:rPr lang="ru-RU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2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зарарланиш</a:t>
                      </a:r>
                      <a:r>
                        <a:rPr lang="ru-RU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2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майдони</a:t>
                      </a:r>
                      <a:r>
                        <a:rPr lang="ru-RU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ru-RU" sz="1200" u="none" strike="noStrike" dirty="0" smtClean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 fontAlgn="ctr"/>
                      <a:r>
                        <a:rPr lang="ru-RU" sz="1200" u="none" strike="noStrike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ru-RU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метр </a:t>
                      </a:r>
                      <a:r>
                        <a:rPr lang="ru-RU" sz="12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квда</a:t>
                      </a:r>
                      <a:r>
                        <a:rPr lang="ru-RU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ru-RU" sz="12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641" marR="8641" marT="864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Техноген</a:t>
                      </a:r>
                      <a:r>
                        <a:rPr lang="ru-RU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2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хавф</a:t>
                      </a:r>
                      <a:r>
                        <a:rPr lang="ru-RU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2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ривожланишида</a:t>
                      </a:r>
                      <a:r>
                        <a:rPr lang="ru-RU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2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устунлик</a:t>
                      </a:r>
                      <a:r>
                        <a:rPr lang="ru-RU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2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қилувчи</a:t>
                      </a:r>
                      <a:r>
                        <a:rPr lang="ru-RU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тури</a:t>
                      </a:r>
                      <a:endParaRPr lang="ru-RU" sz="12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641" marR="8641" marT="864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ТХЮЗ объектининг умумий баҳоси‎‎</a:t>
                      </a:r>
                      <a:endParaRPr lang="ru-RU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641" marR="8641" marT="864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Инсон саломатлиги учун салбий таъсир кўрсатувчи омиллар</a:t>
                      </a:r>
                      <a:endParaRPr lang="ru-RU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641" marR="8641" marT="8641" marB="0" anchor="ctr"/>
                </a:tc>
                <a:extLst>
                  <a:ext uri="{0D108BD9-81ED-4DB2-BD59-A6C34878D82A}">
                    <a16:rowId xmlns:a16="http://schemas.microsoft.com/office/drawing/2014/main" val="2799482460"/>
                  </a:ext>
                </a:extLst>
              </a:tr>
              <a:tr h="188367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</a:t>
                      </a:r>
                      <a:endParaRPr lang="ru-RU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641" marR="8641" marT="864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</a:t>
                      </a:r>
                      <a:endParaRPr lang="ru-RU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641" marR="8641" marT="864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</a:t>
                      </a:r>
                      <a:endParaRPr lang="ru-RU" sz="12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641" marR="8641" marT="864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</a:t>
                      </a:r>
                      <a:endParaRPr lang="ru-RU" sz="12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641" marR="8641" marT="864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21</a:t>
                      </a:r>
                      <a:endParaRPr lang="ru-RU" sz="12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641" marR="8641" marT="864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22</a:t>
                      </a:r>
                      <a:endParaRPr lang="ru-RU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641" marR="8641" marT="864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23</a:t>
                      </a:r>
                      <a:endParaRPr lang="ru-RU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641" marR="8641" marT="864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</a:t>
                      </a:r>
                      <a:endParaRPr lang="ru-RU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641" marR="8641" marT="8641" marB="0" anchor="ctr"/>
                </a:tc>
                <a:extLst>
                  <a:ext uri="{0D108BD9-81ED-4DB2-BD59-A6C34878D82A}">
                    <a16:rowId xmlns:a16="http://schemas.microsoft.com/office/drawing/2014/main" val="4213884426"/>
                  </a:ext>
                </a:extLst>
              </a:tr>
              <a:tr h="444028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 км</a:t>
                      </a:r>
                      <a:endParaRPr lang="ru-RU" sz="1200" b="1" i="0" u="none" strike="noStrike">
                        <a:solidFill>
                          <a:srgbClr val="0D0D0D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641" marR="8641" marT="864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 метр</a:t>
                      </a:r>
                      <a:endParaRPr lang="ru-RU" sz="1200" b="1" i="0" u="none" strike="noStrike">
                        <a:solidFill>
                          <a:srgbClr val="0D0D0D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641" marR="8641" marT="864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 км</a:t>
                      </a:r>
                      <a:endParaRPr lang="ru-RU" sz="1200" b="1" i="0" u="none" strike="noStrike">
                        <a:solidFill>
                          <a:srgbClr val="0D0D0D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641" marR="8641" marT="864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 дона </a:t>
                      </a:r>
                      <a:r>
                        <a:rPr lang="ru-RU" sz="12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ёнғин</a:t>
                      </a:r>
                      <a:r>
                        <a:rPr lang="ru-RU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2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ўчириш</a:t>
                      </a:r>
                      <a:r>
                        <a:rPr lang="ru-RU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2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машинаси</a:t>
                      </a:r>
                      <a:endParaRPr lang="ru-RU" sz="1200" b="1" i="0" u="none" strike="noStrike" dirty="0">
                        <a:solidFill>
                          <a:srgbClr val="0D0D0D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641" marR="8641" marT="864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1000 </a:t>
                      </a:r>
                      <a:r>
                        <a:rPr lang="ru-RU" sz="12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м.кв</a:t>
                      </a:r>
                      <a:endParaRPr lang="ru-RU" sz="1200" b="1" i="0" u="none" strike="noStrike" dirty="0">
                        <a:solidFill>
                          <a:srgbClr val="0D0D0D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641" marR="8641" marT="864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Портлаш</a:t>
                      </a:r>
                      <a:r>
                        <a:rPr lang="ru-RU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2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ва</a:t>
                      </a:r>
                      <a:r>
                        <a:rPr lang="ru-RU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2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ёнғин</a:t>
                      </a:r>
                      <a:endParaRPr lang="ru-RU" sz="1200" b="1" i="0" u="none" strike="noStrike" dirty="0">
                        <a:solidFill>
                          <a:srgbClr val="0D0D0D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641" marR="8641" marT="864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 млн</a:t>
                      </a:r>
                      <a:endParaRPr lang="ru-RU" sz="1200" b="1" i="0" u="none" strike="noStrike" dirty="0">
                        <a:solidFill>
                          <a:srgbClr val="0D0D0D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641" marR="8641" marT="864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Қон</a:t>
                      </a:r>
                      <a:r>
                        <a:rPr lang="ru-RU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2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айланишига</a:t>
                      </a:r>
                      <a:r>
                        <a:rPr lang="ru-RU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2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ва</a:t>
                      </a:r>
                      <a:r>
                        <a:rPr lang="ru-RU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2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ўпкага</a:t>
                      </a:r>
                      <a:endParaRPr lang="ru-RU" sz="1200" b="1" i="0" u="none" strike="noStrike" dirty="0">
                        <a:solidFill>
                          <a:srgbClr val="0D0D0D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641" marR="8641" marT="8641" marB="0" anchor="ctr"/>
                </a:tc>
                <a:extLst>
                  <a:ext uri="{0D108BD9-81ED-4DB2-BD59-A6C34878D82A}">
                    <a16:rowId xmlns:a16="http://schemas.microsoft.com/office/drawing/2014/main" val="20826195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125775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699896" y="257547"/>
            <a:ext cx="10861335" cy="63520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90237" algn="just">
              <a:spcAft>
                <a:spcPts val="1089"/>
              </a:spcAft>
            </a:pPr>
            <a:r>
              <a:rPr lang="ru-RU" sz="2177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ТХЮЗ </a:t>
            </a:r>
            <a:r>
              <a:rPr lang="ru-RU" sz="2177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объектлари</a:t>
            </a:r>
            <a:r>
              <a:rPr lang="ru-RU" sz="2177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177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тўғрисидаги</a:t>
            </a:r>
            <a:r>
              <a:rPr lang="ru-RU" sz="2177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177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артибутив</a:t>
            </a:r>
            <a:r>
              <a:rPr lang="ru-RU" sz="2177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177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жадвал</a:t>
            </a:r>
            <a:r>
              <a:rPr lang="ru-RU" sz="2177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177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маълумотлари</a:t>
            </a:r>
            <a:r>
              <a:rPr lang="ru-RU" sz="2177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177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тўлиқ</a:t>
            </a:r>
            <a:r>
              <a:rPr lang="ru-RU" sz="2177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177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тўлдирилгандан</a:t>
            </a:r>
            <a:r>
              <a:rPr lang="ru-RU" sz="2177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177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сўнг</a:t>
            </a:r>
            <a:r>
              <a:rPr lang="ru-RU" sz="2177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Республика </a:t>
            </a:r>
            <a:r>
              <a:rPr lang="ru-RU" sz="2177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бўйича</a:t>
            </a:r>
            <a:r>
              <a:rPr lang="ru-RU" sz="2177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177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умумлаштирилади</a:t>
            </a:r>
            <a:r>
              <a:rPr lang="ru-RU" sz="2177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ru-RU" sz="2177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умумлаштирилган</a:t>
            </a:r>
            <a:r>
              <a:rPr lang="ru-RU" sz="2177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177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маълумотлар</a:t>
            </a:r>
            <a:r>
              <a:rPr lang="ru-RU" sz="2177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177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мутахассислар</a:t>
            </a:r>
            <a:r>
              <a:rPr lang="ru-RU" sz="2177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177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томонидан</a:t>
            </a:r>
            <a:r>
              <a:rPr lang="ru-RU" sz="2177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177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таҳлил</a:t>
            </a:r>
            <a:r>
              <a:rPr lang="ru-RU" sz="2177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177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қилиб</a:t>
            </a:r>
            <a:r>
              <a:rPr lang="ru-RU" sz="2177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177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чиқилади</a:t>
            </a:r>
            <a:r>
              <a:rPr lang="ru-RU" sz="2177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ru-RU" sz="2177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хато</a:t>
            </a:r>
            <a:r>
              <a:rPr lang="ru-RU" sz="2177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177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ва</a:t>
            </a:r>
            <a:r>
              <a:rPr lang="ru-RU" sz="2177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177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камчиликлардан</a:t>
            </a:r>
            <a:r>
              <a:rPr lang="ru-RU" sz="2177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177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холис</a:t>
            </a:r>
            <a:r>
              <a:rPr lang="ru-RU" sz="2177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177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объектлар</a:t>
            </a:r>
            <a:r>
              <a:rPr lang="ru-RU" sz="2177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177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ArcGIS </a:t>
            </a:r>
            <a:r>
              <a:rPr lang="ru-RU" sz="2177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дастурий</a:t>
            </a:r>
            <a:r>
              <a:rPr lang="ru-RU" sz="2177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177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таъминоти</a:t>
            </a:r>
            <a:r>
              <a:rPr lang="ru-RU" sz="2177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177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ёрдамида</a:t>
            </a:r>
            <a:r>
              <a:rPr lang="ru-RU" sz="2177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177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географик</a:t>
            </a:r>
            <a:r>
              <a:rPr lang="ru-RU" sz="2177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177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ахборот</a:t>
            </a:r>
            <a:r>
              <a:rPr lang="ru-RU" sz="2177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177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базаси</a:t>
            </a:r>
            <a:r>
              <a:rPr lang="ru-RU" sz="2177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177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шакллантирилади</a:t>
            </a:r>
            <a:r>
              <a:rPr lang="ru-RU" sz="2177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177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ва</a:t>
            </a:r>
            <a:r>
              <a:rPr lang="ru-RU" sz="2177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177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ўрнатилган</a:t>
            </a:r>
            <a:r>
              <a:rPr lang="ru-RU" sz="2177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177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тартибда</a:t>
            </a:r>
            <a:r>
              <a:rPr lang="ru-RU" sz="2177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177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Давергеодезкадастр</a:t>
            </a:r>
            <a:r>
              <a:rPr lang="ru-RU" sz="2177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177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қўмитасига</a:t>
            </a:r>
            <a:r>
              <a:rPr lang="ru-RU" sz="2177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177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тақдим</a:t>
            </a:r>
            <a:r>
              <a:rPr lang="ru-RU" sz="2177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177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тақдим</a:t>
            </a:r>
            <a:r>
              <a:rPr lang="ru-RU" sz="2177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177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этилади</a:t>
            </a:r>
            <a:r>
              <a:rPr lang="ru-RU" sz="2177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  <a:p>
            <a:pPr indent="490237" algn="just">
              <a:spcAft>
                <a:spcPts val="1089"/>
              </a:spcAft>
            </a:pPr>
            <a:r>
              <a:rPr lang="ru-RU" sz="2177" dirty="0">
                <a:latin typeface="Times New Roman" panose="02020603050405020304" pitchFamily="18" charset="0"/>
                <a:ea typeface="Times New Roman" panose="02020603050405020304" pitchFamily="18" charset="0"/>
              </a:rPr>
              <a:t>Ушбу </a:t>
            </a:r>
            <a:r>
              <a:rPr lang="ru-RU" sz="2177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хатлов</a:t>
            </a:r>
            <a:r>
              <a:rPr lang="ru-RU" sz="2177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177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ишлари</a:t>
            </a:r>
            <a:r>
              <a:rPr lang="ru-RU" sz="2177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177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ҳар</a:t>
            </a:r>
            <a:r>
              <a:rPr lang="ru-RU" sz="2177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177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йили</a:t>
            </a:r>
            <a:r>
              <a:rPr lang="ru-RU" sz="2177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177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бир</a:t>
            </a:r>
            <a:r>
              <a:rPr lang="ru-RU" sz="2177" dirty="0">
                <a:latin typeface="Times New Roman" panose="02020603050405020304" pitchFamily="18" charset="0"/>
                <a:ea typeface="Times New Roman" panose="02020603050405020304" pitchFamily="18" charset="0"/>
              </a:rPr>
              <a:t> марта </a:t>
            </a:r>
            <a:r>
              <a:rPr lang="ru-RU" sz="2177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ўтказилади</a:t>
            </a:r>
            <a:r>
              <a:rPr lang="ru-RU" sz="2177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177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ва</a:t>
            </a:r>
            <a:r>
              <a:rPr lang="ru-RU" sz="2177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177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хатлов</a:t>
            </a:r>
            <a:r>
              <a:rPr lang="ru-RU" sz="2177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177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маълумотларига</a:t>
            </a:r>
            <a:r>
              <a:rPr lang="ru-RU" sz="2177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177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асосан</a:t>
            </a:r>
            <a:r>
              <a:rPr lang="ru-RU" sz="2177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177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географик</a:t>
            </a:r>
            <a:r>
              <a:rPr lang="ru-RU" sz="2177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177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ахборот</a:t>
            </a:r>
            <a:r>
              <a:rPr lang="ru-RU" sz="2177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177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базаси</a:t>
            </a:r>
            <a:r>
              <a:rPr lang="ru-RU" sz="2177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177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шакллантирилади</a:t>
            </a:r>
            <a:r>
              <a:rPr lang="ru-RU" sz="2177" dirty="0"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</a:p>
          <a:p>
            <a:pPr indent="490237" algn="just">
              <a:spcAft>
                <a:spcPts val="1089"/>
              </a:spcAft>
            </a:pPr>
            <a:r>
              <a:rPr lang="ru-RU" sz="2177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Давергеодезкадастр</a:t>
            </a:r>
            <a:r>
              <a:rPr lang="ru-RU" sz="2177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177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қўмитаси</a:t>
            </a:r>
            <a:r>
              <a:rPr lang="ru-RU" sz="2177" dirty="0">
                <a:latin typeface="Times New Roman" panose="02020603050405020304" pitchFamily="18" charset="0"/>
                <a:ea typeface="Times New Roman" panose="02020603050405020304" pitchFamily="18" charset="0"/>
              </a:rPr>
              <a:t> ТХЮЗДК </a:t>
            </a:r>
            <a:r>
              <a:rPr lang="ru-RU" sz="2177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географик</a:t>
            </a:r>
            <a:r>
              <a:rPr lang="ru-RU" sz="2177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177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ахборот</a:t>
            </a:r>
            <a:r>
              <a:rPr lang="ru-RU" sz="2177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177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базасини</a:t>
            </a:r>
            <a:r>
              <a:rPr lang="ru-RU" sz="2177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177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ўрнатилган</a:t>
            </a:r>
            <a:r>
              <a:rPr lang="ru-RU" sz="2177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177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тартибда</a:t>
            </a:r>
            <a:r>
              <a:rPr lang="ru-RU" sz="2177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177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таҳлил</a:t>
            </a:r>
            <a:r>
              <a:rPr lang="ru-RU" sz="2177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177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қилиб</a:t>
            </a:r>
            <a:r>
              <a:rPr lang="ru-RU" sz="2177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ДКЯТ </a:t>
            </a:r>
            <a:r>
              <a:rPr lang="ru-RU" sz="2177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умумий</a:t>
            </a:r>
            <a:r>
              <a:rPr lang="ru-RU" sz="2177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177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базасига</a:t>
            </a:r>
            <a:r>
              <a:rPr lang="ru-RU" sz="2177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177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умумлаштиришни</a:t>
            </a:r>
            <a:r>
              <a:rPr lang="ru-RU" sz="2177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177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таъминлайди</a:t>
            </a:r>
            <a:r>
              <a:rPr lang="ru-RU" sz="2177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  <a:p>
            <a:pPr indent="490237" algn="just">
              <a:spcAft>
                <a:spcPts val="1089"/>
              </a:spcAft>
            </a:pPr>
            <a:r>
              <a:rPr lang="ru-RU" sz="2177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Давергеодезкадастр</a:t>
            </a:r>
            <a:r>
              <a:rPr lang="ru-RU" sz="2177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177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қўмитаси</a:t>
            </a:r>
            <a:r>
              <a:rPr lang="ru-RU" sz="2177" dirty="0">
                <a:latin typeface="Times New Roman" panose="02020603050405020304" pitchFamily="18" charset="0"/>
                <a:ea typeface="Times New Roman" panose="02020603050405020304" pitchFamily="18" charset="0"/>
              </a:rPr>
              <a:t> ДКЯТ </a:t>
            </a:r>
            <a:r>
              <a:rPr lang="ru-RU" sz="2177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умумий</a:t>
            </a:r>
            <a:r>
              <a:rPr lang="ru-RU" sz="2177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177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базасида</a:t>
            </a:r>
            <a:r>
              <a:rPr lang="ru-RU" sz="2177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177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мавжуд</a:t>
            </a:r>
            <a:r>
              <a:rPr lang="ru-RU" sz="2177" dirty="0">
                <a:latin typeface="Times New Roman" panose="02020603050405020304" pitchFamily="18" charset="0"/>
                <a:ea typeface="Times New Roman" panose="02020603050405020304" pitchFamily="18" charset="0"/>
              </a:rPr>
              <a:t> ТХЮЗДК </a:t>
            </a:r>
            <a:r>
              <a:rPr lang="ru-RU" sz="2177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маълумотларини</a:t>
            </a:r>
            <a:r>
              <a:rPr lang="ru-RU" sz="2177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177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Давлат</a:t>
            </a:r>
            <a:r>
              <a:rPr lang="ru-RU" sz="2177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177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ҳокимияти</a:t>
            </a:r>
            <a:r>
              <a:rPr lang="ru-RU" sz="2177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177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ва</a:t>
            </a:r>
            <a:r>
              <a:rPr lang="ru-RU" sz="2177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177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бошқарув</a:t>
            </a:r>
            <a:r>
              <a:rPr lang="ru-RU" sz="2177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177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органлари</a:t>
            </a:r>
            <a:r>
              <a:rPr lang="ru-RU" sz="2177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ru-RU" sz="2177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манфаатдор</a:t>
            </a:r>
            <a:r>
              <a:rPr lang="ru-RU" sz="2177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177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юридик</a:t>
            </a:r>
            <a:r>
              <a:rPr lang="ru-RU" sz="2177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177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ва</a:t>
            </a:r>
            <a:r>
              <a:rPr lang="ru-RU" sz="2177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177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жисмоний</a:t>
            </a:r>
            <a:r>
              <a:rPr lang="ru-RU" sz="2177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177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шахсларга</a:t>
            </a:r>
            <a:r>
              <a:rPr lang="ru-RU" sz="2177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177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зарурий</a:t>
            </a:r>
            <a:r>
              <a:rPr lang="ru-RU" sz="2177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177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ахборотларни</a:t>
            </a:r>
            <a:r>
              <a:rPr lang="ru-RU" sz="2177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177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қонун</a:t>
            </a:r>
            <a:r>
              <a:rPr lang="ru-RU" sz="2177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177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ҳужжатларида</a:t>
            </a:r>
            <a:r>
              <a:rPr lang="ru-RU" sz="2177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177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белгиланган</a:t>
            </a:r>
            <a:r>
              <a:rPr lang="ru-RU" sz="2177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177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тартибда</a:t>
            </a:r>
            <a:r>
              <a:rPr lang="ru-RU" sz="2177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177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расмий</a:t>
            </a:r>
            <a:r>
              <a:rPr lang="ru-RU" sz="2177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177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мурожаатига</a:t>
            </a:r>
            <a:r>
              <a:rPr lang="ru-RU" sz="2177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177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асосан</a:t>
            </a:r>
            <a:r>
              <a:rPr lang="ru-RU" sz="2177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177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ўрнатилган</a:t>
            </a:r>
            <a:r>
              <a:rPr lang="ru-RU" sz="2177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177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тартибда</a:t>
            </a:r>
            <a:r>
              <a:rPr lang="ru-RU" sz="2177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177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таъминлайди</a:t>
            </a:r>
            <a:r>
              <a:rPr lang="ru-RU" sz="2177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  <a:p>
            <a:pPr indent="490237" algn="just">
              <a:spcAft>
                <a:spcPts val="1089"/>
              </a:spcAft>
            </a:pPr>
            <a:r>
              <a:rPr lang="ru-RU" sz="2177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ТХЮЗДКни</a:t>
            </a:r>
            <a:r>
              <a:rPr lang="ru-RU" sz="2177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177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юритишдан</a:t>
            </a:r>
            <a:r>
              <a:rPr lang="ru-RU" sz="2177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177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асосий</a:t>
            </a:r>
            <a:r>
              <a:rPr lang="ru-RU" sz="2177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177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мақсад</a:t>
            </a:r>
            <a:r>
              <a:rPr lang="ru-RU" sz="2177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177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ТХЮЗларни</a:t>
            </a:r>
            <a:r>
              <a:rPr lang="ru-RU" sz="2177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177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ҳозирги</a:t>
            </a:r>
            <a:r>
              <a:rPr lang="ru-RU" sz="2177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177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кундаги</a:t>
            </a:r>
            <a:r>
              <a:rPr lang="ru-RU" sz="2177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177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ҳолати</a:t>
            </a:r>
            <a:r>
              <a:rPr lang="ru-RU" sz="2177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ru-RU" sz="2177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рўй</a:t>
            </a:r>
            <a:r>
              <a:rPr lang="ru-RU" sz="2177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177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берган</a:t>
            </a:r>
            <a:r>
              <a:rPr lang="ru-RU" sz="2177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177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ва</a:t>
            </a:r>
            <a:r>
              <a:rPr lang="ru-RU" sz="2177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177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рўй</a:t>
            </a:r>
            <a:r>
              <a:rPr lang="ru-RU" sz="2177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177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берадиган</a:t>
            </a:r>
            <a:r>
              <a:rPr lang="ru-RU" sz="2177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177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техноген</a:t>
            </a:r>
            <a:r>
              <a:rPr lang="ru-RU" sz="2177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177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ҳодиса</a:t>
            </a:r>
            <a:r>
              <a:rPr lang="ru-RU" sz="2177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177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оқибатларини</a:t>
            </a:r>
            <a:r>
              <a:rPr lang="ru-RU" sz="2177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177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иқтисодий</a:t>
            </a:r>
            <a:r>
              <a:rPr lang="ru-RU" sz="2177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ru-RU" sz="2177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экологик</a:t>
            </a:r>
            <a:r>
              <a:rPr lang="ru-RU" sz="2177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177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ва</a:t>
            </a:r>
            <a:r>
              <a:rPr lang="ru-RU" sz="2177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177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ижтимоий</a:t>
            </a:r>
            <a:r>
              <a:rPr lang="ru-RU" sz="2177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177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жиҳатдан</a:t>
            </a:r>
            <a:r>
              <a:rPr lang="ru-RU" sz="2177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177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баҳоланишини</a:t>
            </a:r>
            <a:r>
              <a:rPr lang="ru-RU" sz="2177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177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ўрганиб</a:t>
            </a:r>
            <a:r>
              <a:rPr lang="ru-RU" sz="2177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ru-RU" sz="2177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таҳлил</a:t>
            </a:r>
            <a:r>
              <a:rPr lang="ru-RU" sz="2177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177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қилиб</a:t>
            </a:r>
            <a:r>
              <a:rPr lang="ru-RU" sz="2177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177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чиқиш</a:t>
            </a:r>
            <a:r>
              <a:rPr lang="ru-RU" sz="2177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177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ва</a:t>
            </a:r>
            <a:r>
              <a:rPr lang="ru-RU" sz="2177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177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бошқалардан</a:t>
            </a:r>
            <a:r>
              <a:rPr lang="ru-RU" sz="2177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177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иборатдир</a:t>
            </a:r>
            <a:r>
              <a:rPr lang="ru-RU" sz="2177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487230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0"/>
            <a:ext cx="12192000" cy="68578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359994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" y="90"/>
            <a:ext cx="12191680" cy="68578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364461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" y="90"/>
            <a:ext cx="12191680" cy="68578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089825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altLang="ru-RU" smtClean="0"/>
          </a:p>
        </p:txBody>
      </p:sp>
      <p:sp>
        <p:nvSpPr>
          <p:cNvPr id="8195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altLang="ru-RU" smtClean="0"/>
          </a:p>
        </p:txBody>
      </p:sp>
      <p:pic>
        <p:nvPicPr>
          <p:cNvPr id="8196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" y="90"/>
            <a:ext cx="12191680" cy="68578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613856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altLang="ru-RU" smtClean="0"/>
          </a:p>
        </p:txBody>
      </p:sp>
      <p:sp>
        <p:nvSpPr>
          <p:cNvPr id="9219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altLang="ru-RU" smtClean="0"/>
          </a:p>
        </p:txBody>
      </p:sp>
      <p:pic>
        <p:nvPicPr>
          <p:cNvPr id="9220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" y="90"/>
            <a:ext cx="12191680" cy="68578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152441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87777" y="537542"/>
            <a:ext cx="11813721" cy="57246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540385">
              <a:spcAft>
                <a:spcPts val="600"/>
              </a:spcAft>
            </a:pPr>
            <a:r>
              <a:rPr lang="ru-RU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7.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ТХЮЗ БКМ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ТХЮЗДКни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юритишни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мувофиқлаштир</a:t>
            </a:r>
            <a:r>
              <a:rPr lang="uz-Cyrl-UZ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иб боради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ru-RU" sz="1600" dirty="0" smtClean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540385">
              <a:spcAft>
                <a:spcPts val="600"/>
              </a:spcAft>
            </a:pPr>
            <a:r>
              <a:rPr lang="ru-RU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8.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ТХЮЗДКни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юритишнинг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асосий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принциплари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uz-Cyrl-UZ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қуйидагилар </a:t>
            </a:r>
            <a:r>
              <a:rPr lang="ru-RU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ҳисобланади</a:t>
            </a:r>
            <a:endParaRPr lang="ru-RU" sz="1600" dirty="0" smtClean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540385" algn="just">
              <a:spcAft>
                <a:spcPts val="600"/>
              </a:spcAft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ТХЮЗ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билан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республиканинг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бутун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ҳудудини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қамраб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олишнинг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тўлиқлиги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;</a:t>
            </a:r>
            <a:endParaRPr lang="ru-RU" sz="1600" dirty="0" smtClean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540385" algn="just">
              <a:spcAft>
                <a:spcPts val="600"/>
              </a:spcAft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кадастр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ахборотларининг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ишончлилиги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кўргазмалилиги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ва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ҳужжатлилиги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;</a:t>
            </a:r>
            <a:endParaRPr lang="ru-RU" sz="1600" dirty="0" smtClean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540385" algn="just">
              <a:spcAft>
                <a:spcPts val="600"/>
              </a:spcAft>
            </a:pP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барча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объектлар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бўйича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кадастр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ахборотларини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шакллантириш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ва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уларни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ҳар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йили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янгилаб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бориш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методологиясининг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ягоналиги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;</a:t>
            </a:r>
            <a:endParaRPr lang="ru-RU" sz="1600" dirty="0" smtClean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540385" algn="just">
              <a:spcAft>
                <a:spcPts val="600"/>
              </a:spcAft>
            </a:pP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макон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координаталари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ягона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тизимини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ва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ягона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топография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асосларини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қўлланиш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;</a:t>
            </a:r>
            <a:endParaRPr lang="ru-RU" sz="1600" dirty="0" smtClean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540385" algn="just">
              <a:spcAft>
                <a:spcPts val="600"/>
              </a:spcAft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кадастр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ахборотларининг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очиқлиги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ru-RU" sz="1600" dirty="0" smtClean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540385" algn="just">
              <a:spcAft>
                <a:spcPts val="600"/>
              </a:spcAft>
            </a:pPr>
            <a:r>
              <a:rPr lang="ru-RU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9.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ТХЮЗДКнинг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асосий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вазифалари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uz-Cyrl-UZ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қ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уйидагилар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ҳисобланади</a:t>
            </a:r>
            <a:endParaRPr lang="ru-RU" sz="1600" dirty="0" smtClean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540385" algn="just">
              <a:spcAft>
                <a:spcPts val="600"/>
              </a:spcAft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ТХЮЗ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тўғрисидаги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ахборотларни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тўплаш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таҳлил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қилиш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ишлаш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ҳисобга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олиш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тизимлаштириш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сақлаш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янгилаб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бориш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;</a:t>
            </a:r>
            <a:endParaRPr lang="ru-RU" sz="1600" dirty="0" smtClean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540385" algn="just">
              <a:spcAft>
                <a:spcPts val="600"/>
              </a:spcAft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ТХЮЗ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паспортларини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тузиш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ва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юритиш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;</a:t>
            </a:r>
            <a:endParaRPr lang="ru-RU" sz="1600" dirty="0" smtClean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540385" algn="just">
              <a:spcAft>
                <a:spcPts val="600"/>
              </a:spcAft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кадастр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дафтарини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юритиш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ТХЮЗ кадастр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режаларини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ва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хариталарини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тузиш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;</a:t>
            </a:r>
            <a:endParaRPr lang="ru-RU" sz="1600" dirty="0" smtClean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540385" algn="just">
              <a:spcAft>
                <a:spcPts val="600"/>
              </a:spcAft>
            </a:pP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давлат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ҳокимияти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ва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бошқарув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органларини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манфаатдор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юридик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ва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жисмоний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шахсларни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зарур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кадастр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ахборотлари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билан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қонун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ҳужжатларида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белгиланган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тартибда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таъминлаш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ru-RU" sz="1600" dirty="0" smtClean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540385" algn="just">
              <a:spcAft>
                <a:spcPts val="600"/>
              </a:spcAft>
            </a:pPr>
            <a:r>
              <a:rPr lang="ru-RU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10.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ТХЮЗДКни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юритиш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бўйича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ишлар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давлат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бюджети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маблағлари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ва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қонун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ҳужжатларида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тақиқланмаган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бошқа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манбалар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ҳисобига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молиялаштирилади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71691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285750" y="459365"/>
            <a:ext cx="11666764" cy="58477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 b="1" dirty="0">
                <a:solidFill>
                  <a:srgbClr val="00008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II. </a:t>
            </a:r>
            <a:r>
              <a:rPr lang="ru-RU" b="1" dirty="0" err="1">
                <a:solidFill>
                  <a:srgbClr val="00008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ТХЮЗДКни</a:t>
            </a:r>
            <a:r>
              <a:rPr lang="ru-RU" b="1" dirty="0">
                <a:solidFill>
                  <a:srgbClr val="00008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rgbClr val="00008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юритишни</a:t>
            </a:r>
            <a:r>
              <a:rPr lang="ru-RU" b="1" dirty="0">
                <a:solidFill>
                  <a:srgbClr val="00008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rgbClr val="00008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ташкил</a:t>
            </a:r>
            <a:r>
              <a:rPr lang="ru-RU" b="1" dirty="0">
                <a:solidFill>
                  <a:srgbClr val="00008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rgbClr val="00008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этиш</a:t>
            </a:r>
            <a:endParaRPr lang="ru-RU" sz="1600" dirty="0" smtClean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540385" algn="just">
              <a:spcAft>
                <a:spcPts val="600"/>
              </a:spcAft>
            </a:pPr>
            <a:r>
              <a:rPr lang="ru-RU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11.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ТХЮЗДК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тегишли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ваколатли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органларнинг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раҳбарлари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томонидан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тасдиқланадиган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дастурлар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ва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жадваллар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асосида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юритилади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уларда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кузатишлар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ТХЮЗнинг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бошланғич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ва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жорий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кадастр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ахборотларини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тўплаш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ишлаш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тадқиқотлар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тартиби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белгиланади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ru-RU" sz="1600" dirty="0" smtClean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540385" algn="just">
              <a:spcAft>
                <a:spcPts val="600"/>
              </a:spcAft>
            </a:pPr>
            <a:r>
              <a:rPr lang="ru-RU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12.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Ушбу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Низомнинг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>
                <a:solidFill>
                  <a:srgbClr val="00808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5-бандида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кўрсатилган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объектлардан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фойдаланувчи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ташкилотлар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: </a:t>
            </a:r>
            <a:endParaRPr lang="ru-RU" sz="1600" dirty="0" smtClean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540385" algn="just">
              <a:spcAft>
                <a:spcPts val="600"/>
              </a:spcAft>
            </a:pP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объектларни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идентификация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қилади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; </a:t>
            </a:r>
            <a:endParaRPr lang="ru-RU" sz="1600" dirty="0" smtClean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540385" algn="just">
              <a:spcAft>
                <a:spcPts val="600"/>
              </a:spcAft>
            </a:pP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бошланғич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ва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жорий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кадастр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ахборотларини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ҳамда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ТХЮЗнинг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миқдор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ва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сифат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бўйича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ҳолатидаги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иқтисодий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баҳолашдаги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уларнинг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атроф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муҳитга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таъсир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кўрсатишидаги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ўзгаришларни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тўплаш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ва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тизимлаштиришни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амалга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оширади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ru-RU" sz="1600" dirty="0" smtClean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540385" algn="just">
              <a:spcAft>
                <a:spcPts val="600"/>
              </a:spcAft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ТХЮЗ кадастр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дафтарларини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юритади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маълумотлар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базасини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тўлдиради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ва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уларни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тизимлаштириш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ҳамда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ТХЮЗДК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ААТга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киритиш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учун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ТХЮЗДК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БКМга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беради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;</a:t>
            </a:r>
            <a:endParaRPr lang="ru-RU" sz="1600" dirty="0" smtClean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540385" algn="just">
              <a:spcAft>
                <a:spcPts val="600"/>
              </a:spcAft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ТХЮЗ кадастр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паспортларини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ишлаб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чиқади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;</a:t>
            </a:r>
            <a:endParaRPr lang="ru-RU" sz="1600" dirty="0" smtClean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540385" algn="just">
              <a:spcAft>
                <a:spcPts val="600"/>
              </a:spcAft>
            </a:pP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ўзгаришларни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кадастр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паспортларига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ўз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вақтида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киритишни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таъминлайди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;</a:t>
            </a:r>
            <a:endParaRPr lang="ru-RU" sz="1600" dirty="0" smtClean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540385" algn="just">
              <a:spcAft>
                <a:spcPts val="600"/>
              </a:spcAft>
            </a:pP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янги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ТХЮЗлар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ҳисобини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юритади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улар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тўғрисидаги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баҳолаш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ахборотларини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тўплайди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;</a:t>
            </a:r>
            <a:endParaRPr lang="ru-RU" sz="1600" dirty="0" smtClean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540385" algn="just">
              <a:spcAft>
                <a:spcPts val="600"/>
              </a:spcAft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кадастр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ахборотларининг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ишончлилиги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ва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уларнинг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ТХЮЗДК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ААТга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киритиш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учун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ўз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вақтида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тақдим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этилиши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учун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жавоб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беради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ru-RU" sz="1600" dirty="0" smtClean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540385" algn="just">
              <a:spcAft>
                <a:spcPts val="600"/>
              </a:spcAft>
            </a:pPr>
            <a:r>
              <a:rPr lang="ru-RU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13.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Ҳар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қайси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ТХЮЗ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учун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Ўзбекистон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Республикаси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Саноат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хавфсизлиги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давлат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қўмитаси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билан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келишган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ҳолда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белгиланган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намунадаги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кадастр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паспорти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расмийлаштирилади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ва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тасдиқланади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32871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277586" y="532844"/>
            <a:ext cx="11650436" cy="55707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540385" algn="just">
              <a:spcAft>
                <a:spcPts val="600"/>
              </a:spcAft>
            </a:pPr>
            <a:r>
              <a:rPr lang="ru-RU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14.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uz-Cyrl-UZ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бъектнинг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кадастр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паспортини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тузиш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учун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бошланғич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маълумотлар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uz-Cyrl-UZ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қ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уйидагилар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ҳисобланади</a:t>
            </a:r>
            <a:endParaRPr lang="ru-RU" sz="1600" dirty="0" smtClean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540385" algn="just">
              <a:spcAft>
                <a:spcPts val="600"/>
              </a:spcAft>
            </a:pP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ўз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кузатишлари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ўлчашлари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ва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тадқиқотлари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натижалари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бўйича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олинадиган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маълумотлар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;</a:t>
            </a:r>
            <a:endParaRPr lang="ru-RU" sz="1600" dirty="0" smtClean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540385" algn="just">
              <a:spcAft>
                <a:spcPts val="600"/>
              </a:spcAft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санитария-техника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паспортлари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саноат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хавфсизлиги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декларацияси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ишлаб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чиқариш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-техника,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конструкторлик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технологик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фойдаланиш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ҳужжатлари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;</a:t>
            </a:r>
            <a:endParaRPr lang="ru-RU" sz="1600" dirty="0" smtClean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540385" algn="just">
              <a:spcAft>
                <a:spcPts val="600"/>
              </a:spcAft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ТХЮЗ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тўғрисида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корхоналар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ташкилотлар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ва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бошқа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расмий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манбалардан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олинадиган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ахборотлар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ru-RU" sz="1600" dirty="0" smtClean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540385" algn="just">
              <a:spcAft>
                <a:spcPts val="600"/>
              </a:spcAft>
            </a:pPr>
            <a:r>
              <a:rPr lang="ru-RU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15.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Кадастр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паспортларини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ишлаб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чиққан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ваколатли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органлар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5 кун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муддатда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уларнинг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нусхаларидан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бир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нусхадан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lang="ru-RU" sz="1600" dirty="0" smtClean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540385" algn="just">
              <a:spcAft>
                <a:spcPts val="600"/>
              </a:spcAft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ТХЮЗ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БКМга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;</a:t>
            </a:r>
            <a:endParaRPr lang="ru-RU" sz="1600" dirty="0" smtClean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540385" algn="just">
              <a:spcAft>
                <a:spcPts val="600"/>
              </a:spcAft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ТХЮЗ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БКМнинг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тегишли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минтақавий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бўлинмасига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;</a:t>
            </a:r>
            <a:endParaRPr lang="ru-RU" sz="1600" dirty="0" smtClean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540385" algn="just">
              <a:spcAft>
                <a:spcPts val="600"/>
              </a:spcAft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ТХЮЗ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КМга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;</a:t>
            </a:r>
            <a:endParaRPr lang="ru-RU" sz="1600" dirty="0" smtClean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540385" algn="just">
              <a:spcAft>
                <a:spcPts val="600"/>
              </a:spcAft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ТХЮЗ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КМнинг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тегишли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минтақавий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бўлинмасига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тақдим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этади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ru-RU" sz="1600" dirty="0" smtClean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540385" algn="just">
              <a:spcAft>
                <a:spcPts val="600"/>
              </a:spcAft>
            </a:pPr>
            <a:r>
              <a:rPr lang="ru-RU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16.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ТХЮЗ БКМ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ва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ТХЮЗДК КМ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ваколати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бўйича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кадастр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паспортларини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текширади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ҳамда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тегишли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рўйхатдан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ўтказиш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ахборотларини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ва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бошқа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асосий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ахборотларни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кадастр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дафтарига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ёзиб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қўяди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ru-RU" sz="1600" dirty="0" smtClean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540385" algn="just">
              <a:spcAft>
                <a:spcPts val="600"/>
              </a:spcAft>
            </a:pPr>
            <a:r>
              <a:rPr lang="ru-RU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17.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ТХЮЗ БКМ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ҳар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йили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ДКЯТга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киритиш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учун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ҳисобот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йилидан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кейинги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йилнинг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1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мартигача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uz-Cyrl-UZ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Давергеодезкадастр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қўмитасига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зарур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кадастр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ахборотларини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тақдим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этади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. Кадастр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маълумотларини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тақдим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этиш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шакли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ва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уларнинг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ҳажми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Ўзбекистон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Республикаси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Саноат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хавфсизлиги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давлат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қўмитаси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томонидан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тасдиқланади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ва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uz-Cyrl-UZ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Давергеодезкадастр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қўмитаси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билан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келишилади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729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244929" y="120927"/>
            <a:ext cx="11781064" cy="66402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 b="1" dirty="0">
                <a:solidFill>
                  <a:srgbClr val="00008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III. </a:t>
            </a:r>
            <a:r>
              <a:rPr lang="ru-RU" b="1" dirty="0" err="1">
                <a:solidFill>
                  <a:srgbClr val="00008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ТХЮЗДКни</a:t>
            </a:r>
            <a:r>
              <a:rPr lang="ru-RU" b="1" dirty="0">
                <a:solidFill>
                  <a:srgbClr val="00008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rgbClr val="00008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юритиш</a:t>
            </a:r>
            <a:r>
              <a:rPr lang="ru-RU" b="1" dirty="0">
                <a:solidFill>
                  <a:srgbClr val="00008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rgbClr val="00008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тартиби</a:t>
            </a:r>
            <a:endParaRPr lang="ru-RU" sz="1600" dirty="0" smtClean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540385" algn="just">
              <a:spcAft>
                <a:spcPts val="600"/>
              </a:spcAft>
            </a:pPr>
            <a:r>
              <a:rPr lang="ru-RU" sz="175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18.</a:t>
            </a:r>
            <a:r>
              <a:rPr lang="ru-RU" sz="175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ТХЮЗДК </a:t>
            </a:r>
            <a:r>
              <a:rPr lang="ru-RU" sz="175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техноген</a:t>
            </a:r>
            <a:r>
              <a:rPr lang="ru-RU" sz="175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75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хавф</a:t>
            </a:r>
            <a:r>
              <a:rPr lang="ru-RU" sz="175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75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юқори</a:t>
            </a:r>
            <a:r>
              <a:rPr lang="ru-RU" sz="175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(ТХЮ) </a:t>
            </a:r>
            <a:r>
              <a:rPr lang="ru-RU" sz="175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бўлган</a:t>
            </a:r>
            <a:r>
              <a:rPr lang="ru-RU" sz="175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75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ҳодисаларнинг</a:t>
            </a:r>
            <a:r>
              <a:rPr lang="ru-RU" sz="175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75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рўй</a:t>
            </a:r>
            <a:r>
              <a:rPr lang="ru-RU" sz="175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75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бериши</a:t>
            </a:r>
            <a:r>
              <a:rPr lang="ru-RU" sz="175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75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мумкин</a:t>
            </a:r>
            <a:r>
              <a:rPr lang="ru-RU" sz="175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75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бўлган</a:t>
            </a:r>
            <a:r>
              <a:rPr lang="ru-RU" sz="175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75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ҳар</a:t>
            </a:r>
            <a:r>
              <a:rPr lang="ru-RU" sz="175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75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қайси</a:t>
            </a:r>
            <a:r>
              <a:rPr lang="ru-RU" sz="175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75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зонаси</a:t>
            </a:r>
            <a:r>
              <a:rPr lang="ru-RU" sz="175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75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ёки</a:t>
            </a:r>
            <a:r>
              <a:rPr lang="ru-RU" sz="175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75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маркази</a:t>
            </a:r>
            <a:r>
              <a:rPr lang="ru-RU" sz="175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75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бўйича</a:t>
            </a:r>
            <a:r>
              <a:rPr lang="ru-RU" sz="175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75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маълумотларга</a:t>
            </a:r>
            <a:r>
              <a:rPr lang="ru-RU" sz="175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75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эга</a:t>
            </a:r>
            <a:r>
              <a:rPr lang="ru-RU" sz="175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75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бўлади</a:t>
            </a:r>
            <a:r>
              <a:rPr lang="ru-RU" sz="175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ru-RU" sz="1750" dirty="0" smtClean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540385" algn="just">
              <a:spcAft>
                <a:spcPts val="600"/>
              </a:spcAft>
            </a:pPr>
            <a:r>
              <a:rPr lang="uz-Cyrl-UZ" sz="175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20</a:t>
            </a:r>
            <a:r>
              <a:rPr lang="ru-RU" sz="175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r>
              <a:rPr lang="ru-RU" sz="175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75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ТХЮЗДКнинг</a:t>
            </a:r>
            <a:r>
              <a:rPr lang="ru-RU" sz="175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75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таркибий</a:t>
            </a:r>
            <a:r>
              <a:rPr lang="ru-RU" sz="175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75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қисмлари</a:t>
            </a:r>
            <a:r>
              <a:rPr lang="ru-RU" sz="175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uz-Cyrl-UZ" sz="175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қ</a:t>
            </a:r>
            <a:r>
              <a:rPr lang="ru-RU" sz="175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уйидагилар</a:t>
            </a:r>
            <a:r>
              <a:rPr lang="ru-RU" sz="175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750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ҳисобланади</a:t>
            </a:r>
            <a:endParaRPr lang="ru-RU" sz="1750" dirty="0" smtClean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540385" algn="just">
              <a:spcAft>
                <a:spcPts val="600"/>
              </a:spcAft>
            </a:pPr>
            <a:r>
              <a:rPr lang="ru-RU" sz="175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объектларни</a:t>
            </a:r>
            <a:r>
              <a:rPr lang="ru-RU" sz="175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идентификация </a:t>
            </a:r>
            <a:r>
              <a:rPr lang="ru-RU" sz="175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қилиш</a:t>
            </a:r>
            <a:r>
              <a:rPr lang="ru-RU" sz="175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75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ва</a:t>
            </a:r>
            <a:r>
              <a:rPr lang="ru-RU" sz="175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ТХЮ </a:t>
            </a:r>
            <a:r>
              <a:rPr lang="ru-RU" sz="175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ҳодисалар</a:t>
            </a:r>
            <a:r>
              <a:rPr lang="ru-RU" sz="175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75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рўй</a:t>
            </a:r>
            <a:r>
              <a:rPr lang="ru-RU" sz="175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75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бериши</a:t>
            </a:r>
            <a:r>
              <a:rPr lang="ru-RU" sz="175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75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мумкин</a:t>
            </a:r>
            <a:r>
              <a:rPr lang="ru-RU" sz="175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75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бўлган</a:t>
            </a:r>
            <a:r>
              <a:rPr lang="ru-RU" sz="175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75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зоналарни</a:t>
            </a:r>
            <a:r>
              <a:rPr lang="ru-RU" sz="175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75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рўйхатдан</a:t>
            </a:r>
            <a:r>
              <a:rPr lang="ru-RU" sz="175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75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ўтказиш</a:t>
            </a:r>
            <a:r>
              <a:rPr lang="ru-RU" sz="175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; </a:t>
            </a:r>
            <a:endParaRPr lang="ru-RU" sz="1750" dirty="0" smtClean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540385" algn="just">
              <a:spcAft>
                <a:spcPts val="600"/>
              </a:spcAft>
            </a:pPr>
            <a:r>
              <a:rPr lang="ru-RU" sz="175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ТХЮЗнинг</a:t>
            </a:r>
            <a:r>
              <a:rPr lang="ru-RU" sz="175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75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миқдор</a:t>
            </a:r>
            <a:r>
              <a:rPr lang="ru-RU" sz="175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75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ва</a:t>
            </a:r>
            <a:r>
              <a:rPr lang="ru-RU" sz="175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75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сифат</a:t>
            </a:r>
            <a:r>
              <a:rPr lang="ru-RU" sz="175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75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тавсияларини</a:t>
            </a:r>
            <a:r>
              <a:rPr lang="ru-RU" sz="175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75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ҳисобга</a:t>
            </a:r>
            <a:r>
              <a:rPr lang="ru-RU" sz="175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75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олиш</a:t>
            </a:r>
            <a:r>
              <a:rPr lang="ru-RU" sz="175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;</a:t>
            </a:r>
            <a:endParaRPr lang="ru-RU" sz="1750" dirty="0" smtClean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540385" algn="just">
              <a:spcAft>
                <a:spcPts val="600"/>
              </a:spcAft>
            </a:pPr>
            <a:r>
              <a:rPr lang="ru-RU" sz="175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ТХЮЗни</a:t>
            </a:r>
            <a:r>
              <a:rPr lang="ru-RU" sz="175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75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иқтисодий</a:t>
            </a:r>
            <a:r>
              <a:rPr lang="ru-RU" sz="175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ru-RU" sz="175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экологик</a:t>
            </a:r>
            <a:r>
              <a:rPr lang="ru-RU" sz="175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75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ва</a:t>
            </a:r>
            <a:r>
              <a:rPr lang="ru-RU" sz="175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75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ижтимоий</a:t>
            </a:r>
            <a:r>
              <a:rPr lang="ru-RU" sz="175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75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баҳолаш</a:t>
            </a:r>
            <a:r>
              <a:rPr lang="ru-RU" sz="175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ru-RU" sz="1750" dirty="0" smtClean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540385" algn="just">
              <a:spcAft>
                <a:spcPts val="600"/>
              </a:spcAft>
            </a:pPr>
            <a:r>
              <a:rPr lang="ru-RU" sz="175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21.</a:t>
            </a:r>
            <a:r>
              <a:rPr lang="ru-RU" sz="175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75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ТХЮЗнинг</a:t>
            </a:r>
            <a:r>
              <a:rPr lang="ru-RU" sz="175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кадастр </a:t>
            </a:r>
            <a:r>
              <a:rPr lang="ru-RU" sz="175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ахборотлари</a:t>
            </a:r>
            <a:r>
              <a:rPr lang="ru-RU" sz="175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75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қуйидагилардан</a:t>
            </a:r>
            <a:r>
              <a:rPr lang="ru-RU" sz="175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75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иборат</a:t>
            </a:r>
            <a:r>
              <a:rPr lang="ru-RU" sz="175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750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бўлади</a:t>
            </a:r>
            <a:endParaRPr lang="ru-RU" sz="1750" dirty="0" smtClean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540385" algn="just">
              <a:spcAft>
                <a:spcPts val="600"/>
              </a:spcAft>
            </a:pPr>
            <a:r>
              <a:rPr lang="ru-RU" sz="175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ТХЮЗнинг</a:t>
            </a:r>
            <a:r>
              <a:rPr lang="ru-RU" sz="175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75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рўй</a:t>
            </a:r>
            <a:r>
              <a:rPr lang="ru-RU" sz="175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75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бериши</a:t>
            </a:r>
            <a:r>
              <a:rPr lang="ru-RU" sz="175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75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мумкин</a:t>
            </a:r>
            <a:r>
              <a:rPr lang="ru-RU" sz="175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75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бўлган</a:t>
            </a:r>
            <a:r>
              <a:rPr lang="ru-RU" sz="175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тури </a:t>
            </a:r>
            <a:r>
              <a:rPr lang="ru-RU" sz="175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кўрсатилган</a:t>
            </a:r>
            <a:r>
              <a:rPr lang="ru-RU" sz="175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75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ҳолда</a:t>
            </a:r>
            <a:r>
              <a:rPr lang="ru-RU" sz="175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кадастр </a:t>
            </a:r>
            <a:r>
              <a:rPr lang="ru-RU" sz="175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объектининг</a:t>
            </a:r>
            <a:r>
              <a:rPr lang="ru-RU" sz="175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75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номи</a:t>
            </a:r>
            <a:r>
              <a:rPr lang="ru-RU" sz="175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;</a:t>
            </a:r>
            <a:endParaRPr lang="ru-RU" sz="1750" dirty="0" smtClean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540385" algn="just">
              <a:spcAft>
                <a:spcPts val="600"/>
              </a:spcAft>
            </a:pPr>
            <a:r>
              <a:rPr lang="ru-RU" sz="175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ТХЮЗнинг</a:t>
            </a:r>
            <a:r>
              <a:rPr lang="ru-RU" sz="175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75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жойлашган</a:t>
            </a:r>
            <a:r>
              <a:rPr lang="ru-RU" sz="175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75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ўрни</a:t>
            </a:r>
            <a:r>
              <a:rPr lang="ru-RU" sz="175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;</a:t>
            </a:r>
            <a:endParaRPr lang="ru-RU" sz="1750" dirty="0" smtClean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540385" algn="just">
              <a:spcAft>
                <a:spcPts val="600"/>
              </a:spcAft>
            </a:pPr>
            <a:r>
              <a:rPr lang="ru-RU" sz="175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ТХЮ </a:t>
            </a:r>
            <a:r>
              <a:rPr lang="ru-RU" sz="175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ҳодисаларни</a:t>
            </a:r>
            <a:r>
              <a:rPr lang="ru-RU" sz="175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75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вужудга</a:t>
            </a:r>
            <a:r>
              <a:rPr lang="ru-RU" sz="175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75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келтирадиган</a:t>
            </a:r>
            <a:r>
              <a:rPr lang="ru-RU" sz="175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75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объектнинг</a:t>
            </a:r>
            <a:r>
              <a:rPr lang="ru-RU" sz="175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75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идоравий</a:t>
            </a:r>
            <a:r>
              <a:rPr lang="ru-RU" sz="175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75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мансублиги</a:t>
            </a:r>
            <a:r>
              <a:rPr lang="ru-RU" sz="175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75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ва</a:t>
            </a:r>
            <a:r>
              <a:rPr lang="ru-RU" sz="175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75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уни</a:t>
            </a:r>
            <a:r>
              <a:rPr lang="ru-RU" sz="175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75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фойдаланишга</a:t>
            </a:r>
            <a:r>
              <a:rPr lang="ru-RU" sz="175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75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киритиш</a:t>
            </a:r>
            <a:r>
              <a:rPr lang="ru-RU" sz="175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75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санаси</a:t>
            </a:r>
            <a:r>
              <a:rPr lang="ru-RU" sz="175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; </a:t>
            </a:r>
            <a:endParaRPr lang="ru-RU" sz="1750" dirty="0" smtClean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540385" algn="just">
              <a:spcAft>
                <a:spcPts val="600"/>
              </a:spcAft>
            </a:pPr>
            <a:r>
              <a:rPr lang="ru-RU" sz="175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объектнинг</a:t>
            </a:r>
            <a:r>
              <a:rPr lang="ru-RU" sz="175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75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фойдаланиш</a:t>
            </a:r>
            <a:r>
              <a:rPr lang="ru-RU" sz="175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75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мақсади</a:t>
            </a:r>
            <a:r>
              <a:rPr lang="ru-RU" sz="175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(</a:t>
            </a:r>
            <a:r>
              <a:rPr lang="ru-RU" sz="175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агар</a:t>
            </a:r>
            <a:r>
              <a:rPr lang="ru-RU" sz="175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75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хавф</a:t>
            </a:r>
            <a:r>
              <a:rPr lang="ru-RU" sz="175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антропоген </a:t>
            </a:r>
            <a:r>
              <a:rPr lang="ru-RU" sz="175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омиллар</a:t>
            </a:r>
            <a:r>
              <a:rPr lang="ru-RU" sz="175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75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таъсирида</a:t>
            </a:r>
            <a:r>
              <a:rPr lang="ru-RU" sz="175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75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вужудга</a:t>
            </a:r>
            <a:r>
              <a:rPr lang="ru-RU" sz="175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75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келса</a:t>
            </a:r>
            <a:r>
              <a:rPr lang="ru-RU" sz="175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75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ва</a:t>
            </a:r>
            <a:r>
              <a:rPr lang="ru-RU" sz="175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75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табиий</a:t>
            </a:r>
            <a:r>
              <a:rPr lang="ru-RU" sz="175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75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ҳодиса</a:t>
            </a:r>
            <a:r>
              <a:rPr lang="ru-RU" sz="175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75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бўлмаса</a:t>
            </a:r>
            <a:r>
              <a:rPr lang="ru-RU" sz="175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); </a:t>
            </a:r>
            <a:endParaRPr lang="ru-RU" sz="1750" dirty="0" smtClean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540385" algn="just">
              <a:spcAft>
                <a:spcPts val="600"/>
              </a:spcAft>
            </a:pPr>
            <a:r>
              <a:rPr lang="ru-RU" sz="175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объектни</a:t>
            </a:r>
            <a:r>
              <a:rPr lang="ru-RU" sz="175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75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ҳисобга</a:t>
            </a:r>
            <a:r>
              <a:rPr lang="ru-RU" sz="175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75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олиш</a:t>
            </a:r>
            <a:r>
              <a:rPr lang="ru-RU" sz="175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75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санаси</a:t>
            </a:r>
            <a:r>
              <a:rPr lang="ru-RU" sz="175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; </a:t>
            </a:r>
            <a:endParaRPr lang="ru-RU" sz="1750" dirty="0" smtClean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540385" algn="just">
              <a:spcAft>
                <a:spcPts val="600"/>
              </a:spcAft>
            </a:pPr>
            <a:r>
              <a:rPr lang="ru-RU" sz="175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объектнинг</a:t>
            </a:r>
            <a:r>
              <a:rPr lang="ru-RU" sz="175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кадастр </a:t>
            </a:r>
            <a:r>
              <a:rPr lang="uz-Cyrl-UZ" sz="175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рақами</a:t>
            </a:r>
            <a:r>
              <a:rPr lang="ru-RU" sz="175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;</a:t>
            </a:r>
            <a:endParaRPr lang="ru-RU" sz="1750" dirty="0" smtClean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540385" algn="just">
              <a:spcAft>
                <a:spcPts val="600"/>
              </a:spcAft>
            </a:pPr>
            <a:r>
              <a:rPr lang="ru-RU" sz="175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ТХЮЗда</a:t>
            </a:r>
            <a:r>
              <a:rPr lang="ru-RU" sz="175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75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жойлашган</a:t>
            </a:r>
            <a:r>
              <a:rPr lang="ru-RU" sz="175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75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объектларнинг</a:t>
            </a:r>
            <a:r>
              <a:rPr lang="ru-RU" sz="175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75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рўйхати</a:t>
            </a:r>
            <a:r>
              <a:rPr lang="ru-RU" sz="175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; </a:t>
            </a:r>
            <a:endParaRPr lang="ru-RU" sz="1750" dirty="0" smtClean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540385" algn="just">
              <a:spcAft>
                <a:spcPts val="600"/>
              </a:spcAft>
            </a:pPr>
            <a:r>
              <a:rPr lang="ru-RU" sz="175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ТХЮЗнинг</a:t>
            </a:r>
            <a:r>
              <a:rPr lang="ru-RU" sz="175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75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ҳисобга</a:t>
            </a:r>
            <a:r>
              <a:rPr lang="ru-RU" sz="175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75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олинган</a:t>
            </a:r>
            <a:r>
              <a:rPr lang="ru-RU" sz="175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75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вақтдаги</a:t>
            </a:r>
            <a:r>
              <a:rPr lang="ru-RU" sz="175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75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ҳолати</a:t>
            </a:r>
            <a:r>
              <a:rPr lang="ru-RU" sz="175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;</a:t>
            </a:r>
            <a:endParaRPr lang="ru-RU" sz="1750" dirty="0" smtClean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540385" algn="just">
              <a:spcAft>
                <a:spcPts val="600"/>
              </a:spcAft>
            </a:pPr>
            <a:r>
              <a:rPr lang="ru-RU" sz="175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картография </a:t>
            </a:r>
            <a:r>
              <a:rPr lang="ru-RU" sz="175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материаллари</a:t>
            </a:r>
            <a:r>
              <a:rPr lang="ru-RU" sz="175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— ТХЮ </a:t>
            </a:r>
            <a:r>
              <a:rPr lang="ru-RU" sz="175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ҳодисанинг</a:t>
            </a:r>
            <a:r>
              <a:rPr lang="ru-RU" sz="175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75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рўй</a:t>
            </a:r>
            <a:r>
              <a:rPr lang="ru-RU" sz="175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75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бериши</a:t>
            </a:r>
            <a:r>
              <a:rPr lang="ru-RU" sz="175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75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мумкин</a:t>
            </a:r>
            <a:r>
              <a:rPr lang="ru-RU" sz="175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75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бўлган</a:t>
            </a:r>
            <a:r>
              <a:rPr lang="ru-RU" sz="175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75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зоналар</a:t>
            </a:r>
            <a:r>
              <a:rPr lang="ru-RU" sz="175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75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тасвирига</a:t>
            </a:r>
            <a:r>
              <a:rPr lang="ru-RU" sz="175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75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эга</a:t>
            </a:r>
            <a:r>
              <a:rPr lang="ru-RU" sz="175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75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бўлган</a:t>
            </a:r>
            <a:r>
              <a:rPr lang="ru-RU" sz="175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ТХЮ </a:t>
            </a:r>
            <a:r>
              <a:rPr lang="ru-RU" sz="175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ҳодиса</a:t>
            </a:r>
            <a:r>
              <a:rPr lang="ru-RU" sz="175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75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таъсирига</a:t>
            </a:r>
            <a:r>
              <a:rPr lang="ru-RU" sz="175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75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учраган</a:t>
            </a:r>
            <a:r>
              <a:rPr lang="ru-RU" sz="175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75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майдонлар</a:t>
            </a:r>
            <a:r>
              <a:rPr lang="ru-RU" sz="175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(</a:t>
            </a:r>
            <a:r>
              <a:rPr lang="ru-RU" sz="175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зоналар</a:t>
            </a:r>
            <a:r>
              <a:rPr lang="ru-RU" sz="175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) </a:t>
            </a:r>
            <a:r>
              <a:rPr lang="ru-RU" sz="175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ҳажмлари</a:t>
            </a:r>
            <a:r>
              <a:rPr lang="ru-RU" sz="175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75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кўрсатилган</a:t>
            </a:r>
            <a:r>
              <a:rPr lang="ru-RU" sz="175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75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ҳолдаги</a:t>
            </a:r>
            <a:r>
              <a:rPr lang="ru-RU" sz="175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75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тегишли</a:t>
            </a:r>
            <a:r>
              <a:rPr lang="ru-RU" sz="175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75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масштаби</a:t>
            </a:r>
            <a:r>
              <a:rPr lang="ru-RU" sz="175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топография </a:t>
            </a:r>
            <a:r>
              <a:rPr lang="ru-RU" sz="1750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хариталари</a:t>
            </a:r>
            <a:r>
              <a:rPr lang="ru-RU" sz="175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ru-RU" sz="1750" dirty="0" smtClean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80046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359228" y="825290"/>
            <a:ext cx="11478986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540385" algn="just">
              <a:spcAft>
                <a:spcPts val="600"/>
              </a:spcAft>
            </a:pPr>
            <a:r>
              <a:rPr lang="ru-RU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22.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ТХЮЗнинг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ҳисобга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олинадиган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ахборотлари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қуйидагилардан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иборат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бўлади</a:t>
            </a:r>
            <a:endParaRPr lang="ru-RU" sz="1600" dirty="0" smtClean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540385" algn="just">
              <a:spcAft>
                <a:spcPts val="600"/>
              </a:spcAft>
            </a:pP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объектнинг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хавфлилик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белгилари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рўйхати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; </a:t>
            </a:r>
            <a:endParaRPr lang="ru-RU" sz="1600" dirty="0" smtClean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540385" algn="just">
              <a:spcAft>
                <a:spcPts val="600"/>
              </a:spcAft>
            </a:pP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объектнинг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технологик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асбоб-ускунаси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тавсифи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; </a:t>
            </a:r>
            <a:endParaRPr lang="ru-RU" sz="1600" dirty="0" smtClean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540385" algn="just">
              <a:spcAft>
                <a:spcPts val="600"/>
              </a:spcAft>
            </a:pP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объектлардаги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хавфли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моддалардан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фойдаланиш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тўғрисидаги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маълумотлар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; </a:t>
            </a:r>
            <a:endParaRPr lang="ru-RU" sz="1600" dirty="0" smtClean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540385" algn="just">
              <a:spcAft>
                <a:spcPts val="600"/>
              </a:spcAft>
            </a:pP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зарар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етказадиган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ва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бузувчи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омиллар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тавсифлари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: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таъсирларнинг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кучи,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тезлиги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ҳажми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туркумлиги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частотаси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асосий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йўналиши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ва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рўй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бериш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тезлиги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;</a:t>
            </a:r>
            <a:endParaRPr lang="ru-RU" sz="1600" dirty="0" smtClean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540385" algn="just">
              <a:spcAft>
                <a:spcPts val="600"/>
              </a:spcAft>
            </a:pP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инсон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саломатлигига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ва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атроф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табиий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муҳитга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салбий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таъсир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кўрсатувчи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омиллар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рўйхати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lang="ru-RU" sz="1600" dirty="0" smtClean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540385" algn="just">
              <a:spcAft>
                <a:spcPts val="600"/>
              </a:spcAft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санитария-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муҳофаза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ва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қўриқлаш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зоналари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тўғрисидаги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маълумотлар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;</a:t>
            </a:r>
            <a:endParaRPr lang="ru-RU" sz="1600" dirty="0" smtClean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540385" algn="just">
              <a:spcAft>
                <a:spcPts val="600"/>
              </a:spcAft>
            </a:pP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инсон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фаолияти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турларини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чеклаш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зарур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бўлган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участкалар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чегаралари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ёки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масофалар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тўғрисидаги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маълумотлар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;</a:t>
            </a:r>
            <a:endParaRPr lang="ru-RU" sz="1600" dirty="0" smtClean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540385" algn="just">
              <a:spcAft>
                <a:spcPts val="600"/>
              </a:spcAft>
            </a:pP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одамларни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эвакуация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қилишни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ёки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кўчиришни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талаб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қиладиган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зоналар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тавсифи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;</a:t>
            </a:r>
            <a:endParaRPr lang="ru-RU" sz="1600" dirty="0" smtClean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540385" algn="just">
              <a:spcAft>
                <a:spcPts val="600"/>
              </a:spcAft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ТХЮЗ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ҳудудларидан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фойдаланишнинг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белгиланган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режими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ТХЮЗда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ишлаб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чиқариш-хўжалик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фаолиятининг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одамлар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яшаши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ва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бўлишининг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асосий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шарт-шароитлари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;</a:t>
            </a:r>
            <a:endParaRPr lang="ru-RU" sz="1600" dirty="0" smtClean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540385" algn="just">
              <a:spcAft>
                <a:spcPts val="600"/>
              </a:spcAft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ТХЮ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ҳодисалар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таъсирига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учраган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объектлар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ва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иншоотлар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ушбу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объектларнинг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бузилиши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ва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шикастланиши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даражаси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тўғрисидаги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маълумотлар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28513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408213" y="1250070"/>
            <a:ext cx="11454493" cy="39549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540385" algn="just">
              <a:spcAft>
                <a:spcPts val="600"/>
              </a:spcAft>
            </a:pPr>
            <a:r>
              <a:rPr lang="ru-RU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23.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ТХЮЗни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баҳолаш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ахборотлари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қуйидагилардан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иборат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бўлади</a:t>
            </a:r>
            <a:endParaRPr lang="ru-RU" sz="1600" dirty="0" smtClean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540385" algn="just">
              <a:spcAft>
                <a:spcPts val="600"/>
              </a:spcAft>
            </a:pP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ТХЮЗни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ўрганиш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бўйича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аэросуратга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олишлар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гидрометеорология,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муҳандислик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геология, сейсмик,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технологик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экологик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тадқиқотлар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ва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бошқа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ишлар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натижалари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тўғрисидаги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синовдан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ўтказилган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ҳисоботлар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;</a:t>
            </a:r>
            <a:endParaRPr lang="ru-RU" sz="1600" dirty="0" smtClean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540385" algn="just">
              <a:spcAft>
                <a:spcPts val="600"/>
              </a:spcAft>
            </a:pP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авариялар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хавфини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ва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рўй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бериши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мумкин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бўлган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фавқулодда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вазиятларни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баҳолаш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бўйича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хулосалар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;</a:t>
            </a:r>
            <a:endParaRPr lang="ru-RU" sz="1600" dirty="0" smtClean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540385" algn="just">
              <a:spcAft>
                <a:spcPts val="600"/>
              </a:spcAft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санитария-гигиена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шароитлари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тўғрисидаги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сув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ҳаво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ер,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ифлослантирувчи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(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зарарли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)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моддалар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концентрациялари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ҳолати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тўғрисидаги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маълумотлар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;</a:t>
            </a:r>
            <a:endParaRPr lang="ru-RU" sz="1600" dirty="0" smtClean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540385" algn="just">
              <a:spcAft>
                <a:spcPts val="600"/>
              </a:spcAft>
            </a:pP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фаолияти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ТХЮ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ҳодисалар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билан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боғлиқ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бўлган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корхоналар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томонидан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ТХЮЗни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идоравий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текширишлар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натижалари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бўйича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хулосалар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;</a:t>
            </a:r>
            <a:endParaRPr lang="ru-RU" sz="1600" dirty="0" smtClean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540385" algn="just">
              <a:spcAft>
                <a:spcPts val="600"/>
              </a:spcAft>
            </a:pP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ТХЮЗни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ўрганишган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(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текширишган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)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расмий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комиссиялар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ва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мутахассисларнинг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эксперт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хулосалари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;</a:t>
            </a:r>
            <a:endParaRPr lang="ru-RU" sz="1600" dirty="0" smtClean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540385" algn="just">
              <a:spcAft>
                <a:spcPts val="600"/>
              </a:spcAft>
            </a:pP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ТХЮЗдаги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ва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унинг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яқинидаги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ер,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сувдан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фойдаланиш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у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ерда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турли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мақсаддаги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объектларни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жойлаштириш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имкониятлари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тўғрисидаги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маълумотлар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;</a:t>
            </a:r>
            <a:endParaRPr lang="ru-RU" sz="1600" dirty="0" smtClean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540385" algn="just">
              <a:spcAft>
                <a:spcPts val="600"/>
              </a:spcAft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ТХЮ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ҳодисалар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етказган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зарар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тўғрисидаги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маълумотлар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85955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334735" y="1057883"/>
            <a:ext cx="11527972" cy="45550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540385" algn="just">
              <a:spcAft>
                <a:spcPts val="600"/>
              </a:spcAft>
            </a:pPr>
            <a:r>
              <a:rPr lang="ru-RU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24.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Ҳисобга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олиш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ва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баҳолаш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маълумотлари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ТХЮЗ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тўғрисидаги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кадастр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ахборотлари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йиғиндисидан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иборат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бўлади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у алфавит-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рақамли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(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матнлар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жадваллар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)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ва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чизма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(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хариталар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схемалар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)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кўринишида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тақдим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этилади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қоғоз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ва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/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ёки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электрон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манбаларда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белгиланган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намунадаги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кадастр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паспорти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шаклида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расмийлаштирилади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endParaRPr lang="ru-RU" sz="1600" dirty="0" smtClean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540385" algn="just">
              <a:spcAft>
                <a:spcPts val="600"/>
              </a:spcAft>
            </a:pPr>
            <a:r>
              <a:rPr lang="ru-RU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25.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ТХЮЗДКни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юритиш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кадастр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ахборотлари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узлуксиз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равишда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янгилаб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боришни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таъминловчи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асосий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(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бошланғич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)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ва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жорий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ҳисобга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олиш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(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рўйхатлар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)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турларидан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иборат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бўлади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ru-RU" sz="1600" dirty="0" smtClean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540385" algn="just">
              <a:spcAft>
                <a:spcPts val="600"/>
              </a:spcAft>
            </a:pPr>
            <a:r>
              <a:rPr lang="ru-RU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26.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ТХЮЗни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дастлабки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рўйхатдан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ўтказишда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(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рўйхатлар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тузишда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)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объектлар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идентификация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қилинади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уларнинг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миқдор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ва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сифат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тавсифлари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ТХЮ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ҳодисаларнинг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рўй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бериши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ва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таъсирлари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динамикаси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қайд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этилади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Объектларни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идентификация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қилиш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усуллари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ТХЮЗ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тавсифлари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таркиби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uz-Cyrl-UZ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Давергеодезкадастр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қўмитаси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билан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келишган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ҳолда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тегишли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ваколатли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органлар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томонидан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тасдиқланадиган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тегишли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норматив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ҳужжатлар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билан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белгиланади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Рўйхатдан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ўтказиш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ахборотлари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ва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бошқа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асосий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маълумотлар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кадастр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дафтарига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ёзилади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endParaRPr lang="ru-RU" sz="1600" dirty="0" smtClean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540385" algn="just">
              <a:spcAft>
                <a:spcPts val="600"/>
              </a:spcAft>
            </a:pPr>
            <a:r>
              <a:rPr lang="ru-RU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27.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Жорий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ҳисобга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олишда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бошланғич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ҳисобга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олишдан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кейин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рўй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берган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барча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ўзгаришлар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ва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ТХЮЗнинг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рўй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берган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янги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марказлари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қайд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этилади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Қайд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этилган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жорий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ўзгаришлар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кадастр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паспортига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ва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кадастр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дафтарига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киритилади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ҳамда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ТХЮЗДК КМ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ва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ТХЮЗДК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БКМга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берилади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ru-RU" sz="1600" dirty="0" smtClean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540385" algn="just">
              <a:spcAft>
                <a:spcPts val="600"/>
              </a:spcAft>
            </a:pPr>
            <a:r>
              <a:rPr lang="ru-RU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28.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ТХЮЗ кадастр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ахборотларининг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ишончлилиги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учун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ТХЮЗДКни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юритиш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зиммасига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юкланган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ТХЮЗ КМ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ва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ТХЮЗ БКМ,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объектлардан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фойдаланувчи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ташкилотларнинг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мансабдор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шахслари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жавоб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берадилар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844277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77801" y="252992"/>
            <a:ext cx="11802533" cy="63709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540385" algn="just">
              <a:spcAft>
                <a:spcPts val="600"/>
              </a:spcAft>
            </a:pPr>
            <a:r>
              <a:rPr lang="ru-RU" b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1.</a:t>
            </a:r>
            <a:r>
              <a:rPr lang="ru-RU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Низомнинг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>
                <a:solidFill>
                  <a:srgbClr val="00808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5-бандида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кўрсатилган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объектлардан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фойдаланувчи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ташкилотлар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ўз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объектлари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бўйича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кадастр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ахборотларини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тўплайдилар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ва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уларни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тегишли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ваколатли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идораларга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берадилар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endParaRPr lang="ru-RU" sz="1600" dirty="0" smtClean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540385" algn="just">
              <a:spcAft>
                <a:spcPts val="600"/>
              </a:spcAft>
            </a:pPr>
            <a:r>
              <a:rPr lang="ru-RU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2.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Ваколатли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идоралар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Фавқулодда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вазиятлар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вазирлигининг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Техноген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хавф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юқори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бўлган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зоналарнинг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кадастр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маркази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uz-Cyrl-UZ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Фавқулодда вазиятлар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вазирлигининг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Давлат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ёнғин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хавфсизлиги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хизмати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Соғлиқни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сақлаш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вазирлигининг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Давлат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санитария-эпидемиология республика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маркази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Фанлар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академиясининг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Ядро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физикаси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институти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республика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бўйича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ТХЮЗ кадастр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ахборотларини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тўплайдилар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ва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уларни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ТХЮЗДКни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юритиш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бўйича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бош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идорага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—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Саноат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хавфсизлиги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давлат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қўмитасига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берадилар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ru-RU" sz="1600" dirty="0" smtClean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540385" algn="just">
              <a:spcAft>
                <a:spcPts val="600"/>
              </a:spcAft>
            </a:pPr>
            <a:r>
              <a:rPr lang="ru-RU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3.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ТХЮЗДКни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юритиш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бўйича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бош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идора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—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Саноат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хавфсизлиги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давлат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қўмитаси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ТХЮЗ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объектлари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бўйича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кадастр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ахборотларини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uz-Cyrl-UZ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Давергеодезкадастр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қўмитасининг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ДКЯТ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маълумотлар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базасига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беради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ru-RU" sz="1600" dirty="0" smtClean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540385" algn="just">
              <a:spcAft>
                <a:spcPts val="600"/>
              </a:spcAft>
            </a:pPr>
            <a:r>
              <a:rPr lang="ru-RU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4.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Саноат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хавфсизлиги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давлат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қўмитасининг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бош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идораси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сўров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бўйича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uz-Cyrl-UZ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Давергеодезкадастр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қўмитасининг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ДКЯТ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маълумотлар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базасидан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ТХЮЗ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бўйича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ахборотларни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олиши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мумкин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endParaRPr lang="ru-RU" sz="1600" dirty="0" smtClean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540385" algn="just">
              <a:spcAft>
                <a:spcPts val="600"/>
              </a:spcAft>
            </a:pPr>
            <a:r>
              <a:rPr lang="ru-RU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5.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Ваколатли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идоралар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—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Фавқулодда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вазиятлар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вазирлигининг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Техноген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хавф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юқори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бўлган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зоналарнинг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кадастр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маркази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uz-Cyrl-UZ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Фавқулодда вазиятлар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вазирлигининг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Давлат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ёнғин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хавфсизлиги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хизмати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Ички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ишлар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вазирлигининг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Давлат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ёнғин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хавфсизлиги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хизмати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Соғлиқни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сақлаш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вазирлигининг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Давлат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санитария-эпидемиология республика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маркази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Фанлар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академиясининг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Ядро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физикаси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институти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сўров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бўйича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Саноат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хавфсизлиги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давлат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қўмитасининг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бош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идораси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орқали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uz-Cyrl-UZ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Давергеодезкадастр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қўмитасининг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ДКЯТ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маълумотлар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базасидан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ТХЮЗ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бўйича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ахборотларни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олиши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мумкин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endParaRPr lang="ru-RU" sz="1600" dirty="0" smtClean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540385" algn="just">
              <a:spcAft>
                <a:spcPts val="600"/>
              </a:spcAft>
            </a:pPr>
            <a:r>
              <a:rPr lang="ru-RU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6.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Низомнинг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>
                <a:solidFill>
                  <a:srgbClr val="00808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5-бандида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кўрсатилган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хавфли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ишлаб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чиқариш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объектларидан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фойдаланувчи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ташкилотлар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сўров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бўйича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uz-Cyrl-UZ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Давергеодезкадастр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қўмитасининг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ДКЯТ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маълумотлар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базасидан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ТХЮЗ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бўйича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ахборотларни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олиши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мумкин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endParaRPr lang="ru-RU" sz="1600" dirty="0" smtClean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540385" algn="just">
              <a:spcAft>
                <a:spcPts val="600"/>
              </a:spcAft>
            </a:pPr>
            <a:r>
              <a:rPr lang="ru-RU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7.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ДКЯТдан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фойдаланувчилар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сўров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бўйича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uz-Cyrl-UZ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Давергеодезкадастр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қўмитасининг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ДКЯТ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маълумотлар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базасидан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ТХЮЗ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бўйича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кадастр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ахборотларини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олиши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мумкин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466873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2571</Words>
  <Application>Microsoft Office PowerPoint</Application>
  <PresentationFormat>Широкоэкранный</PresentationFormat>
  <Paragraphs>272</Paragraphs>
  <Slides>23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23</vt:i4>
      </vt:variant>
    </vt:vector>
  </HeadingPairs>
  <TitlesOfParts>
    <vt:vector size="28" baseType="lpstr">
      <vt:lpstr>Arial</vt:lpstr>
      <vt:lpstr>Calibri</vt:lpstr>
      <vt:lpstr>Calibri Light</vt:lpstr>
      <vt:lpstr>Times New Roman</vt:lpstr>
      <vt:lpstr>Тема Office</vt:lpstr>
      <vt:lpstr>Ўзбекистон Республикаси  Саноат хавфсизлиги давлат қўмитаси 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Техноген хавф юқори бўлган зоналар (ТХЮЗ)га эга корхоналар ва объектлар тўғрисида маълумотлар жадвали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Hewlett-Packard 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amirov qodirjon</dc:creator>
  <cp:lastModifiedBy>amirov qodirjon</cp:lastModifiedBy>
  <cp:revision>38</cp:revision>
  <dcterms:created xsi:type="dcterms:W3CDTF">2019-08-28T09:32:19Z</dcterms:created>
  <dcterms:modified xsi:type="dcterms:W3CDTF">2020-09-08T14:40:59Z</dcterms:modified>
</cp:coreProperties>
</file>
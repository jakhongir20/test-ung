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84" r:id="rId9"/>
    <p:sldId id="263" r:id="rId10"/>
    <p:sldId id="264" r:id="rId11"/>
    <p:sldId id="265" r:id="rId12"/>
    <p:sldId id="266" r:id="rId13"/>
    <p:sldId id="267" r:id="rId14"/>
    <p:sldId id="269" r:id="rId15"/>
    <p:sldId id="283" r:id="rId16"/>
    <p:sldId id="270" r:id="rId17"/>
    <p:sldId id="271" r:id="rId18"/>
    <p:sldId id="272" r:id="rId19"/>
    <p:sldId id="282" r:id="rId20"/>
    <p:sldId id="273" r:id="rId21"/>
    <p:sldId id="274" r:id="rId22"/>
    <p:sldId id="275" r:id="rId23"/>
    <p:sldId id="276" r:id="rId24"/>
    <p:sldId id="277" r:id="rId25"/>
    <p:sldId id="278" r:id="rId26"/>
    <p:sldId id="279" r:id="rId27"/>
    <p:sldId id="280" r:id="rId28"/>
    <p:sldId id="281" r:id="rId29"/>
  </p:sldIdLst>
  <p:sldSz cx="9144000" cy="6858000" type="screen4x3"/>
  <p:notesSz cx="6735763" cy="9866313"/>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F6D9"/>
    <a:srgbClr val="163C46"/>
    <a:srgbClr val="401B5B"/>
    <a:srgbClr val="660066"/>
    <a:srgbClr val="FFFF00"/>
    <a:srgbClr val="FFCC00"/>
    <a:srgbClr val="FFE3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315" autoAdjust="0"/>
  </p:normalViewPr>
  <p:slideViewPr>
    <p:cSldViewPr>
      <p:cViewPr varScale="1">
        <p:scale>
          <a:sx n="108" d="100"/>
          <a:sy n="108" d="100"/>
        </p:scale>
        <p:origin x="170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0C053729-30F6-499B-844B-007E6391A3E8}" type="datetimeFigureOut">
              <a:rPr lang="en-US"/>
              <a:pPr>
                <a:defRPr/>
              </a:pPr>
              <a:t>11/22/2022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1D227AD-D19A-40C1-9FA0-7E89BC32294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17C50B4-3DF7-4F8C-B856-9A9239433AB1}" type="datetimeFigureOut">
              <a:rPr lang="en-US"/>
              <a:pPr>
                <a:defRPr/>
              </a:pPr>
              <a:t>11/22/2022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0C3898D-4AB6-4668-8643-AB1B3BC01F53}"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7D49522-834F-4D38-A46B-24E64C2BD0E9}" type="datetimeFigureOut">
              <a:rPr lang="en-US"/>
              <a:pPr>
                <a:defRPr/>
              </a:pPr>
              <a:t>11/22/2022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B622108-9DEC-4336-AEFD-F5F9F6749FE0}"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86FE057F-AFCE-493D-93E1-CE8042EC7227}" type="datetimeFigureOut">
              <a:rPr lang="en-US"/>
              <a:pPr>
                <a:defRPr/>
              </a:pPr>
              <a:t>11/22/2022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9ECEB89-F8EB-4B27-8FB0-AFB7D177E31D}"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25AE6608-EC1B-4903-A7EB-B3636EBC89F9}" type="datetimeFigureOut">
              <a:rPr lang="en-US"/>
              <a:pPr>
                <a:defRPr/>
              </a:pPr>
              <a:t>11/22/2022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3D524B0D-A26F-4D8E-ABE0-EEAB183527D7}"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75A7A632-EE69-41E4-A42A-DC4DEDB99409}" type="datetimeFigureOut">
              <a:rPr lang="en-US"/>
              <a:pPr>
                <a:defRPr/>
              </a:pPr>
              <a:t>11/22/2022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6E841A5-8824-4364-8C6A-C45CC607EF40}"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7CAA6E1-C83C-4A0B-89C8-C8FB21D70177}" type="datetimeFigureOut">
              <a:rPr lang="en-US"/>
              <a:pPr>
                <a:defRPr/>
              </a:pPr>
              <a:t>11/22/2022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D43F4784-C9CE-4DFB-9748-B2041035D345}"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082B9CA-8167-47A2-88C5-E156EC9EE292}" type="datetimeFigureOut">
              <a:rPr lang="en-US"/>
              <a:pPr>
                <a:defRPr/>
              </a:pPr>
              <a:t>11/22/2022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22765E4-5749-462C-95A1-F22E01E7F48D}"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C1C92B0D-F620-4F34-A910-FFF61BF948F7}" type="datetimeFigureOut">
              <a:rPr lang="en-US"/>
              <a:pPr>
                <a:defRPr/>
              </a:pPr>
              <a:t>11/22/2022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3EB98D4-9AF5-49AD-9A48-5BA33C4A2923}"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B6C0F58-20C1-450E-98D7-7EE4B884FA02}" type="datetimeFigureOut">
              <a:rPr lang="en-US"/>
              <a:pPr>
                <a:defRPr/>
              </a:pPr>
              <a:t>11/22/2022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1DB01AA-E0D8-4C08-83BC-FD4D356B70D0}"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add title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B0333D3-08F7-49D5-A855-784C0575C12C}" type="datetimeFigureOut">
              <a:rPr lang="en-US"/>
              <a:pPr>
                <a:defRPr/>
              </a:pPr>
              <a:t>11/22/2022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1671E6A-6962-45BD-932D-84C5A17C334C}"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A5F3C661-D2B1-4E28-8F17-0302D338CFD8}" type="datetimeFigureOut">
              <a:rPr lang="en-US"/>
              <a:pPr>
                <a:defRPr/>
              </a:pPr>
              <a:t>11/22/2022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E834D4D0-87F4-4CE5-BA4C-A33C188748D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0" fontAlgn="base" hangingPunct="0">
        <a:spcBef>
          <a:spcPct val="0"/>
        </a:spcBef>
        <a:spcAft>
          <a:spcPct val="0"/>
        </a:spcAft>
        <a:defRPr sz="4400">
          <a:solidFill>
            <a:schemeClr val="tx1"/>
          </a:solidFill>
          <a:latin typeface="Calibri" pitchFamily="34" charset="0"/>
        </a:defRPr>
      </a:lvl6pPr>
      <a:lvl7pPr marL="914400" algn="ctr" rtl="0" eaLnBrk="0" fontAlgn="base" hangingPunct="0">
        <a:spcBef>
          <a:spcPct val="0"/>
        </a:spcBef>
        <a:spcAft>
          <a:spcPct val="0"/>
        </a:spcAft>
        <a:defRPr sz="4400">
          <a:solidFill>
            <a:schemeClr val="tx1"/>
          </a:solidFill>
          <a:latin typeface="Calibri" pitchFamily="34" charset="0"/>
        </a:defRPr>
      </a:lvl7pPr>
      <a:lvl8pPr marL="1371600" algn="ctr" rtl="0" eaLnBrk="0" fontAlgn="base" hangingPunct="0">
        <a:spcBef>
          <a:spcPct val="0"/>
        </a:spcBef>
        <a:spcAft>
          <a:spcPct val="0"/>
        </a:spcAft>
        <a:defRPr sz="4400">
          <a:solidFill>
            <a:schemeClr val="tx1"/>
          </a:solidFill>
          <a:latin typeface="Calibri" pitchFamily="34" charset="0"/>
        </a:defRPr>
      </a:lvl8pPr>
      <a:lvl9pPr marL="1828800" algn="ctr" rtl="0" eaLnBrk="0" fontAlgn="base" hangingPunct="0">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latinLnBrk="0">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latinLnBrk="0">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latinLnBrk="0">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latinLnBrk="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latinLnBrk="0">
        <a:defRPr sz="1800" kern="1200">
          <a:solidFill>
            <a:schemeClr val="tx1"/>
          </a:solidFill>
          <a:latin typeface="+mn-lt"/>
          <a:ea typeface="+mn-ea"/>
          <a:cs typeface="+mn-cs"/>
        </a:defRPr>
      </a:lvl1pPr>
      <a:lvl2pPr marL="457200" algn="l" defTabSz="914400" rtl="0" latinLnBrk="0">
        <a:defRPr sz="1800" kern="1200">
          <a:solidFill>
            <a:schemeClr val="tx1"/>
          </a:solidFill>
          <a:latin typeface="+mn-lt"/>
          <a:ea typeface="+mn-ea"/>
          <a:cs typeface="+mn-cs"/>
        </a:defRPr>
      </a:lvl2pPr>
      <a:lvl3pPr marL="914400" algn="l" defTabSz="914400" rtl="0" latinLnBrk="0">
        <a:defRPr sz="1800" kern="1200">
          <a:solidFill>
            <a:schemeClr val="tx1"/>
          </a:solidFill>
          <a:latin typeface="+mn-lt"/>
          <a:ea typeface="+mn-ea"/>
          <a:cs typeface="+mn-cs"/>
        </a:defRPr>
      </a:lvl3pPr>
      <a:lvl4pPr marL="1371600" algn="l" defTabSz="914400" rtl="0" latinLnBrk="0">
        <a:defRPr sz="1800" kern="1200">
          <a:solidFill>
            <a:schemeClr val="tx1"/>
          </a:solidFill>
          <a:latin typeface="+mn-lt"/>
          <a:ea typeface="+mn-ea"/>
          <a:cs typeface="+mn-cs"/>
        </a:defRPr>
      </a:lvl4pPr>
      <a:lvl5pPr marL="1828800" algn="l" defTabSz="914400" rtl="0" latinLnBrk="0">
        <a:defRPr sz="1800" kern="1200">
          <a:solidFill>
            <a:schemeClr val="tx1"/>
          </a:solidFill>
          <a:latin typeface="+mn-lt"/>
          <a:ea typeface="+mn-ea"/>
          <a:cs typeface="+mn-cs"/>
        </a:defRPr>
      </a:lvl5pPr>
      <a:lvl6pPr marL="2286000" algn="l" defTabSz="914400" rtl="0" latinLnBrk="0">
        <a:defRPr sz="1800" kern="1200">
          <a:solidFill>
            <a:schemeClr val="tx1"/>
          </a:solidFill>
          <a:latin typeface="+mn-lt"/>
          <a:ea typeface="+mn-ea"/>
          <a:cs typeface="+mn-cs"/>
        </a:defRPr>
      </a:lvl6pPr>
      <a:lvl7pPr marL="2743200" algn="l" defTabSz="914400" rtl="0" latinLnBrk="0">
        <a:defRPr sz="1800" kern="1200">
          <a:solidFill>
            <a:schemeClr val="tx1"/>
          </a:solidFill>
          <a:latin typeface="+mn-lt"/>
          <a:ea typeface="+mn-ea"/>
          <a:cs typeface="+mn-cs"/>
        </a:defRPr>
      </a:lvl7pPr>
      <a:lvl8pPr marL="3200400" algn="l" defTabSz="914400" rtl="0" latinLnBrk="0">
        <a:defRPr sz="1800" kern="1200">
          <a:solidFill>
            <a:schemeClr val="tx1"/>
          </a:solidFill>
          <a:latin typeface="+mn-lt"/>
          <a:ea typeface="+mn-ea"/>
          <a:cs typeface="+mn-cs"/>
        </a:defRPr>
      </a:lvl8pPr>
      <a:lvl9pPr marL="3657600" algn="l" defTabSz="914400" rtl="0" latinLnBrk="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jpeg"/></Relationships>
</file>

<file path=ppt/slides/_rels/slide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13314" name="Rectangle 1"/>
          <p:cNvSpPr>
            <a:spLocks noChangeArrowheads="1"/>
          </p:cNvSpPr>
          <p:nvPr/>
        </p:nvSpPr>
        <p:spPr bwMode="auto">
          <a:xfrm>
            <a:off x="2868459" y="304949"/>
            <a:ext cx="4248471" cy="461665"/>
          </a:xfrm>
          <a:prstGeom prst="rect">
            <a:avLst/>
          </a:prstGeom>
          <a:noFill/>
          <a:ln w="9525">
            <a:noFill/>
            <a:miter lim="800000"/>
            <a:headEnd/>
            <a:tailEnd/>
          </a:ln>
        </p:spPr>
        <p:txBody>
          <a:bodyPr wrap="none" anchor="ctr">
            <a:spAutoFit/>
          </a:bodyPr>
          <a:lstStyle/>
          <a:p>
            <a:pPr algn="ctr"/>
            <a:r>
              <a:rPr lang="uz-Cyrl-UZ" sz="2400" b="1" dirty="0">
                <a:solidFill>
                  <a:srgbClr val="002060"/>
                </a:solidFill>
                <a:latin typeface="Calibri" pitchFamily="34" charset="0"/>
                <a:ea typeface="Calibri" pitchFamily="34" charset="0"/>
                <a:cs typeface="Times New Roman" pitchFamily="18" charset="0"/>
              </a:rPr>
              <a:t>“</a:t>
            </a:r>
            <a:r>
              <a:rPr lang="uz-Cyrl-UZ" sz="2400" b="1" dirty="0">
                <a:solidFill>
                  <a:srgbClr val="002060"/>
                </a:solidFill>
                <a:latin typeface="Verdana" pitchFamily="34" charset="0"/>
                <a:ea typeface="Calibri" pitchFamily="34" charset="0"/>
                <a:cs typeface="Times New Roman" pitchFamily="18" charset="0"/>
              </a:rPr>
              <a:t>Ҳудудгазтаъминот</a:t>
            </a:r>
            <a:r>
              <a:rPr lang="uz-Cyrl-UZ" sz="2400" b="1" dirty="0">
                <a:solidFill>
                  <a:srgbClr val="002060"/>
                </a:solidFill>
                <a:latin typeface="Calibri" pitchFamily="34" charset="0"/>
                <a:ea typeface="Calibri" pitchFamily="34" charset="0"/>
                <a:cs typeface="Times New Roman" pitchFamily="18" charset="0"/>
              </a:rPr>
              <a:t>” АЖ</a:t>
            </a:r>
            <a:endParaRPr lang="uz-Cyrl-UZ" sz="2400" dirty="0">
              <a:solidFill>
                <a:srgbClr val="002060"/>
              </a:solidFill>
              <a:ea typeface="Calibri" pitchFamily="34" charset="0"/>
              <a:cs typeface="Arial" charset="0"/>
            </a:endParaRPr>
          </a:p>
        </p:txBody>
      </p:sp>
      <p:pic>
        <p:nvPicPr>
          <p:cNvPr id="13315" name="Рисунок 5" descr="C:\Users\eshankulov\Desktop\1450931967_443782_html_6aca8869.jpg"/>
          <p:cNvPicPr>
            <a:picLocks noChangeAspect="1" noChangeArrowheads="1"/>
          </p:cNvPicPr>
          <p:nvPr/>
        </p:nvPicPr>
        <p:blipFill>
          <a:blip r:embed="rId3"/>
          <a:srcRect/>
          <a:stretch>
            <a:fillRect/>
          </a:stretch>
        </p:blipFill>
        <p:spPr bwMode="auto">
          <a:xfrm>
            <a:off x="304800" y="2362200"/>
            <a:ext cx="2743200" cy="2819400"/>
          </a:xfrm>
          <a:prstGeom prst="rect">
            <a:avLst/>
          </a:prstGeom>
          <a:noFill/>
          <a:ln w="9525">
            <a:noFill/>
            <a:miter lim="800000"/>
            <a:headEnd/>
            <a:tailEnd/>
          </a:ln>
        </p:spPr>
      </p:pic>
      <p:sp>
        <p:nvSpPr>
          <p:cNvPr id="8" name="Овал 7"/>
          <p:cNvSpPr/>
          <p:nvPr/>
        </p:nvSpPr>
        <p:spPr>
          <a:xfrm>
            <a:off x="914400" y="2895600"/>
            <a:ext cx="1524000" cy="1905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dirty="0"/>
          </a:p>
        </p:txBody>
      </p:sp>
      <p:sp>
        <p:nvSpPr>
          <p:cNvPr id="13317" name="Прямоугольник 8"/>
          <p:cNvSpPr>
            <a:spLocks noChangeArrowheads="1"/>
          </p:cNvSpPr>
          <p:nvPr/>
        </p:nvSpPr>
        <p:spPr bwMode="auto">
          <a:xfrm>
            <a:off x="990600" y="3048000"/>
            <a:ext cx="1447800" cy="1323975"/>
          </a:xfrm>
          <a:prstGeom prst="rect">
            <a:avLst/>
          </a:prstGeom>
          <a:noFill/>
          <a:ln w="9525">
            <a:noFill/>
            <a:miter lim="800000"/>
            <a:headEnd/>
            <a:tailEnd/>
          </a:ln>
        </p:spPr>
        <p:txBody>
          <a:bodyPr>
            <a:spAutoFit/>
          </a:bodyPr>
          <a:lstStyle/>
          <a:p>
            <a:pPr algn="ctr"/>
            <a:r>
              <a:rPr lang="ru-RU" sz="1600" b="1">
                <a:solidFill>
                  <a:srgbClr val="FFFF00"/>
                </a:solidFill>
                <a:latin typeface="Calibri" pitchFamily="34" charset="0"/>
              </a:rPr>
              <a:t>Турмушда газдан фойдаланиш қоидаларига риоя қилинг!</a:t>
            </a:r>
          </a:p>
        </p:txBody>
      </p:sp>
      <p:sp>
        <p:nvSpPr>
          <p:cNvPr id="10" name="Прямоугольник 9"/>
          <p:cNvSpPr/>
          <p:nvPr/>
        </p:nvSpPr>
        <p:spPr>
          <a:xfrm>
            <a:off x="2895600" y="2667000"/>
            <a:ext cx="6019800" cy="1066800"/>
          </a:xfrm>
          <a:prstGeom prst="rect">
            <a:avLst/>
          </a:prstGeom>
        </p:spPr>
        <p:txBody>
          <a:bodyPr>
            <a:spAutoFit/>
          </a:bodyPr>
          <a:lstStyle/>
          <a:p>
            <a:pPr algn="ctr"/>
            <a:r>
              <a:rPr lang="uz-Cyrl-UZ" sz="3200" b="1">
                <a:solidFill>
                  <a:srgbClr val="002060"/>
                </a:solidFill>
                <a:effectLst>
                  <a:outerShdw blurRad="38100" dist="38100" dir="2700000" algn="tl">
                    <a:srgbClr val="C0C0C0"/>
                  </a:outerShdw>
                </a:effectLst>
                <a:latin typeface="Calibri" pitchFamily="34" charset="0"/>
              </a:rPr>
              <a:t>“ТУРМУШДА ГАЗДАН ХАВФСИЗ ФОЙДАЛАНИШ”</a:t>
            </a:r>
            <a:endParaRPr lang="ru-RU" sz="3200" b="1">
              <a:solidFill>
                <a:srgbClr val="002060"/>
              </a:solidFill>
              <a:effectLst>
                <a:outerShdw blurRad="38100" dist="38100" dir="2700000" algn="tl">
                  <a:srgbClr val="C0C0C0"/>
                </a:outerShdw>
              </a:effectLst>
              <a:latin typeface="Calibri" pitchFamily="34" charset="0"/>
            </a:endParaRPr>
          </a:p>
        </p:txBody>
      </p:sp>
      <p:sp>
        <p:nvSpPr>
          <p:cNvPr id="13319" name="Rectangle 2"/>
          <p:cNvSpPr>
            <a:spLocks noChangeArrowheads="1"/>
          </p:cNvSpPr>
          <p:nvPr/>
        </p:nvSpPr>
        <p:spPr bwMode="auto">
          <a:xfrm>
            <a:off x="2895600" y="4343400"/>
            <a:ext cx="5638800" cy="400050"/>
          </a:xfrm>
          <a:prstGeom prst="rect">
            <a:avLst/>
          </a:prstGeom>
          <a:noFill/>
          <a:ln w="9525">
            <a:noFill/>
            <a:miter lim="800000"/>
            <a:headEnd/>
            <a:tailEnd/>
          </a:ln>
        </p:spPr>
        <p:txBody>
          <a:bodyPr anchor="ctr">
            <a:spAutoFit/>
          </a:bodyPr>
          <a:lstStyle/>
          <a:p>
            <a:pPr indent="449263" algn="ctr"/>
            <a:r>
              <a:rPr lang="uz-Cyrl-UZ" sz="2000" i="1">
                <a:solidFill>
                  <a:srgbClr val="0070C0"/>
                </a:solidFill>
                <a:latin typeface="Verdana" pitchFamily="34" charset="0"/>
                <a:ea typeface="Calibri" pitchFamily="34" charset="0"/>
                <a:cs typeface="Times New Roman" pitchFamily="18" charset="0"/>
              </a:rPr>
              <a:t>Тарқатма материаллари</a:t>
            </a:r>
            <a:endParaRPr lang="uz-Cyrl-UZ" sz="2000" i="1">
              <a:solidFill>
                <a:srgbClr val="0070C0"/>
              </a:solidFill>
              <a:ea typeface="Calibri" pitchFamily="34" charset="0"/>
              <a:cs typeface="Arial" charset="0"/>
            </a:endParaRPr>
          </a:p>
        </p:txBody>
      </p:sp>
      <p:sp>
        <p:nvSpPr>
          <p:cNvPr id="13320" name="Rectangle 3"/>
          <p:cNvSpPr>
            <a:spLocks noChangeArrowheads="1"/>
          </p:cNvSpPr>
          <p:nvPr/>
        </p:nvSpPr>
        <p:spPr bwMode="auto">
          <a:xfrm>
            <a:off x="2286000" y="5867400"/>
            <a:ext cx="4343400" cy="338138"/>
          </a:xfrm>
          <a:prstGeom prst="rect">
            <a:avLst/>
          </a:prstGeom>
          <a:noFill/>
          <a:ln w="9525">
            <a:noFill/>
            <a:miter lim="800000"/>
            <a:headEnd/>
            <a:tailEnd/>
          </a:ln>
        </p:spPr>
        <p:txBody>
          <a:bodyPr anchor="ctr">
            <a:spAutoFit/>
          </a:bodyPr>
          <a:lstStyle/>
          <a:p>
            <a:pPr algn="ctr"/>
            <a:r>
              <a:rPr lang="uz-Cyrl-UZ" sz="1600" b="1" dirty="0">
                <a:cs typeface="Times New Roman" pitchFamily="18" charset="0"/>
              </a:rPr>
              <a:t>Тошкент</a:t>
            </a:r>
            <a:r>
              <a:rPr lang="uz-Cyrl-UZ" sz="1600" b="1" dirty="0">
                <a:latin typeface="Verdana" pitchFamily="34" charset="0"/>
                <a:ea typeface="Calibri" pitchFamily="34" charset="0"/>
                <a:cs typeface="Times New Roman" pitchFamily="18" charset="0"/>
              </a:rPr>
              <a:t> </a:t>
            </a:r>
            <a:r>
              <a:rPr lang="uz-Cyrl-UZ" sz="1600" b="1" dirty="0">
                <a:cs typeface="Times New Roman" pitchFamily="18" charset="0"/>
              </a:rPr>
              <a:t>шаҳри</a:t>
            </a:r>
            <a:r>
              <a:rPr lang="uz-Cyrl-UZ" sz="1600" b="1" dirty="0">
                <a:latin typeface="Verdana" pitchFamily="34" charset="0"/>
                <a:ea typeface="Calibri" pitchFamily="34" charset="0"/>
                <a:cs typeface="Times New Roman" pitchFamily="18" charset="0"/>
              </a:rPr>
              <a:t> </a:t>
            </a:r>
            <a:r>
              <a:rPr lang="uz-Cyrl-UZ" sz="1600" b="1" dirty="0">
                <a:latin typeface="Calibri" pitchFamily="34" charset="0"/>
                <a:ea typeface="Calibri" pitchFamily="34" charset="0"/>
                <a:cs typeface="Times New Roman" pitchFamily="18" charset="0"/>
              </a:rPr>
              <a:t>– </a:t>
            </a:r>
            <a:r>
              <a:rPr lang="uz-Cyrl-UZ" sz="1600" b="1" dirty="0">
                <a:cs typeface="Times New Roman" pitchFamily="18" charset="0"/>
              </a:rPr>
              <a:t>2022</a:t>
            </a:r>
            <a:r>
              <a:rPr lang="uz-Cyrl-UZ" sz="1600" b="1" dirty="0">
                <a:latin typeface="Verdana" pitchFamily="34" charset="0"/>
              </a:rPr>
              <a:t> й</a:t>
            </a:r>
            <a:r>
              <a:rPr lang="uz-Cyrl-UZ" sz="1600" dirty="0">
                <a:latin typeface="Verdana" pitchFamily="34" charset="0"/>
              </a:rPr>
              <a:t>.</a:t>
            </a:r>
            <a:endParaRPr lang="uz-Cyrl-UZ" dirty="0"/>
          </a:p>
        </p:txBody>
      </p:sp>
      <p:pic>
        <p:nvPicPr>
          <p:cNvPr id="13321" name="Picture 12" descr="https://lh5.ggpht.com/q-ZCHbyIpW8y6VEZG6ewP_1Pkf6B2lZf8V5q5Difm2kZABazNg_wi6yIHlWNr5qGpOZI=w300"/>
          <p:cNvPicPr>
            <a:picLocks noChangeAspect="1" noChangeArrowheads="1"/>
          </p:cNvPicPr>
          <p:nvPr/>
        </p:nvPicPr>
        <p:blipFill>
          <a:blip r:embed="rId4"/>
          <a:srcRect/>
          <a:stretch>
            <a:fillRect/>
          </a:stretch>
        </p:blipFill>
        <p:spPr bwMode="auto">
          <a:xfrm>
            <a:off x="3415683" y="1219200"/>
            <a:ext cx="990600" cy="990600"/>
          </a:xfrm>
          <a:prstGeom prst="rect">
            <a:avLst/>
          </a:prstGeom>
          <a:noFill/>
          <a:ln w="9525">
            <a:noFill/>
            <a:miter lim="800000"/>
            <a:headEnd/>
            <a:tailEnd/>
          </a:ln>
        </p:spPr>
      </p:pic>
      <p:pic>
        <p:nvPicPr>
          <p:cNvPr id="13322" name="Picture 20" descr="http://www.profi-forex.org/system/news/8/8/mvd_logo.jpg"/>
          <p:cNvPicPr>
            <a:picLocks noChangeAspect="1" noChangeArrowheads="1"/>
          </p:cNvPicPr>
          <p:nvPr/>
        </p:nvPicPr>
        <p:blipFill>
          <a:blip r:embed="rId5"/>
          <a:srcRect/>
          <a:stretch>
            <a:fillRect/>
          </a:stretch>
        </p:blipFill>
        <p:spPr bwMode="auto">
          <a:xfrm>
            <a:off x="4419600" y="1219200"/>
            <a:ext cx="838200" cy="990600"/>
          </a:xfrm>
          <a:prstGeom prst="rect">
            <a:avLst/>
          </a:prstGeom>
          <a:noFill/>
          <a:ln w="9525">
            <a:noFill/>
            <a:miter lim="800000"/>
            <a:headEnd/>
            <a:tailEnd/>
          </a:ln>
        </p:spPr>
      </p:pic>
      <p:pic>
        <p:nvPicPr>
          <p:cNvPr id="13323" name="Picture 18" descr="http://images.cmsmagazine.ru/klarnetCMSlocal/resized_images/clients/150/150/uploadj8mxh2ouzz.png"/>
          <p:cNvPicPr>
            <a:picLocks noChangeAspect="1" noChangeArrowheads="1"/>
          </p:cNvPicPr>
          <p:nvPr/>
        </p:nvPicPr>
        <p:blipFill>
          <a:blip r:embed="rId6"/>
          <a:srcRect/>
          <a:stretch>
            <a:fillRect/>
          </a:stretch>
        </p:blipFill>
        <p:spPr bwMode="auto">
          <a:xfrm>
            <a:off x="5334000" y="1219200"/>
            <a:ext cx="914400" cy="990600"/>
          </a:xfrm>
          <a:prstGeom prst="rect">
            <a:avLst/>
          </a:prstGeom>
          <a:noFill/>
          <a:ln w="9525">
            <a:noFill/>
            <a:miter lim="800000"/>
            <a:headEnd/>
            <a:tailEnd/>
          </a:ln>
        </p:spPr>
      </p:pic>
      <p:pic>
        <p:nvPicPr>
          <p:cNvPr id="13324" name="Picture 4" descr="C:\Users\eshankulov\Desktop\56f9193a00bdcхалк таълими вазирлиги эмблемаси.jpg"/>
          <p:cNvPicPr>
            <a:picLocks noChangeAspect="1" noChangeArrowheads="1"/>
          </p:cNvPicPr>
          <p:nvPr/>
        </p:nvPicPr>
        <p:blipFill>
          <a:blip r:embed="rId7"/>
          <a:srcRect/>
          <a:stretch>
            <a:fillRect/>
          </a:stretch>
        </p:blipFill>
        <p:spPr bwMode="auto">
          <a:xfrm>
            <a:off x="7315200" y="1219200"/>
            <a:ext cx="990600" cy="990600"/>
          </a:xfrm>
          <a:prstGeom prst="rect">
            <a:avLst/>
          </a:prstGeom>
          <a:noFill/>
          <a:ln w="9525">
            <a:noFill/>
            <a:miter lim="800000"/>
            <a:headEnd/>
            <a:tailEnd/>
          </a:ln>
        </p:spPr>
      </p:pic>
      <p:sp>
        <p:nvSpPr>
          <p:cNvPr id="17" name="Прямоугольник 16"/>
          <p:cNvSpPr/>
          <p:nvPr/>
        </p:nvSpPr>
        <p:spPr>
          <a:xfrm>
            <a:off x="152400" y="990600"/>
            <a:ext cx="3276600" cy="646331"/>
          </a:xfrm>
          <a:prstGeom prst="rect">
            <a:avLst/>
          </a:prstGeom>
        </p:spPr>
        <p:txBody>
          <a:bodyPr>
            <a:spAutoFit/>
          </a:bodyPr>
          <a:lstStyle/>
          <a:p>
            <a:pPr algn="ctr" fontAlgn="auto">
              <a:spcBef>
                <a:spcPts val="0"/>
              </a:spcBef>
              <a:spcAft>
                <a:spcPts val="0"/>
              </a:spcAft>
              <a:defRPr/>
            </a:pPr>
            <a:r>
              <a:rPr lang="uz-Cyrl-UZ" b="1" dirty="0">
                <a:solidFill>
                  <a:schemeClr val="tx2">
                    <a:lumMod val="90000"/>
                  </a:schemeClr>
                </a:solidFill>
                <a:latin typeface="Arial" pitchFamily="34" charset="0"/>
                <a:cs typeface="Arial" pitchFamily="34" charset="0"/>
              </a:rPr>
              <a:t>Асосий маърузачилар: А.Қаюмов</a:t>
            </a:r>
            <a:endParaRPr lang="ru-RU" b="1" dirty="0">
              <a:solidFill>
                <a:schemeClr val="tx2">
                  <a:lumMod val="90000"/>
                </a:schemeClr>
              </a:solidFill>
              <a:latin typeface="Arial" pitchFamily="34" charset="0"/>
              <a:cs typeface="Arial" pitchFamily="34" charset="0"/>
            </a:endParaRPr>
          </a:p>
        </p:txBody>
      </p:sp>
      <p:pic>
        <p:nvPicPr>
          <p:cNvPr id="13326" name="Picture 4" descr="C:\Users\eshankulov\Desktop\images.png"/>
          <p:cNvPicPr>
            <a:picLocks noChangeAspect="1" noChangeArrowheads="1"/>
          </p:cNvPicPr>
          <p:nvPr/>
        </p:nvPicPr>
        <p:blipFill>
          <a:blip r:embed="rId8"/>
          <a:srcRect/>
          <a:stretch>
            <a:fillRect/>
          </a:stretch>
        </p:blipFill>
        <p:spPr bwMode="auto">
          <a:xfrm>
            <a:off x="6324600" y="1219200"/>
            <a:ext cx="838200" cy="838200"/>
          </a:xfrm>
          <a:prstGeom prst="rect">
            <a:avLst/>
          </a:prstGeom>
          <a:noFill/>
          <a:ln w="9525">
            <a:noFill/>
            <a:miter lim="800000"/>
            <a:headEnd/>
            <a:tailEnd/>
          </a:ln>
        </p:spPr>
      </p:pic>
      <p:sp>
        <p:nvSpPr>
          <p:cNvPr id="13327" name="Прямоугольник 18"/>
          <p:cNvSpPr>
            <a:spLocks noChangeArrowheads="1"/>
          </p:cNvSpPr>
          <p:nvPr/>
        </p:nvSpPr>
        <p:spPr bwMode="auto">
          <a:xfrm>
            <a:off x="6096000" y="1981200"/>
            <a:ext cx="1295400" cy="307975"/>
          </a:xfrm>
          <a:prstGeom prst="rect">
            <a:avLst/>
          </a:prstGeom>
          <a:noFill/>
          <a:ln w="9525">
            <a:noFill/>
            <a:miter lim="800000"/>
            <a:headEnd/>
            <a:tailEnd/>
          </a:ln>
        </p:spPr>
        <p:txBody>
          <a:bodyPr>
            <a:spAutoFit/>
          </a:bodyPr>
          <a:lstStyle/>
          <a:p>
            <a:pPr algn="ctr"/>
            <a:r>
              <a:rPr lang="ru-RU" sz="700" b="1">
                <a:latin typeface="Calibri" pitchFamily="34" charset="0"/>
              </a:rPr>
              <a:t>Ўзбекистон Республикаси Соғлиқни сақлаш вазирлиги</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59" name="Прямоугольник 58"/>
          <p:cNvSpPr/>
          <p:nvPr/>
        </p:nvSpPr>
        <p:spPr>
          <a:xfrm>
            <a:off x="5486400" y="2895600"/>
            <a:ext cx="762000" cy="9144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44" name="Прямоугольник 43"/>
          <p:cNvSpPr/>
          <p:nvPr/>
        </p:nvSpPr>
        <p:spPr>
          <a:xfrm>
            <a:off x="4114800" y="2590800"/>
            <a:ext cx="762000" cy="1219200"/>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43" name="Минус 42"/>
          <p:cNvSpPr/>
          <p:nvPr/>
        </p:nvSpPr>
        <p:spPr>
          <a:xfrm>
            <a:off x="3429000" y="3124200"/>
            <a:ext cx="762000" cy="457200"/>
          </a:xfrm>
          <a:prstGeom prst="mathMinus">
            <a:avLst>
              <a:gd name="adj1" fmla="val 2352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14341" name="Заголовок 1"/>
          <p:cNvSpPr>
            <a:spLocks noGrp="1"/>
          </p:cNvSpPr>
          <p:nvPr>
            <p:ph type="title"/>
          </p:nvPr>
        </p:nvSpPr>
        <p:spPr>
          <a:xfrm>
            <a:off x="1524000" y="304800"/>
            <a:ext cx="7315200" cy="609600"/>
          </a:xfrm>
        </p:spPr>
        <p:txBody>
          <a:bodyPr/>
          <a:lstStyle/>
          <a:p>
            <a:pPr eaLnBrk="1" hangingPunct="1"/>
            <a:r>
              <a:rPr lang="uz-Cyrl-UZ" sz="2800" b="1" i="1">
                <a:solidFill>
                  <a:srgbClr val="002060"/>
                </a:solidFill>
              </a:rPr>
              <a:t>Газ хўжалигининг принципиал схемаси</a:t>
            </a:r>
            <a:endParaRPr lang="ru-RU" sz="2800" i="1">
              <a:solidFill>
                <a:srgbClr val="002060"/>
              </a:solidFill>
            </a:endParaRPr>
          </a:p>
        </p:txBody>
      </p:sp>
      <p:sp>
        <p:nvSpPr>
          <p:cNvPr id="7" name="Трапеция 6"/>
          <p:cNvSpPr/>
          <p:nvPr/>
        </p:nvSpPr>
        <p:spPr>
          <a:xfrm>
            <a:off x="990600" y="1371600"/>
            <a:ext cx="609600" cy="2514600"/>
          </a:xfrm>
          <a:prstGeom prst="trapezoid">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cxnSp>
        <p:nvCxnSpPr>
          <p:cNvPr id="9" name="Прямая соединительная линия 8"/>
          <p:cNvCxnSpPr/>
          <p:nvPr/>
        </p:nvCxnSpPr>
        <p:spPr>
          <a:xfrm flipV="1">
            <a:off x="457200" y="3810000"/>
            <a:ext cx="77724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p:cNvCxnSpPr/>
          <p:nvPr/>
        </p:nvCxnSpPr>
        <p:spPr>
          <a:xfrm rot="16200000" flipH="1">
            <a:off x="1104900" y="2247900"/>
            <a:ext cx="4572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Прямая соединительная линия 16"/>
          <p:cNvCxnSpPr/>
          <p:nvPr/>
        </p:nvCxnSpPr>
        <p:spPr>
          <a:xfrm rot="5400000">
            <a:off x="990600" y="2743200"/>
            <a:ext cx="5334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Прямая соединительная линия 19"/>
          <p:cNvCxnSpPr/>
          <p:nvPr/>
        </p:nvCxnSpPr>
        <p:spPr>
          <a:xfrm rot="16200000" flipH="1">
            <a:off x="1066800" y="3200400"/>
            <a:ext cx="533400" cy="533400"/>
          </a:xfrm>
          <a:prstGeom prst="line">
            <a:avLst/>
          </a:prstGeom>
        </p:spPr>
        <p:style>
          <a:lnRef idx="1">
            <a:schemeClr val="accent1"/>
          </a:lnRef>
          <a:fillRef idx="0">
            <a:schemeClr val="accent1"/>
          </a:fillRef>
          <a:effectRef idx="0">
            <a:schemeClr val="accent1"/>
          </a:effectRef>
          <a:fontRef idx="minor">
            <a:schemeClr val="tx1"/>
          </a:fontRef>
        </p:style>
      </p:cxnSp>
      <p:sp>
        <p:nvSpPr>
          <p:cNvPr id="22" name="Минус 21"/>
          <p:cNvSpPr/>
          <p:nvPr/>
        </p:nvSpPr>
        <p:spPr>
          <a:xfrm rot="16200000">
            <a:off x="304800" y="4191000"/>
            <a:ext cx="1981200" cy="304800"/>
          </a:xfrm>
          <a:prstGeom prst="mathMinus">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23" name="Минус 22"/>
          <p:cNvSpPr/>
          <p:nvPr/>
        </p:nvSpPr>
        <p:spPr>
          <a:xfrm>
            <a:off x="1143000" y="4495800"/>
            <a:ext cx="914400" cy="457200"/>
          </a:xfrm>
          <a:prstGeom prst="mathMinus">
            <a:avLst>
              <a:gd name="adj1" fmla="val 2352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24" name="Минус 23"/>
          <p:cNvSpPr/>
          <p:nvPr/>
        </p:nvSpPr>
        <p:spPr>
          <a:xfrm rot="5400000">
            <a:off x="990600" y="3810000"/>
            <a:ext cx="1981200" cy="457200"/>
          </a:xfrm>
          <a:prstGeom prst="mathMinus">
            <a:avLst>
              <a:gd name="adj1" fmla="val 2352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25" name="Минус 24"/>
          <p:cNvSpPr/>
          <p:nvPr/>
        </p:nvSpPr>
        <p:spPr>
          <a:xfrm>
            <a:off x="1828800" y="3124200"/>
            <a:ext cx="609600" cy="457200"/>
          </a:xfrm>
          <a:prstGeom prst="mathMinus">
            <a:avLst>
              <a:gd name="adj1" fmla="val 2352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26" name="Прямоугольник 25"/>
          <p:cNvSpPr/>
          <p:nvPr/>
        </p:nvSpPr>
        <p:spPr>
          <a:xfrm>
            <a:off x="2362200" y="2971800"/>
            <a:ext cx="533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cxnSp>
        <p:nvCxnSpPr>
          <p:cNvPr id="28" name="Прямая соединительная линия 27"/>
          <p:cNvCxnSpPr/>
          <p:nvPr/>
        </p:nvCxnSpPr>
        <p:spPr>
          <a:xfrm rot="16200000" flipH="1">
            <a:off x="2171700" y="3162300"/>
            <a:ext cx="914400" cy="533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p:cNvCxnSpPr/>
          <p:nvPr/>
        </p:nvCxnSpPr>
        <p:spPr>
          <a:xfrm rot="5400000" flipH="1" flipV="1">
            <a:off x="2171700" y="3162300"/>
            <a:ext cx="914400" cy="533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Минус 38"/>
          <p:cNvSpPr/>
          <p:nvPr/>
        </p:nvSpPr>
        <p:spPr>
          <a:xfrm>
            <a:off x="2743200" y="3124200"/>
            <a:ext cx="609600" cy="457200"/>
          </a:xfrm>
          <a:prstGeom prst="mathMinus">
            <a:avLst>
              <a:gd name="adj1" fmla="val 2352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40" name="Минус 39"/>
          <p:cNvSpPr/>
          <p:nvPr/>
        </p:nvSpPr>
        <p:spPr>
          <a:xfrm rot="5400000">
            <a:off x="2209800" y="3810000"/>
            <a:ext cx="1981200" cy="457200"/>
          </a:xfrm>
          <a:prstGeom prst="mathMinus">
            <a:avLst>
              <a:gd name="adj1" fmla="val 2352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41" name="Минус 40"/>
          <p:cNvSpPr/>
          <p:nvPr/>
        </p:nvSpPr>
        <p:spPr>
          <a:xfrm>
            <a:off x="3048000" y="4572000"/>
            <a:ext cx="685800" cy="457200"/>
          </a:xfrm>
          <a:prstGeom prst="mathMinus">
            <a:avLst>
              <a:gd name="adj1" fmla="val 2352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42" name="Минус 41"/>
          <p:cNvSpPr/>
          <p:nvPr/>
        </p:nvSpPr>
        <p:spPr>
          <a:xfrm rot="5400000">
            <a:off x="2590800" y="3886200"/>
            <a:ext cx="1981200" cy="457200"/>
          </a:xfrm>
          <a:prstGeom prst="mathMinus">
            <a:avLst>
              <a:gd name="adj1" fmla="val 2352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cxnSp>
        <p:nvCxnSpPr>
          <p:cNvPr id="46" name="Прямая соединительная линия 45"/>
          <p:cNvCxnSpPr/>
          <p:nvPr/>
        </p:nvCxnSpPr>
        <p:spPr>
          <a:xfrm rot="5400000" flipH="1" flipV="1">
            <a:off x="3886200" y="2133600"/>
            <a:ext cx="685800" cy="533400"/>
          </a:xfrm>
          <a:prstGeom prst="line">
            <a:avLst/>
          </a:prstGeom>
          <a:ln w="317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7" name="Прямая соединительная линия 46"/>
          <p:cNvCxnSpPr/>
          <p:nvPr/>
        </p:nvCxnSpPr>
        <p:spPr>
          <a:xfrm rot="16200000" flipH="1">
            <a:off x="4419600" y="2133600"/>
            <a:ext cx="685800" cy="533400"/>
          </a:xfrm>
          <a:prstGeom prst="line">
            <a:avLst/>
          </a:prstGeom>
          <a:ln w="31750">
            <a:solidFill>
              <a:srgbClr val="00B050"/>
            </a:solidFill>
          </a:ln>
        </p:spPr>
        <p:style>
          <a:lnRef idx="1">
            <a:schemeClr val="accent1"/>
          </a:lnRef>
          <a:fillRef idx="0">
            <a:schemeClr val="accent1"/>
          </a:fillRef>
          <a:effectRef idx="0">
            <a:schemeClr val="accent1"/>
          </a:effectRef>
          <a:fontRef idx="minor">
            <a:schemeClr val="tx1"/>
          </a:fontRef>
        </p:style>
      </p:cxnSp>
      <p:sp>
        <p:nvSpPr>
          <p:cNvPr id="27" name="Минус 26"/>
          <p:cNvSpPr/>
          <p:nvPr/>
        </p:nvSpPr>
        <p:spPr>
          <a:xfrm>
            <a:off x="4572000" y="3124200"/>
            <a:ext cx="457200" cy="457200"/>
          </a:xfrm>
          <a:prstGeom prst="mathMinus">
            <a:avLst>
              <a:gd name="adj1" fmla="val 2352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29" name="Минус 28"/>
          <p:cNvSpPr/>
          <p:nvPr/>
        </p:nvSpPr>
        <p:spPr>
          <a:xfrm rot="5400000">
            <a:off x="4038600" y="3810000"/>
            <a:ext cx="1981200" cy="457200"/>
          </a:xfrm>
          <a:prstGeom prst="mathMinus">
            <a:avLst>
              <a:gd name="adj1" fmla="val 2352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cxnSp>
        <p:nvCxnSpPr>
          <p:cNvPr id="30" name="Прямая соединительная линия 29"/>
          <p:cNvCxnSpPr/>
          <p:nvPr/>
        </p:nvCxnSpPr>
        <p:spPr>
          <a:xfrm>
            <a:off x="4114800" y="3352800"/>
            <a:ext cx="304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p:cNvCxnSpPr/>
          <p:nvPr/>
        </p:nvCxnSpPr>
        <p:spPr>
          <a:xfrm rot="5400000" flipH="1" flipV="1">
            <a:off x="4076700" y="3162300"/>
            <a:ext cx="228600" cy="1524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Прямая соединительная линия 34"/>
          <p:cNvCxnSpPr>
            <a:stCxn id="43" idx="0"/>
          </p:cNvCxnSpPr>
          <p:nvPr/>
        </p:nvCxnSpPr>
        <p:spPr>
          <a:xfrm>
            <a:off x="4089400" y="3352800"/>
            <a:ext cx="177800" cy="2286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Прямая соединительная линия 44"/>
          <p:cNvCxnSpPr/>
          <p:nvPr/>
        </p:nvCxnSpPr>
        <p:spPr>
          <a:xfrm flipV="1">
            <a:off x="4343400" y="3200400"/>
            <a:ext cx="228600" cy="1524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Прямая соединительная линия 48"/>
          <p:cNvCxnSpPr/>
          <p:nvPr/>
        </p:nvCxnSpPr>
        <p:spPr>
          <a:xfrm rot="16200000" flipH="1">
            <a:off x="4305300" y="3390900"/>
            <a:ext cx="228600" cy="152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Минус 55"/>
          <p:cNvSpPr/>
          <p:nvPr/>
        </p:nvSpPr>
        <p:spPr>
          <a:xfrm>
            <a:off x="4876800" y="4495800"/>
            <a:ext cx="609600" cy="457200"/>
          </a:xfrm>
          <a:prstGeom prst="mathMinus">
            <a:avLst>
              <a:gd name="adj1" fmla="val 2352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57" name="Минус 56"/>
          <p:cNvSpPr/>
          <p:nvPr/>
        </p:nvSpPr>
        <p:spPr>
          <a:xfrm rot="5400000">
            <a:off x="4343400" y="3810000"/>
            <a:ext cx="1981200" cy="457200"/>
          </a:xfrm>
          <a:prstGeom prst="mathMinus">
            <a:avLst>
              <a:gd name="adj1" fmla="val 2352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58" name="Минус 57"/>
          <p:cNvSpPr/>
          <p:nvPr/>
        </p:nvSpPr>
        <p:spPr>
          <a:xfrm>
            <a:off x="5181600" y="3124200"/>
            <a:ext cx="609600" cy="457200"/>
          </a:xfrm>
          <a:prstGeom prst="mathMinus">
            <a:avLst>
              <a:gd name="adj1" fmla="val 2352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cxnSp>
        <p:nvCxnSpPr>
          <p:cNvPr id="60" name="Прямая соединительная линия 59"/>
          <p:cNvCxnSpPr/>
          <p:nvPr/>
        </p:nvCxnSpPr>
        <p:spPr>
          <a:xfrm rot="5400000">
            <a:off x="6057900" y="2705100"/>
            <a:ext cx="382588"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Прямая соединительная линия 61"/>
          <p:cNvCxnSpPr/>
          <p:nvPr/>
        </p:nvCxnSpPr>
        <p:spPr>
          <a:xfrm rot="10800000" flipV="1">
            <a:off x="5257800" y="2514600"/>
            <a:ext cx="9906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Минус 71"/>
          <p:cNvSpPr/>
          <p:nvPr/>
        </p:nvSpPr>
        <p:spPr>
          <a:xfrm>
            <a:off x="5791200" y="3124200"/>
            <a:ext cx="609600" cy="457200"/>
          </a:xfrm>
          <a:prstGeom prst="mathMinus">
            <a:avLst>
              <a:gd name="adj1" fmla="val 23520"/>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73" name="Минус 72"/>
          <p:cNvSpPr/>
          <p:nvPr/>
        </p:nvSpPr>
        <p:spPr>
          <a:xfrm rot="5400000">
            <a:off x="5410200" y="3810000"/>
            <a:ext cx="1981200" cy="457200"/>
          </a:xfrm>
          <a:prstGeom prst="mathMinus">
            <a:avLst>
              <a:gd name="adj1" fmla="val 23520"/>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74" name="Овал 73"/>
          <p:cNvSpPr/>
          <p:nvPr/>
        </p:nvSpPr>
        <p:spPr>
          <a:xfrm>
            <a:off x="5562600" y="3200400"/>
            <a:ext cx="457200" cy="304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75" name="Минус 74"/>
          <p:cNvSpPr/>
          <p:nvPr/>
        </p:nvSpPr>
        <p:spPr>
          <a:xfrm>
            <a:off x="6324600" y="4495800"/>
            <a:ext cx="533400" cy="457200"/>
          </a:xfrm>
          <a:prstGeom prst="mathMinus">
            <a:avLst>
              <a:gd name="adj1" fmla="val 23520"/>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76" name="Прямоугольник 75"/>
          <p:cNvSpPr/>
          <p:nvPr/>
        </p:nvSpPr>
        <p:spPr>
          <a:xfrm>
            <a:off x="6705600" y="44196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cxnSp>
        <p:nvCxnSpPr>
          <p:cNvPr id="77" name="Прямая соединительная линия 76"/>
          <p:cNvCxnSpPr/>
          <p:nvPr/>
        </p:nvCxnSpPr>
        <p:spPr>
          <a:xfrm rot="16200000" flipH="1">
            <a:off x="6629400" y="4495800"/>
            <a:ext cx="533400" cy="381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Прямая соединительная линия 78"/>
          <p:cNvCxnSpPr/>
          <p:nvPr/>
        </p:nvCxnSpPr>
        <p:spPr>
          <a:xfrm rot="5400000">
            <a:off x="6629400" y="4495800"/>
            <a:ext cx="533400" cy="381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Прямая соединительная линия 99"/>
          <p:cNvCxnSpPr>
            <a:stCxn id="76" idx="3"/>
          </p:cNvCxnSpPr>
          <p:nvPr/>
        </p:nvCxnSpPr>
        <p:spPr>
          <a:xfrm flipV="1">
            <a:off x="7086600" y="4648200"/>
            <a:ext cx="304800" cy="38100"/>
          </a:xfrm>
          <a:prstGeom prst="line">
            <a:avLst/>
          </a:prstGeom>
          <a:ln w="508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4" name="Прямая соединительная линия 103"/>
          <p:cNvCxnSpPr/>
          <p:nvPr/>
        </p:nvCxnSpPr>
        <p:spPr>
          <a:xfrm rot="5400000" flipH="1" flipV="1">
            <a:off x="6859588" y="4114800"/>
            <a:ext cx="1065212" cy="1588"/>
          </a:xfrm>
          <a:prstGeom prst="line">
            <a:avLst/>
          </a:prstGeom>
          <a:ln w="50800">
            <a:solidFill>
              <a:srgbClr val="FFC000"/>
            </a:solidFill>
          </a:ln>
        </p:spPr>
        <p:style>
          <a:lnRef idx="1">
            <a:schemeClr val="accent1"/>
          </a:lnRef>
          <a:fillRef idx="0">
            <a:schemeClr val="accent1"/>
          </a:fillRef>
          <a:effectRef idx="0">
            <a:schemeClr val="accent1"/>
          </a:effectRef>
          <a:fontRef idx="minor">
            <a:schemeClr val="tx1"/>
          </a:fontRef>
        </p:style>
      </p:cxnSp>
      <p:sp>
        <p:nvSpPr>
          <p:cNvPr id="106" name="Прямоугольник 105"/>
          <p:cNvSpPr/>
          <p:nvPr/>
        </p:nvSpPr>
        <p:spPr>
          <a:xfrm>
            <a:off x="7696200" y="1676400"/>
            <a:ext cx="838200" cy="2209800"/>
          </a:xfrm>
          <a:prstGeom prst="rect">
            <a:avLst/>
          </a:prstGeom>
          <a:solidFill>
            <a:srgbClr val="FFF6D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112" name="Прямоугольник 111"/>
          <p:cNvSpPr/>
          <p:nvPr/>
        </p:nvSpPr>
        <p:spPr>
          <a:xfrm>
            <a:off x="7620000" y="3352800"/>
            <a:ext cx="76200" cy="304800"/>
          </a:xfrm>
          <a:prstGeom prst="rect">
            <a:avLst/>
          </a:prstGeom>
          <a:solidFill>
            <a:srgbClr val="FFC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cxnSp>
        <p:nvCxnSpPr>
          <p:cNvPr id="113" name="Прямая соединительная линия 112"/>
          <p:cNvCxnSpPr>
            <a:endCxn id="112" idx="1"/>
          </p:cNvCxnSpPr>
          <p:nvPr/>
        </p:nvCxnSpPr>
        <p:spPr>
          <a:xfrm flipV="1">
            <a:off x="7391400" y="3505200"/>
            <a:ext cx="228600" cy="76200"/>
          </a:xfrm>
          <a:prstGeom prst="line">
            <a:avLst/>
          </a:prstGeom>
          <a:ln w="50800">
            <a:solidFill>
              <a:srgbClr val="FFCC00"/>
            </a:solidFill>
          </a:ln>
        </p:spPr>
        <p:style>
          <a:lnRef idx="1">
            <a:schemeClr val="accent1"/>
          </a:lnRef>
          <a:fillRef idx="0">
            <a:schemeClr val="accent1"/>
          </a:fillRef>
          <a:effectRef idx="0">
            <a:schemeClr val="accent1"/>
          </a:effectRef>
          <a:fontRef idx="minor">
            <a:schemeClr val="tx1"/>
          </a:fontRef>
        </p:style>
      </p:cxnSp>
      <p:cxnSp>
        <p:nvCxnSpPr>
          <p:cNvPr id="120" name="Прямая соединительная линия 119"/>
          <p:cNvCxnSpPr/>
          <p:nvPr/>
        </p:nvCxnSpPr>
        <p:spPr>
          <a:xfrm rot="16200000" flipH="1">
            <a:off x="8077200" y="1219200"/>
            <a:ext cx="533400" cy="533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Прямая соединительная линия 122"/>
          <p:cNvCxnSpPr/>
          <p:nvPr/>
        </p:nvCxnSpPr>
        <p:spPr>
          <a:xfrm rot="5400000">
            <a:off x="7581900" y="1257300"/>
            <a:ext cx="5334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2" name="Прямоугольник 131"/>
          <p:cNvSpPr/>
          <p:nvPr/>
        </p:nvSpPr>
        <p:spPr>
          <a:xfrm>
            <a:off x="8001000" y="2286000"/>
            <a:ext cx="228600" cy="304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133" name="Прямоугольник 132"/>
          <p:cNvSpPr/>
          <p:nvPr/>
        </p:nvSpPr>
        <p:spPr>
          <a:xfrm>
            <a:off x="8001000" y="2667000"/>
            <a:ext cx="228600" cy="304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134" name="Прямоугольник 133"/>
          <p:cNvSpPr/>
          <p:nvPr/>
        </p:nvSpPr>
        <p:spPr>
          <a:xfrm>
            <a:off x="8001000" y="3048000"/>
            <a:ext cx="228600" cy="304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cxnSp>
        <p:nvCxnSpPr>
          <p:cNvPr id="137" name="Прямая со стрелкой 136"/>
          <p:cNvCxnSpPr/>
          <p:nvPr/>
        </p:nvCxnSpPr>
        <p:spPr>
          <a:xfrm rot="5400000" flipH="1" flipV="1">
            <a:off x="838200" y="4800600"/>
            <a:ext cx="381000" cy="3810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6" name="Прямая со стрелкой 145"/>
          <p:cNvCxnSpPr/>
          <p:nvPr/>
        </p:nvCxnSpPr>
        <p:spPr>
          <a:xfrm rot="5400000" flipH="1" flipV="1">
            <a:off x="1334294" y="4990306"/>
            <a:ext cx="5334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8" name="Прямая со стрелкой 147"/>
          <p:cNvCxnSpPr/>
          <p:nvPr/>
        </p:nvCxnSpPr>
        <p:spPr>
          <a:xfrm rot="5400000" flipH="1" flipV="1">
            <a:off x="2401094" y="3999706"/>
            <a:ext cx="5334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9" name="Прямая со стрелкой 148"/>
          <p:cNvCxnSpPr/>
          <p:nvPr/>
        </p:nvCxnSpPr>
        <p:spPr>
          <a:xfrm rot="5400000" flipH="1" flipV="1">
            <a:off x="4077494" y="4152106"/>
            <a:ext cx="8382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1" name="Прямая со стрелкой 150"/>
          <p:cNvCxnSpPr/>
          <p:nvPr/>
        </p:nvCxnSpPr>
        <p:spPr>
          <a:xfrm rot="5400000" flipH="1" flipV="1">
            <a:off x="5372894" y="3923506"/>
            <a:ext cx="8382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2" name="Прямая со стрелкой 151"/>
          <p:cNvCxnSpPr/>
          <p:nvPr/>
        </p:nvCxnSpPr>
        <p:spPr>
          <a:xfrm rot="5400000" flipH="1" flipV="1">
            <a:off x="6592094" y="5295106"/>
            <a:ext cx="5334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7" name="Прямая со стрелкой 156"/>
          <p:cNvCxnSpPr/>
          <p:nvPr/>
        </p:nvCxnSpPr>
        <p:spPr>
          <a:xfrm>
            <a:off x="7010400" y="3429000"/>
            <a:ext cx="458788"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396" name="Прямоугольник 160"/>
          <p:cNvSpPr>
            <a:spLocks noChangeArrowheads="1"/>
          </p:cNvSpPr>
          <p:nvPr/>
        </p:nvSpPr>
        <p:spPr bwMode="auto">
          <a:xfrm>
            <a:off x="609600" y="5181600"/>
            <a:ext cx="301625" cy="369888"/>
          </a:xfrm>
          <a:prstGeom prst="rect">
            <a:avLst/>
          </a:prstGeom>
          <a:noFill/>
          <a:ln w="9525">
            <a:noFill/>
            <a:miter lim="800000"/>
            <a:headEnd/>
            <a:tailEnd/>
          </a:ln>
        </p:spPr>
        <p:txBody>
          <a:bodyPr wrap="none">
            <a:spAutoFit/>
          </a:bodyPr>
          <a:lstStyle/>
          <a:p>
            <a:r>
              <a:rPr lang="ru-RU">
                <a:latin typeface="Calibri" pitchFamily="34" charset="0"/>
              </a:rPr>
              <a:t>1</a:t>
            </a:r>
          </a:p>
        </p:txBody>
      </p:sp>
      <p:sp>
        <p:nvSpPr>
          <p:cNvPr id="14397" name="Прямоугольник 161"/>
          <p:cNvSpPr>
            <a:spLocks noChangeArrowheads="1"/>
          </p:cNvSpPr>
          <p:nvPr/>
        </p:nvSpPr>
        <p:spPr bwMode="auto">
          <a:xfrm>
            <a:off x="2514600" y="4267200"/>
            <a:ext cx="301625" cy="369888"/>
          </a:xfrm>
          <a:prstGeom prst="rect">
            <a:avLst/>
          </a:prstGeom>
          <a:noFill/>
          <a:ln w="9525">
            <a:noFill/>
            <a:miter lim="800000"/>
            <a:headEnd/>
            <a:tailEnd/>
          </a:ln>
        </p:spPr>
        <p:txBody>
          <a:bodyPr wrap="none">
            <a:spAutoFit/>
          </a:bodyPr>
          <a:lstStyle/>
          <a:p>
            <a:r>
              <a:rPr lang="ru-RU">
                <a:latin typeface="Calibri" pitchFamily="34" charset="0"/>
              </a:rPr>
              <a:t>2</a:t>
            </a:r>
          </a:p>
        </p:txBody>
      </p:sp>
      <p:sp>
        <p:nvSpPr>
          <p:cNvPr id="14398" name="Прямоугольник 162"/>
          <p:cNvSpPr>
            <a:spLocks noChangeArrowheads="1"/>
          </p:cNvSpPr>
          <p:nvPr/>
        </p:nvSpPr>
        <p:spPr bwMode="auto">
          <a:xfrm>
            <a:off x="1447800" y="5257800"/>
            <a:ext cx="301625" cy="369888"/>
          </a:xfrm>
          <a:prstGeom prst="rect">
            <a:avLst/>
          </a:prstGeom>
          <a:noFill/>
          <a:ln w="9525">
            <a:noFill/>
            <a:miter lim="800000"/>
            <a:headEnd/>
            <a:tailEnd/>
          </a:ln>
        </p:spPr>
        <p:txBody>
          <a:bodyPr wrap="none">
            <a:spAutoFit/>
          </a:bodyPr>
          <a:lstStyle/>
          <a:p>
            <a:r>
              <a:rPr lang="ru-RU">
                <a:latin typeface="Calibri" pitchFamily="34" charset="0"/>
              </a:rPr>
              <a:t>3</a:t>
            </a:r>
          </a:p>
        </p:txBody>
      </p:sp>
      <p:sp>
        <p:nvSpPr>
          <p:cNvPr id="14399" name="Прямоугольник 163"/>
          <p:cNvSpPr>
            <a:spLocks noChangeArrowheads="1"/>
          </p:cNvSpPr>
          <p:nvPr/>
        </p:nvSpPr>
        <p:spPr bwMode="auto">
          <a:xfrm>
            <a:off x="6781800" y="3200400"/>
            <a:ext cx="228600" cy="381000"/>
          </a:xfrm>
          <a:prstGeom prst="rect">
            <a:avLst/>
          </a:prstGeom>
          <a:noFill/>
          <a:ln w="9525">
            <a:noFill/>
            <a:miter lim="800000"/>
            <a:headEnd/>
            <a:tailEnd/>
          </a:ln>
        </p:spPr>
        <p:txBody>
          <a:bodyPr>
            <a:spAutoFit/>
          </a:bodyPr>
          <a:lstStyle/>
          <a:p>
            <a:r>
              <a:rPr lang="ru-RU">
                <a:latin typeface="Calibri" pitchFamily="34" charset="0"/>
              </a:rPr>
              <a:t>7</a:t>
            </a:r>
          </a:p>
        </p:txBody>
      </p:sp>
      <p:sp>
        <p:nvSpPr>
          <p:cNvPr id="14400" name="Прямоугольник 164"/>
          <p:cNvSpPr>
            <a:spLocks noChangeArrowheads="1"/>
          </p:cNvSpPr>
          <p:nvPr/>
        </p:nvSpPr>
        <p:spPr bwMode="auto">
          <a:xfrm>
            <a:off x="6934200" y="5334000"/>
            <a:ext cx="301625" cy="369888"/>
          </a:xfrm>
          <a:prstGeom prst="rect">
            <a:avLst/>
          </a:prstGeom>
          <a:noFill/>
          <a:ln w="9525">
            <a:noFill/>
            <a:miter lim="800000"/>
            <a:headEnd/>
            <a:tailEnd/>
          </a:ln>
        </p:spPr>
        <p:txBody>
          <a:bodyPr wrap="none">
            <a:spAutoFit/>
          </a:bodyPr>
          <a:lstStyle/>
          <a:p>
            <a:r>
              <a:rPr lang="ru-RU">
                <a:latin typeface="Calibri" pitchFamily="34" charset="0"/>
              </a:rPr>
              <a:t>6</a:t>
            </a:r>
          </a:p>
        </p:txBody>
      </p:sp>
      <p:sp>
        <p:nvSpPr>
          <p:cNvPr id="14401" name="Прямоугольник 165"/>
          <p:cNvSpPr>
            <a:spLocks noChangeArrowheads="1"/>
          </p:cNvSpPr>
          <p:nvPr/>
        </p:nvSpPr>
        <p:spPr bwMode="auto">
          <a:xfrm>
            <a:off x="5638800" y="4343400"/>
            <a:ext cx="301625" cy="369888"/>
          </a:xfrm>
          <a:prstGeom prst="rect">
            <a:avLst/>
          </a:prstGeom>
          <a:noFill/>
          <a:ln w="9525">
            <a:noFill/>
            <a:miter lim="800000"/>
            <a:headEnd/>
            <a:tailEnd/>
          </a:ln>
        </p:spPr>
        <p:txBody>
          <a:bodyPr wrap="none">
            <a:spAutoFit/>
          </a:bodyPr>
          <a:lstStyle/>
          <a:p>
            <a:r>
              <a:rPr lang="ru-RU">
                <a:latin typeface="Calibri" pitchFamily="34" charset="0"/>
              </a:rPr>
              <a:t>5</a:t>
            </a:r>
          </a:p>
        </p:txBody>
      </p:sp>
      <p:sp>
        <p:nvSpPr>
          <p:cNvPr id="14402" name="Прямоугольник 166"/>
          <p:cNvSpPr>
            <a:spLocks noChangeArrowheads="1"/>
          </p:cNvSpPr>
          <p:nvPr/>
        </p:nvSpPr>
        <p:spPr bwMode="auto">
          <a:xfrm>
            <a:off x="4343400" y="4572000"/>
            <a:ext cx="301625" cy="369888"/>
          </a:xfrm>
          <a:prstGeom prst="rect">
            <a:avLst/>
          </a:prstGeom>
          <a:noFill/>
          <a:ln w="9525">
            <a:noFill/>
            <a:miter lim="800000"/>
            <a:headEnd/>
            <a:tailEnd/>
          </a:ln>
        </p:spPr>
        <p:txBody>
          <a:bodyPr wrap="none">
            <a:spAutoFit/>
          </a:bodyPr>
          <a:lstStyle/>
          <a:p>
            <a:r>
              <a:rPr lang="ru-RU">
                <a:latin typeface="Calibri" pitchFamily="34" charset="0"/>
              </a:rPr>
              <a:t>4</a:t>
            </a:r>
          </a:p>
        </p:txBody>
      </p:sp>
      <p:sp>
        <p:nvSpPr>
          <p:cNvPr id="168" name="Заголовок 1"/>
          <p:cNvSpPr txBox="1">
            <a:spLocks/>
          </p:cNvSpPr>
          <p:nvPr/>
        </p:nvSpPr>
        <p:spPr>
          <a:xfrm>
            <a:off x="381000" y="5715000"/>
            <a:ext cx="7315200" cy="609600"/>
          </a:xfrm>
          <a:prstGeom prst="rect">
            <a:avLst/>
          </a:prstGeom>
        </p:spPr>
        <p:txBody>
          <a:bodyPr anchor="ctr">
            <a:normAutofit fontScale="92500"/>
          </a:bodyPr>
          <a:lstStyle/>
          <a:p>
            <a:pPr algn="ctr" fontAlgn="auto">
              <a:spcAft>
                <a:spcPts val="0"/>
              </a:spcAft>
              <a:defRPr/>
            </a:pPr>
            <a:r>
              <a:rPr lang="uz-Cyrl-UZ" sz="1400" b="1" i="1" dirty="0">
                <a:solidFill>
                  <a:srgbClr val="002060"/>
                </a:solidFill>
                <a:latin typeface="+mj-lt"/>
                <a:ea typeface="+mj-ea"/>
                <a:cs typeface="+mj-cs"/>
              </a:rPr>
              <a:t>1- газ қудуғи ва газни қайта ишлаш заводи; 2-комперссор станцияси, 3-магистрал газ қувури,  4-ГРС, 5-ГРП, 6-задвижка, 7-кўп қаватли уйга кирувчи газ қувури ва устуни (стояк)</a:t>
            </a:r>
          </a:p>
          <a:p>
            <a:pPr algn="ctr" fontAlgn="auto">
              <a:spcAft>
                <a:spcPts val="0"/>
              </a:spcAft>
              <a:defRPr/>
            </a:pPr>
            <a:endParaRPr lang="ru-RU" sz="1400" i="1" dirty="0">
              <a:solidFill>
                <a:srgbClr val="002060"/>
              </a:solidFill>
              <a:latin typeface="+mj-lt"/>
              <a:ea typeface="+mj-ea"/>
              <a:cs typeface="+mj-cs"/>
            </a:endParaRPr>
          </a:p>
        </p:txBody>
      </p:sp>
      <p:sp>
        <p:nvSpPr>
          <p:cNvPr id="172" name="Минус 171"/>
          <p:cNvSpPr/>
          <p:nvPr/>
        </p:nvSpPr>
        <p:spPr>
          <a:xfrm>
            <a:off x="1600200" y="6172200"/>
            <a:ext cx="609600" cy="381000"/>
          </a:xfrm>
          <a:prstGeom prst="mathMinus">
            <a:avLst>
              <a:gd name="adj1" fmla="val 2352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sp>
        <p:nvSpPr>
          <p:cNvPr id="173" name="Минус 172"/>
          <p:cNvSpPr/>
          <p:nvPr/>
        </p:nvSpPr>
        <p:spPr>
          <a:xfrm>
            <a:off x="3810000" y="6172200"/>
            <a:ext cx="609600" cy="381000"/>
          </a:xfrm>
          <a:prstGeom prst="mathMinus">
            <a:avLst>
              <a:gd name="adj1" fmla="val 23520"/>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ru-RU"/>
          </a:p>
        </p:txBody>
      </p:sp>
      <p:cxnSp>
        <p:nvCxnSpPr>
          <p:cNvPr id="174" name="Прямая соединительная линия 173"/>
          <p:cNvCxnSpPr/>
          <p:nvPr/>
        </p:nvCxnSpPr>
        <p:spPr>
          <a:xfrm>
            <a:off x="6172200" y="6400800"/>
            <a:ext cx="381000" cy="1588"/>
          </a:xfrm>
          <a:prstGeom prst="line">
            <a:avLst/>
          </a:prstGeom>
          <a:ln w="50800">
            <a:solidFill>
              <a:srgbClr val="FFC000"/>
            </a:solidFill>
          </a:ln>
        </p:spPr>
        <p:style>
          <a:lnRef idx="1">
            <a:schemeClr val="accent1"/>
          </a:lnRef>
          <a:fillRef idx="0">
            <a:schemeClr val="accent1"/>
          </a:fillRef>
          <a:effectRef idx="0">
            <a:schemeClr val="accent1"/>
          </a:effectRef>
          <a:fontRef idx="minor">
            <a:schemeClr val="tx1"/>
          </a:fontRef>
        </p:style>
      </p:cxnSp>
      <p:sp>
        <p:nvSpPr>
          <p:cNvPr id="14407" name="Прямоугольник 181"/>
          <p:cNvSpPr>
            <a:spLocks noChangeArrowheads="1"/>
          </p:cNvSpPr>
          <p:nvPr/>
        </p:nvSpPr>
        <p:spPr bwMode="auto">
          <a:xfrm>
            <a:off x="2133600" y="6248400"/>
            <a:ext cx="1708150" cy="246063"/>
          </a:xfrm>
          <a:prstGeom prst="rect">
            <a:avLst/>
          </a:prstGeom>
          <a:noFill/>
          <a:ln w="9525">
            <a:noFill/>
            <a:miter lim="800000"/>
            <a:headEnd/>
            <a:tailEnd/>
          </a:ln>
        </p:spPr>
        <p:txBody>
          <a:bodyPr wrap="none">
            <a:spAutoFit/>
          </a:bodyPr>
          <a:lstStyle/>
          <a:p>
            <a:r>
              <a:rPr lang="uz-Cyrl-UZ" sz="1000" b="1" i="1">
                <a:solidFill>
                  <a:srgbClr val="002060"/>
                </a:solidFill>
                <a:latin typeface="Calibri" pitchFamily="34" charset="0"/>
              </a:rPr>
              <a:t>Юқори босимли газ қувури</a:t>
            </a:r>
            <a:endParaRPr lang="ru-RU" sz="1000">
              <a:latin typeface="Calibri" pitchFamily="34" charset="0"/>
            </a:endParaRPr>
          </a:p>
        </p:txBody>
      </p:sp>
      <p:sp>
        <p:nvSpPr>
          <p:cNvPr id="14408" name="Прямоугольник 182"/>
          <p:cNvSpPr>
            <a:spLocks noChangeArrowheads="1"/>
          </p:cNvSpPr>
          <p:nvPr/>
        </p:nvSpPr>
        <p:spPr bwMode="auto">
          <a:xfrm>
            <a:off x="4343400" y="6248400"/>
            <a:ext cx="1627188" cy="246063"/>
          </a:xfrm>
          <a:prstGeom prst="rect">
            <a:avLst/>
          </a:prstGeom>
          <a:noFill/>
          <a:ln w="9525">
            <a:noFill/>
            <a:miter lim="800000"/>
            <a:headEnd/>
            <a:tailEnd/>
          </a:ln>
        </p:spPr>
        <p:txBody>
          <a:bodyPr wrap="none">
            <a:spAutoFit/>
          </a:bodyPr>
          <a:lstStyle/>
          <a:p>
            <a:r>
              <a:rPr lang="uz-Cyrl-UZ" sz="1000" b="1" i="1">
                <a:solidFill>
                  <a:srgbClr val="002060"/>
                </a:solidFill>
                <a:latin typeface="Calibri" pitchFamily="34" charset="0"/>
              </a:rPr>
              <a:t>Ўрта босимли газ қувури</a:t>
            </a:r>
            <a:endParaRPr lang="ru-RU" sz="1000" b="1" i="1">
              <a:solidFill>
                <a:srgbClr val="002060"/>
              </a:solidFill>
              <a:latin typeface="Calibri" pitchFamily="34" charset="0"/>
            </a:endParaRPr>
          </a:p>
        </p:txBody>
      </p:sp>
      <p:sp>
        <p:nvSpPr>
          <p:cNvPr id="14409" name="Прямоугольник 184"/>
          <p:cNvSpPr>
            <a:spLocks noChangeArrowheads="1"/>
          </p:cNvSpPr>
          <p:nvPr/>
        </p:nvSpPr>
        <p:spPr bwMode="auto">
          <a:xfrm>
            <a:off x="6629400" y="6248400"/>
            <a:ext cx="1622425" cy="246063"/>
          </a:xfrm>
          <a:prstGeom prst="rect">
            <a:avLst/>
          </a:prstGeom>
          <a:noFill/>
          <a:ln w="9525">
            <a:noFill/>
            <a:miter lim="800000"/>
            <a:headEnd/>
            <a:tailEnd/>
          </a:ln>
        </p:spPr>
        <p:txBody>
          <a:bodyPr wrap="none">
            <a:spAutoFit/>
          </a:bodyPr>
          <a:lstStyle/>
          <a:p>
            <a:r>
              <a:rPr lang="uz-Cyrl-UZ" sz="1000" b="1" i="1">
                <a:solidFill>
                  <a:srgbClr val="002060"/>
                </a:solidFill>
                <a:latin typeface="Calibri" pitchFamily="34" charset="0"/>
              </a:rPr>
              <a:t>Паст босимли газ қувури</a:t>
            </a:r>
            <a:endParaRPr lang="ru-RU" sz="1000" b="1" i="1">
              <a:solidFill>
                <a:srgbClr val="002060"/>
              </a:solidFill>
              <a:latin typeface="Calibri"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Заголовок 1"/>
          <p:cNvSpPr>
            <a:spLocks noGrp="1"/>
          </p:cNvSpPr>
          <p:nvPr>
            <p:ph type="title"/>
          </p:nvPr>
        </p:nvSpPr>
        <p:spPr>
          <a:xfrm>
            <a:off x="609600" y="304800"/>
            <a:ext cx="8229600" cy="487363"/>
          </a:xfrm>
        </p:spPr>
        <p:txBody>
          <a:bodyPr/>
          <a:lstStyle/>
          <a:p>
            <a:pPr eaLnBrk="1" hangingPunct="1"/>
            <a:br>
              <a:rPr lang="uz-Cyrl-UZ" sz="4000" b="1">
                <a:solidFill>
                  <a:srgbClr val="FF0000"/>
                </a:solidFill>
                <a:cs typeface="Times New Roman" pitchFamily="18" charset="0"/>
              </a:rPr>
            </a:br>
            <a:r>
              <a:rPr lang="uz-Cyrl-UZ" sz="2400" b="1">
                <a:solidFill>
                  <a:srgbClr val="FF0000"/>
                </a:solidFill>
                <a:cs typeface="Times New Roman" pitchFamily="18" charset="0"/>
              </a:rPr>
              <a:t>Табиий газнинг хоссалари</a:t>
            </a:r>
            <a:br>
              <a:rPr lang="ru-RU" sz="700">
                <a:latin typeface="Arial" charset="0"/>
                <a:cs typeface="Arial" charset="0"/>
              </a:rPr>
            </a:br>
            <a:endParaRPr lang="ru-RU" sz="4000"/>
          </a:p>
        </p:txBody>
      </p:sp>
      <p:pic>
        <p:nvPicPr>
          <p:cNvPr id="15362" name="Рисунок 1" descr="http://www.gazprominfo.ru/f/ru/global/i/articles/article_01/methane.png"/>
          <p:cNvPicPr>
            <a:picLocks noChangeAspect="1" noChangeArrowheads="1"/>
          </p:cNvPicPr>
          <p:nvPr/>
        </p:nvPicPr>
        <p:blipFill>
          <a:blip r:embed="rId2"/>
          <a:srcRect/>
          <a:stretch>
            <a:fillRect/>
          </a:stretch>
        </p:blipFill>
        <p:spPr bwMode="auto">
          <a:xfrm>
            <a:off x="3124200" y="838200"/>
            <a:ext cx="2286000" cy="1476375"/>
          </a:xfrm>
          <a:prstGeom prst="rect">
            <a:avLst/>
          </a:prstGeom>
          <a:noFill/>
          <a:ln w="9525">
            <a:noFill/>
            <a:miter lim="800000"/>
            <a:headEnd/>
            <a:tailEnd/>
          </a:ln>
        </p:spPr>
      </p:pic>
      <p:sp>
        <p:nvSpPr>
          <p:cNvPr id="15363" name="Rectangle 8"/>
          <p:cNvSpPr>
            <a:spLocks noChangeArrowheads="1"/>
          </p:cNvSpPr>
          <p:nvPr/>
        </p:nvSpPr>
        <p:spPr bwMode="auto">
          <a:xfrm>
            <a:off x="304800" y="2057400"/>
            <a:ext cx="8610600" cy="4154488"/>
          </a:xfrm>
          <a:prstGeom prst="rect">
            <a:avLst/>
          </a:prstGeom>
          <a:noFill/>
          <a:ln w="9525">
            <a:noFill/>
            <a:miter lim="800000"/>
            <a:headEnd/>
            <a:tailEnd/>
          </a:ln>
        </p:spPr>
        <p:txBody>
          <a:bodyPr anchor="ctr">
            <a:spAutoFit/>
          </a:bodyPr>
          <a:lstStyle/>
          <a:p>
            <a:pPr indent="450850" algn="just"/>
            <a:r>
              <a:rPr lang="uz-Cyrl-UZ" sz="1700" dirty="0">
                <a:solidFill>
                  <a:srgbClr val="0066FF"/>
                </a:solidFill>
                <a:latin typeface="Calibri" pitchFamily="34" charset="0"/>
                <a:ea typeface="Calibri" pitchFamily="34" charset="0"/>
                <a:cs typeface="Times New Roman" pitchFamily="18" charset="0"/>
              </a:rPr>
              <a:t> </a:t>
            </a:r>
            <a:endParaRPr lang="ru-RU" sz="700" dirty="0">
              <a:ea typeface="Calibri" pitchFamily="34" charset="0"/>
              <a:cs typeface="Arial" charset="0"/>
            </a:endParaRPr>
          </a:p>
          <a:p>
            <a:pPr indent="450850" algn="just" eaLnBrk="0" hangingPunct="0"/>
            <a:r>
              <a:rPr lang="uz-Cyrl-UZ" sz="1900" b="1" dirty="0">
                <a:solidFill>
                  <a:srgbClr val="0000FF"/>
                </a:solidFill>
                <a:ea typeface="Times New Roman" pitchFamily="18" charset="0"/>
                <a:cs typeface="Arial" charset="0"/>
              </a:rPr>
              <a:t>Табиий газ – бу асосан (98%) метан (СН</a:t>
            </a:r>
            <a:r>
              <a:rPr lang="uz-Cyrl-UZ" sz="1900" b="1" baseline="-25000" dirty="0">
                <a:solidFill>
                  <a:srgbClr val="0000FF"/>
                </a:solidFill>
                <a:ea typeface="Times New Roman" pitchFamily="18" charset="0"/>
                <a:cs typeface="Arial" charset="0"/>
              </a:rPr>
              <a:t>4</a:t>
            </a:r>
            <a:r>
              <a:rPr lang="uz-Cyrl-UZ" sz="1900" b="1" dirty="0">
                <a:solidFill>
                  <a:srgbClr val="0000FF"/>
                </a:solidFill>
                <a:ea typeface="Times New Roman" pitchFamily="18" charset="0"/>
                <a:cs typeface="Arial" charset="0"/>
              </a:rPr>
              <a:t>) ҳамда 2% бошқа оғир углеводородлар (пропан, бутан, этан, гексан ва бошқалар)дан иборат бўлган газдир.</a:t>
            </a:r>
            <a:endParaRPr lang="ru-RU" sz="1900" b="1" dirty="0">
              <a:solidFill>
                <a:srgbClr val="0000FF"/>
              </a:solidFill>
              <a:ea typeface="Times New Roman" pitchFamily="18" charset="0"/>
              <a:cs typeface="Arial" charset="0"/>
            </a:endParaRPr>
          </a:p>
          <a:p>
            <a:pPr indent="450850" algn="just" eaLnBrk="0" hangingPunct="0"/>
            <a:r>
              <a:rPr lang="uz-Cyrl-UZ" sz="1900" b="1">
                <a:solidFill>
                  <a:srgbClr val="0000FF"/>
                </a:solidFill>
                <a:ea typeface="Times New Roman" pitchFamily="18" charset="0"/>
                <a:cs typeface="Arial" charset="0"/>
              </a:rPr>
              <a:t>Қайта ишлангунгача табиий газ ҳидсиз, рангсиз ва тамсиз бўлади.</a:t>
            </a:r>
            <a:endParaRPr lang="ru-RU" sz="1900" b="1" dirty="0">
              <a:cs typeface="Arial" charset="0"/>
            </a:endParaRPr>
          </a:p>
          <a:p>
            <a:pPr indent="450850" algn="just" eaLnBrk="0" hangingPunct="0"/>
            <a:r>
              <a:rPr lang="uz-Cyrl-UZ" sz="1900" b="1" dirty="0">
                <a:solidFill>
                  <a:srgbClr val="0000FF"/>
                </a:solidFill>
                <a:cs typeface="Times New Roman" pitchFamily="18" charset="0"/>
              </a:rPr>
              <a:t>Газ сизиб чиққанда уни ҳидини сезиш учун унга одоранд қўшилади.</a:t>
            </a:r>
            <a:endParaRPr lang="ru-RU" sz="1900" b="1" dirty="0">
              <a:cs typeface="Arial" charset="0"/>
            </a:endParaRPr>
          </a:p>
          <a:p>
            <a:pPr indent="450850" algn="just" eaLnBrk="0" hangingPunct="0"/>
            <a:r>
              <a:rPr lang="uz-Cyrl-UZ" sz="1900" b="1" dirty="0">
                <a:solidFill>
                  <a:srgbClr val="0000FF"/>
                </a:solidFill>
                <a:cs typeface="Times New Roman" pitchFamily="18" charset="0"/>
              </a:rPr>
              <a:t>Одорант ўзига хос ҳидга эга бўлган этилмеркоптан (суюқликдир).</a:t>
            </a:r>
            <a:endParaRPr lang="ru-RU" sz="1900" b="1" dirty="0">
              <a:cs typeface="Arial" charset="0"/>
            </a:endParaRPr>
          </a:p>
          <a:p>
            <a:pPr indent="450850" algn="just" eaLnBrk="0" hangingPunct="0"/>
            <a:r>
              <a:rPr lang="uz-Cyrl-UZ" sz="1900" b="1" dirty="0">
                <a:solidFill>
                  <a:srgbClr val="0000FF"/>
                </a:solidFill>
                <a:cs typeface="Times New Roman" pitchFamily="18" charset="0"/>
              </a:rPr>
              <a:t>Табиий газга ГРСларда 1000 м</a:t>
            </a:r>
            <a:r>
              <a:rPr lang="uz-Cyrl-UZ" sz="1900" b="1" baseline="30000" dirty="0">
                <a:solidFill>
                  <a:srgbClr val="0000FF"/>
                </a:solidFill>
                <a:cs typeface="Times New Roman" pitchFamily="18" charset="0"/>
              </a:rPr>
              <a:t>3</a:t>
            </a:r>
            <a:r>
              <a:rPr lang="uz-Cyrl-UZ" sz="1900" b="1" dirty="0">
                <a:solidFill>
                  <a:srgbClr val="0000FF"/>
                </a:solidFill>
                <a:cs typeface="Times New Roman" pitchFamily="18" charset="0"/>
              </a:rPr>
              <a:t> ҳисобига ёзда 16 грамм, қишда    19 грамм этилмеркоптан қўшилади.</a:t>
            </a:r>
            <a:endParaRPr lang="ru-RU" sz="1900" b="1" dirty="0">
              <a:cs typeface="Arial" charset="0"/>
            </a:endParaRPr>
          </a:p>
          <a:p>
            <a:pPr indent="450850" algn="just" eaLnBrk="0" hangingPunct="0"/>
            <a:r>
              <a:rPr lang="uz-Cyrl-UZ" sz="1900" b="1" dirty="0">
                <a:solidFill>
                  <a:srgbClr val="0000FF"/>
                </a:solidFill>
                <a:cs typeface="Times New Roman" pitchFamily="18" charset="0"/>
              </a:rPr>
              <a:t>Табиий газ одам организмига бўғувчи газ тарзида (ҳавода </a:t>
            </a:r>
            <a:br>
              <a:rPr lang="uz-Cyrl-UZ" sz="1900" b="1" dirty="0">
                <a:solidFill>
                  <a:srgbClr val="0000FF"/>
                </a:solidFill>
                <a:cs typeface="Times New Roman" pitchFamily="18" charset="0"/>
              </a:rPr>
            </a:br>
            <a:r>
              <a:rPr lang="uz-Cyrl-UZ" sz="1900" b="1" dirty="0">
                <a:solidFill>
                  <a:srgbClr val="0000FF"/>
                </a:solidFill>
                <a:cs typeface="Times New Roman" pitchFamily="18" charset="0"/>
              </a:rPr>
              <a:t>10%дан ортиқ концентрацияси мавжуд бўлганда, бўғилишга сабаб бўлади), тўлиқ ёнмаган маҳсулоти эса (ис гази) заҳарловчи тарзда таъсир қилади.</a:t>
            </a:r>
            <a:endParaRPr lang="uz-Cyrl-UZ" sz="1900" b="1" dirty="0">
              <a:cs typeface="Arial" charset="0"/>
            </a:endParaRPr>
          </a:p>
        </p:txBody>
      </p:sp>
      <p:sp>
        <p:nvSpPr>
          <p:cNvPr id="15364" name="Прямоугольник 11"/>
          <p:cNvSpPr>
            <a:spLocks noChangeArrowheads="1"/>
          </p:cNvSpPr>
          <p:nvPr/>
        </p:nvSpPr>
        <p:spPr bwMode="auto">
          <a:xfrm>
            <a:off x="2286000" y="1219200"/>
            <a:ext cx="1295400" cy="584200"/>
          </a:xfrm>
          <a:prstGeom prst="rect">
            <a:avLst/>
          </a:prstGeom>
          <a:noFill/>
          <a:ln w="9525">
            <a:noFill/>
            <a:miter lim="800000"/>
            <a:headEnd/>
            <a:tailEnd/>
          </a:ln>
        </p:spPr>
        <p:txBody>
          <a:bodyPr>
            <a:spAutoFit/>
          </a:bodyPr>
          <a:lstStyle/>
          <a:p>
            <a:r>
              <a:rPr lang="uz-Cyrl-UZ" sz="3200" b="1">
                <a:solidFill>
                  <a:srgbClr val="0070C0"/>
                </a:solidFill>
                <a:ea typeface="Calibri" pitchFamily="34" charset="0"/>
                <a:cs typeface="Arial" charset="0"/>
              </a:rPr>
              <a:t>СН</a:t>
            </a:r>
            <a:r>
              <a:rPr lang="uz-Cyrl-UZ" sz="3200" b="1" baseline="-25000">
                <a:solidFill>
                  <a:srgbClr val="0070C0"/>
                </a:solidFill>
                <a:ea typeface="Calibri" pitchFamily="34" charset="0"/>
                <a:cs typeface="Arial" charset="0"/>
              </a:rPr>
              <a:t>4</a:t>
            </a:r>
            <a:endParaRPr lang="ru-RU" sz="3200">
              <a:solidFill>
                <a:srgbClr val="0070C0"/>
              </a:solidFill>
              <a:latin typeface="Calibri" pitchFamily="34" charset="0"/>
              <a:ea typeface="Calibri" pitchFamily="34" charset="0"/>
              <a:cs typeface="Arial"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ChangeArrowheads="1"/>
          </p:cNvSpPr>
          <p:nvPr/>
        </p:nvSpPr>
        <p:spPr bwMode="auto">
          <a:xfrm>
            <a:off x="228600" y="2590800"/>
            <a:ext cx="8610600" cy="3724275"/>
          </a:xfrm>
          <a:prstGeom prst="rect">
            <a:avLst/>
          </a:prstGeom>
          <a:noFill/>
          <a:ln w="9525">
            <a:noFill/>
            <a:miter lim="800000"/>
            <a:headEnd/>
            <a:tailEnd/>
          </a:ln>
        </p:spPr>
        <p:txBody>
          <a:bodyPr anchor="ctr">
            <a:spAutoFit/>
          </a:bodyPr>
          <a:lstStyle/>
          <a:p>
            <a:pPr algn="just"/>
            <a:r>
              <a:rPr lang="uz-Cyrl-UZ" sz="2000" b="1" dirty="0">
                <a:solidFill>
                  <a:srgbClr val="0000FF"/>
                </a:solidFill>
                <a:latin typeface="Calibri" pitchFamily="34" charset="0"/>
                <a:cs typeface="Times New Roman" pitchFamily="18" charset="0"/>
              </a:rPr>
              <a:t>	</a:t>
            </a:r>
            <a:r>
              <a:rPr lang="uz-Cyrl-UZ" b="1" dirty="0">
                <a:solidFill>
                  <a:srgbClr val="0000FF"/>
                </a:solidFill>
                <a:latin typeface="Calibri" pitchFamily="34" charset="0"/>
                <a:cs typeface="Times New Roman" pitchFamily="18" charset="0"/>
              </a:rPr>
              <a:t>Табиий газ – портловчи ва ёнувчи газдир. Газларнинг ҳаво билан аралашмаси эса портлайди. Табиий газнинг портлаш чегаралари ёпиқ муҳитда: паст – 5%, юқори 15 % га тенг. Агар учқун ёки ёнаётган олов шароитида газ сизиб чиқса портлаш ёки ёнғин содир бўлиши мумкин. Газнинг қуйи портлаш чегараси бешдан бир (1/5) қисмига тенг, газ чиққанда ҳиди сезилиши керак, яъни табиий газни оладиган бўлсак қуйи портлаш даражаси 5% га тенг. 1/5 қисми – 1% га тенг. 1% газ чиққанида газ ҳиди сезилиши керак.</a:t>
            </a:r>
            <a:endParaRPr lang="ru-RU" dirty="0">
              <a:cs typeface="Arial" charset="0"/>
            </a:endParaRPr>
          </a:p>
          <a:p>
            <a:pPr algn="just" eaLnBrk="0" hangingPunct="0"/>
            <a:r>
              <a:rPr lang="uz-Cyrl-UZ" b="1" dirty="0">
                <a:solidFill>
                  <a:srgbClr val="0000FF"/>
                </a:solidFill>
                <a:latin typeface="Calibri" pitchFamily="34" charset="0"/>
                <a:cs typeface="Times New Roman" pitchFamily="18" charset="0"/>
              </a:rPr>
              <a:t>	Табиий газ портлаш чоғида 1 см</a:t>
            </a:r>
            <a:r>
              <a:rPr lang="uz-Cyrl-UZ" b="1" baseline="30000" dirty="0">
                <a:solidFill>
                  <a:srgbClr val="0000FF"/>
                </a:solidFill>
                <a:latin typeface="Calibri" pitchFamily="34" charset="0"/>
                <a:cs typeface="Times New Roman" pitchFamily="18" charset="0"/>
              </a:rPr>
              <a:t>2</a:t>
            </a:r>
            <a:r>
              <a:rPr lang="uz-Cyrl-UZ" b="1" dirty="0">
                <a:solidFill>
                  <a:srgbClr val="0000FF"/>
                </a:solidFill>
                <a:latin typeface="Calibri" pitchFamily="34" charset="0"/>
                <a:cs typeface="Times New Roman" pitchFamily="18" charset="0"/>
              </a:rPr>
              <a:t> майдон ҳисобига 8 кг. куч билан зарба беради. Метан билан ҳаво аралашмаси алангасининг тарқалиш тезлиги 0,67 м/с. Табиий газнинг ёниш ҳарорати 2100 </a:t>
            </a:r>
            <a:r>
              <a:rPr lang="uz-Cyrl-UZ" b="1" baseline="30000" dirty="0">
                <a:solidFill>
                  <a:srgbClr val="0000FF"/>
                </a:solidFill>
                <a:latin typeface="Calibri" pitchFamily="34" charset="0"/>
                <a:cs typeface="Times New Roman" pitchFamily="18" charset="0"/>
              </a:rPr>
              <a:t>0</a:t>
            </a:r>
            <a:r>
              <a:rPr lang="uz-Cyrl-UZ" b="1" dirty="0">
                <a:solidFill>
                  <a:srgbClr val="0000FF"/>
                </a:solidFill>
                <a:latin typeface="Calibri" pitchFamily="34" charset="0"/>
                <a:cs typeface="Times New Roman" pitchFamily="18" charset="0"/>
              </a:rPr>
              <a:t>С. </a:t>
            </a:r>
          </a:p>
          <a:p>
            <a:pPr algn="just" eaLnBrk="0" hangingPunct="0"/>
            <a:r>
              <a:rPr lang="uz-Cyrl-UZ" b="1" dirty="0">
                <a:solidFill>
                  <a:srgbClr val="0000FF"/>
                </a:solidFill>
                <a:latin typeface="Calibri" pitchFamily="34" charset="0"/>
                <a:cs typeface="Times New Roman" pitchFamily="18" charset="0"/>
              </a:rPr>
              <a:t>	</a:t>
            </a:r>
            <a:r>
              <a:rPr lang="uz-Cyrl-UZ" b="1" dirty="0">
                <a:solidFill>
                  <a:srgbClr val="FF0000"/>
                </a:solidFill>
                <a:latin typeface="Calibri" pitchFamily="34" charset="0"/>
                <a:cs typeface="Times New Roman" pitchFamily="18" charset="0"/>
              </a:rPr>
              <a:t>Табиий газ</a:t>
            </a:r>
            <a:r>
              <a:rPr lang="uz-Cyrl-UZ" b="1" dirty="0">
                <a:solidFill>
                  <a:srgbClr val="FF0000"/>
                </a:solidFill>
                <a:latin typeface="Calibri" pitchFamily="34" charset="0"/>
              </a:rPr>
              <a:t> ёнаётганда сув буғи, углерод икки оксиди ва иссиқлик ажралиб чиқади. 1 м</a:t>
            </a:r>
            <a:r>
              <a:rPr lang="uz-Cyrl-UZ" b="1" baseline="30000" dirty="0">
                <a:solidFill>
                  <a:srgbClr val="FF0000"/>
                </a:solidFill>
                <a:latin typeface="Calibri" pitchFamily="34" charset="0"/>
              </a:rPr>
              <a:t>3 </a:t>
            </a:r>
            <a:r>
              <a:rPr lang="uz-Cyrl-UZ" b="1" dirty="0">
                <a:solidFill>
                  <a:srgbClr val="FF0000"/>
                </a:solidFill>
                <a:latin typeface="Calibri" pitchFamily="34" charset="0"/>
              </a:rPr>
              <a:t>табиий газнинг ёниши учун 2 м</a:t>
            </a:r>
            <a:r>
              <a:rPr lang="uz-Cyrl-UZ" b="1" baseline="30000" dirty="0">
                <a:solidFill>
                  <a:srgbClr val="FF0000"/>
                </a:solidFill>
                <a:latin typeface="Calibri" pitchFamily="34" charset="0"/>
              </a:rPr>
              <a:t>3</a:t>
            </a:r>
            <a:r>
              <a:rPr lang="uz-Cyrl-UZ" b="1" dirty="0">
                <a:solidFill>
                  <a:srgbClr val="FF0000"/>
                </a:solidFill>
                <a:latin typeface="Calibri" pitchFamily="34" charset="0"/>
              </a:rPr>
              <a:t> кислород ёки 10 м</a:t>
            </a:r>
            <a:r>
              <a:rPr lang="uz-Cyrl-UZ" b="1" baseline="30000" dirty="0">
                <a:solidFill>
                  <a:srgbClr val="FF0000"/>
                </a:solidFill>
                <a:latin typeface="Calibri" pitchFamily="34" charset="0"/>
              </a:rPr>
              <a:t>3 </a:t>
            </a:r>
            <a:r>
              <a:rPr lang="uz-Cyrl-UZ" b="1" dirty="0">
                <a:solidFill>
                  <a:srgbClr val="FF0000"/>
                </a:solidFill>
                <a:latin typeface="Calibri" pitchFamily="34" charset="0"/>
              </a:rPr>
              <a:t> (9,52 м</a:t>
            </a:r>
            <a:r>
              <a:rPr lang="uz-Cyrl-UZ" b="1" baseline="30000" dirty="0">
                <a:solidFill>
                  <a:srgbClr val="FF0000"/>
                </a:solidFill>
                <a:latin typeface="Calibri" pitchFamily="34" charset="0"/>
              </a:rPr>
              <a:t>3</a:t>
            </a:r>
            <a:r>
              <a:rPr lang="uz-Cyrl-UZ" b="1" dirty="0">
                <a:solidFill>
                  <a:srgbClr val="FF0000"/>
                </a:solidFill>
                <a:latin typeface="Calibri" pitchFamily="34" charset="0"/>
              </a:rPr>
              <a:t>) ҳаво керак бўлади. </a:t>
            </a:r>
            <a:endParaRPr lang="uz-Cyrl-UZ" dirty="0">
              <a:solidFill>
                <a:srgbClr val="FF0000"/>
              </a:solidFill>
              <a:cs typeface="Arial" charset="0"/>
            </a:endParaRPr>
          </a:p>
        </p:txBody>
      </p:sp>
      <p:pic>
        <p:nvPicPr>
          <p:cNvPr id="16386" name="Picture 2" descr="C:\Users\eshankulov\Desktop\000044986_-_neftennye_gazy.jpg"/>
          <p:cNvPicPr>
            <a:picLocks noChangeAspect="1" noChangeArrowheads="1"/>
          </p:cNvPicPr>
          <p:nvPr/>
        </p:nvPicPr>
        <p:blipFill>
          <a:blip r:embed="rId2"/>
          <a:srcRect b="9163"/>
          <a:stretch>
            <a:fillRect/>
          </a:stretch>
        </p:blipFill>
        <p:spPr bwMode="auto">
          <a:xfrm>
            <a:off x="2514600" y="152400"/>
            <a:ext cx="3962400" cy="1371600"/>
          </a:xfrm>
          <a:prstGeom prst="rect">
            <a:avLst/>
          </a:prstGeom>
          <a:noFill/>
          <a:ln w="9525">
            <a:noFill/>
            <a:miter lim="800000"/>
            <a:headEnd/>
            <a:tailEnd/>
          </a:ln>
        </p:spPr>
      </p:pic>
      <p:sp>
        <p:nvSpPr>
          <p:cNvPr id="16387" name="Rectangle 3"/>
          <p:cNvSpPr>
            <a:spLocks noChangeArrowheads="1"/>
          </p:cNvSpPr>
          <p:nvPr/>
        </p:nvSpPr>
        <p:spPr bwMode="auto">
          <a:xfrm>
            <a:off x="1371600" y="1600200"/>
            <a:ext cx="6248400" cy="954088"/>
          </a:xfrm>
          <a:prstGeom prst="rect">
            <a:avLst/>
          </a:prstGeom>
          <a:noFill/>
          <a:ln w="9525">
            <a:noFill/>
            <a:miter lim="800000"/>
            <a:headEnd/>
            <a:tailEnd/>
          </a:ln>
        </p:spPr>
        <p:txBody>
          <a:bodyPr anchor="ctr">
            <a:spAutoFit/>
          </a:bodyPr>
          <a:lstStyle/>
          <a:p>
            <a:pPr indent="449263" algn="ctr"/>
            <a:r>
              <a:rPr lang="uz-Cyrl-UZ" sz="2000" b="1">
                <a:solidFill>
                  <a:srgbClr val="FF0000"/>
                </a:solidFill>
                <a:latin typeface="Calibri" pitchFamily="34" charset="0"/>
                <a:cs typeface="Times New Roman" pitchFamily="18" charset="0"/>
              </a:rPr>
              <a:t>Табиий газни ёниши</a:t>
            </a:r>
            <a:endParaRPr lang="ru-RU" sz="700">
              <a:cs typeface="Arial" charset="0"/>
            </a:endParaRPr>
          </a:p>
          <a:p>
            <a:pPr indent="449263" algn="ctr" eaLnBrk="0" hangingPunct="0"/>
            <a:r>
              <a:rPr lang="uz-Cyrl-UZ" b="1">
                <a:latin typeface="Calibri" pitchFamily="34" charset="0"/>
                <a:cs typeface="Times New Roman" pitchFamily="18" charset="0"/>
              </a:rPr>
              <a:t>СН</a:t>
            </a:r>
            <a:r>
              <a:rPr lang="uz-Cyrl-UZ" b="1" baseline="-25000">
                <a:latin typeface="Calibri" pitchFamily="34" charset="0"/>
                <a:cs typeface="Times New Roman" pitchFamily="18" charset="0"/>
              </a:rPr>
              <a:t>4</a:t>
            </a:r>
            <a:r>
              <a:rPr lang="uz-Cyrl-UZ" b="1">
                <a:latin typeface="Calibri" pitchFamily="34" charset="0"/>
                <a:cs typeface="Times New Roman" pitchFamily="18" charset="0"/>
              </a:rPr>
              <a:t>     +      2О</a:t>
            </a:r>
            <a:r>
              <a:rPr lang="uz-Cyrl-UZ" b="1" baseline="-25000">
                <a:latin typeface="Calibri" pitchFamily="34" charset="0"/>
                <a:cs typeface="Times New Roman" pitchFamily="18" charset="0"/>
              </a:rPr>
              <a:t>2   </a:t>
            </a:r>
            <a:r>
              <a:rPr lang="uz-Cyrl-UZ" b="1">
                <a:latin typeface="Calibri" pitchFamily="34" charset="0"/>
                <a:cs typeface="Times New Roman" pitchFamily="18" charset="0"/>
              </a:rPr>
              <a:t>+   </a:t>
            </a:r>
            <a:r>
              <a:rPr lang="en-US" b="1">
                <a:latin typeface="Calibri" pitchFamily="34" charset="0"/>
                <a:cs typeface="Times New Roman" pitchFamily="18" charset="0"/>
              </a:rPr>
              <a:t>Q</a:t>
            </a:r>
            <a:r>
              <a:rPr lang="uz-Cyrl-UZ" b="1" baseline="-25000">
                <a:latin typeface="Calibri" pitchFamily="34" charset="0"/>
                <a:cs typeface="Times New Roman" pitchFamily="18" charset="0"/>
              </a:rPr>
              <a:t>аланга</a:t>
            </a:r>
            <a:r>
              <a:rPr lang="uz-Cyrl-UZ" b="1">
                <a:latin typeface="Calibri" pitchFamily="34" charset="0"/>
                <a:cs typeface="Times New Roman" pitchFamily="18" charset="0"/>
              </a:rPr>
              <a:t>       =     СО</a:t>
            </a:r>
            <a:r>
              <a:rPr lang="uz-Cyrl-UZ" b="1" baseline="-25000">
                <a:latin typeface="Calibri" pitchFamily="34" charset="0"/>
                <a:cs typeface="Times New Roman" pitchFamily="18" charset="0"/>
              </a:rPr>
              <a:t>2</a:t>
            </a:r>
            <a:r>
              <a:rPr lang="uz-Cyrl-UZ" b="1">
                <a:latin typeface="Calibri" pitchFamily="34" charset="0"/>
                <a:cs typeface="Times New Roman" pitchFamily="18" charset="0"/>
              </a:rPr>
              <a:t>    +   2Н</a:t>
            </a:r>
            <a:r>
              <a:rPr lang="uz-Cyrl-UZ" b="1" baseline="-25000">
                <a:latin typeface="Calibri" pitchFamily="34" charset="0"/>
                <a:cs typeface="Times New Roman" pitchFamily="18" charset="0"/>
              </a:rPr>
              <a:t>2</a:t>
            </a:r>
            <a:r>
              <a:rPr lang="uz-Cyrl-UZ" b="1">
                <a:latin typeface="Calibri" pitchFamily="34" charset="0"/>
                <a:cs typeface="Times New Roman" pitchFamily="18" charset="0"/>
              </a:rPr>
              <a:t>О ↑ + Q</a:t>
            </a:r>
            <a:endParaRPr lang="ru-RU">
              <a:cs typeface="Arial" charset="0"/>
            </a:endParaRPr>
          </a:p>
          <a:p>
            <a:pPr indent="449263" algn="ctr" eaLnBrk="0" hangingPunct="0"/>
            <a:r>
              <a:rPr lang="uz-Cyrl-UZ" b="1">
                <a:latin typeface="Calibri" pitchFamily="34" charset="0"/>
                <a:cs typeface="Times New Roman" pitchFamily="18" charset="0"/>
              </a:rPr>
              <a:t>       метан          кисл.        углер.     сув буғи   диоксид</a:t>
            </a:r>
            <a:endParaRPr lang="uz-Cyrl-UZ">
              <a:cs typeface="Arial"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p:cNvSpPr>
            <a:spLocks noChangeArrowheads="1"/>
          </p:cNvSpPr>
          <p:nvPr/>
        </p:nvSpPr>
        <p:spPr bwMode="auto">
          <a:xfrm flipH="1">
            <a:off x="533400" y="2057400"/>
            <a:ext cx="8153400" cy="4370388"/>
          </a:xfrm>
          <a:prstGeom prst="rect">
            <a:avLst/>
          </a:prstGeom>
          <a:noFill/>
          <a:ln w="9525">
            <a:noFill/>
            <a:miter lim="800000"/>
            <a:headEnd/>
            <a:tailEnd/>
          </a:ln>
        </p:spPr>
        <p:txBody>
          <a:bodyPr anchor="ctr">
            <a:spAutoFit/>
          </a:bodyPr>
          <a:lstStyle/>
          <a:p>
            <a:pPr indent="449263" algn="just"/>
            <a:r>
              <a:rPr lang="uz-Cyrl-UZ" sz="2000" b="1">
                <a:solidFill>
                  <a:srgbClr val="0000FF"/>
                </a:solidFill>
                <a:latin typeface="Calibri" pitchFamily="34" charset="0"/>
                <a:cs typeface="Times New Roman" pitchFamily="18" charset="0"/>
              </a:rPr>
              <a:t>Табиий газнинг солиштирма оғирлиги – 0,73 кг/н.м</a:t>
            </a:r>
            <a:r>
              <a:rPr lang="uz-Cyrl-UZ" sz="2000" b="1" baseline="30000">
                <a:solidFill>
                  <a:srgbClr val="0000FF"/>
                </a:solidFill>
                <a:latin typeface="Calibri" pitchFamily="34" charset="0"/>
                <a:cs typeface="Times New Roman" pitchFamily="18" charset="0"/>
              </a:rPr>
              <a:t>3</a:t>
            </a:r>
            <a:r>
              <a:rPr lang="uz-Cyrl-UZ" sz="2000" b="1">
                <a:solidFill>
                  <a:srgbClr val="0000FF"/>
                </a:solidFill>
                <a:latin typeface="Calibri" pitchFamily="34" charset="0"/>
                <a:cs typeface="Times New Roman" pitchFamily="18" charset="0"/>
              </a:rPr>
              <a:t> га тенг бўлиб, газ тармоқларида, газ қувурлари ёки газ асбобларидан сизиб чиққанда доим юқорига интилади, чунки табиий газ ҳаводан енгил (ҳавонинг солиштирма оғирлиги 1,29 кг/н.м3).</a:t>
            </a:r>
            <a:endParaRPr lang="ru-RU" sz="2000" b="1">
              <a:solidFill>
                <a:srgbClr val="0000FF"/>
              </a:solidFill>
              <a:latin typeface="Calibri" pitchFamily="34" charset="0"/>
              <a:cs typeface="Times New Roman" pitchFamily="18" charset="0"/>
            </a:endParaRPr>
          </a:p>
          <a:p>
            <a:pPr indent="449263" algn="just" eaLnBrk="0" hangingPunct="0"/>
            <a:r>
              <a:rPr lang="uz-Cyrl-UZ" sz="2000" b="1">
                <a:solidFill>
                  <a:srgbClr val="0000FF"/>
                </a:solidFill>
                <a:latin typeface="Calibri" pitchFamily="34" charset="0"/>
                <a:cs typeface="Times New Roman" pitchFamily="18" charset="0"/>
              </a:rPr>
              <a:t>	Ёнувчи газлар таркибидан катъий назар ёнаётган маълум миқдорда иссиқлик ажратади. Иссиқлик ажратиш хусусияти – калория билан ўлчанади. </a:t>
            </a:r>
            <a:endParaRPr lang="ru-RU" sz="2000" b="1">
              <a:solidFill>
                <a:srgbClr val="0000FF"/>
              </a:solidFill>
              <a:latin typeface="Calibri" pitchFamily="34" charset="0"/>
              <a:cs typeface="Times New Roman" pitchFamily="18" charset="0"/>
            </a:endParaRPr>
          </a:p>
          <a:p>
            <a:pPr indent="449263" algn="just" eaLnBrk="0" hangingPunct="0"/>
            <a:r>
              <a:rPr lang="uz-Cyrl-UZ" sz="2000" b="1">
                <a:solidFill>
                  <a:srgbClr val="0000FF"/>
                </a:solidFill>
                <a:latin typeface="Calibri" pitchFamily="34" charset="0"/>
                <a:cs typeface="Times New Roman" pitchFamily="18" charset="0"/>
              </a:rPr>
              <a:t>	1 м</a:t>
            </a:r>
            <a:r>
              <a:rPr lang="uz-Cyrl-UZ" sz="2000" b="1" baseline="30000">
                <a:solidFill>
                  <a:srgbClr val="0000FF"/>
                </a:solidFill>
                <a:latin typeface="Calibri" pitchFamily="34" charset="0"/>
                <a:cs typeface="Times New Roman" pitchFamily="18" charset="0"/>
              </a:rPr>
              <a:t>3</a:t>
            </a:r>
            <a:r>
              <a:rPr lang="uz-Cyrl-UZ" sz="2000" b="1">
                <a:solidFill>
                  <a:srgbClr val="0000FF"/>
                </a:solidFill>
                <a:latin typeface="Calibri" pitchFamily="34" charset="0"/>
                <a:cs typeface="Times New Roman" pitchFamily="18" charset="0"/>
              </a:rPr>
              <a:t> газ ёнганда қанча иссиқликнинг ажралиши газнинг каллориясини белгилайди. Табиий газнинг иссиқлик ажралишини энг паст даражаси 8500 ккал/ м</a:t>
            </a:r>
            <a:r>
              <a:rPr lang="uz-Cyrl-UZ" sz="2000" b="1" baseline="30000">
                <a:solidFill>
                  <a:srgbClr val="0000FF"/>
                </a:solidFill>
                <a:latin typeface="Calibri" pitchFamily="34" charset="0"/>
                <a:cs typeface="Times New Roman" pitchFamily="18" charset="0"/>
              </a:rPr>
              <a:t>3</a:t>
            </a:r>
            <a:r>
              <a:rPr lang="uz-Cyrl-UZ" sz="2000" b="1">
                <a:solidFill>
                  <a:srgbClr val="0000FF"/>
                </a:solidFill>
                <a:latin typeface="Calibri" pitchFamily="34" charset="0"/>
                <a:cs typeface="Times New Roman" pitchFamily="18" charset="0"/>
              </a:rPr>
              <a:t> бўлса, юқори даражаси – 9500 ккал/ м</a:t>
            </a:r>
            <a:r>
              <a:rPr lang="uz-Cyrl-UZ" sz="2000" b="1" baseline="30000">
                <a:solidFill>
                  <a:srgbClr val="0000FF"/>
                </a:solidFill>
                <a:latin typeface="Calibri" pitchFamily="34" charset="0"/>
                <a:cs typeface="Times New Roman" pitchFamily="18" charset="0"/>
              </a:rPr>
              <a:t>3</a:t>
            </a:r>
            <a:r>
              <a:rPr lang="uz-Cyrl-UZ" sz="2000" b="1">
                <a:solidFill>
                  <a:srgbClr val="0000FF"/>
                </a:solidFill>
                <a:latin typeface="Calibri" pitchFamily="34" charset="0"/>
                <a:cs typeface="Times New Roman" pitchFamily="18" charset="0"/>
              </a:rPr>
              <a:t> га тенг.</a:t>
            </a:r>
            <a:endParaRPr lang="ru-RU" sz="2000" b="1">
              <a:solidFill>
                <a:srgbClr val="0000FF"/>
              </a:solidFill>
              <a:latin typeface="Calibri" pitchFamily="34" charset="0"/>
              <a:cs typeface="Times New Roman" pitchFamily="18" charset="0"/>
            </a:endParaRPr>
          </a:p>
          <a:p>
            <a:pPr indent="449263" algn="just" eaLnBrk="0" hangingPunct="0"/>
            <a:r>
              <a:rPr lang="uz-Cyrl-UZ" sz="2000" b="1">
                <a:solidFill>
                  <a:srgbClr val="0000FF"/>
                </a:solidFill>
                <a:latin typeface="Calibri" pitchFamily="34" charset="0"/>
                <a:cs typeface="Times New Roman" pitchFamily="18" charset="0"/>
              </a:rPr>
              <a:t>Газлар маълум ҳароратгача қиздирилганда ёки шу ҳароратда иссиқлик берилганда газлар алангаланиб ёнади. Табиий газ – метаннинг алангаланиш даражаси – 645 °C га тенг.</a:t>
            </a:r>
          </a:p>
        </p:txBody>
      </p:sp>
      <p:pic>
        <p:nvPicPr>
          <p:cNvPr id="17410" name="Picture 2" descr="C:\Users\eshankulov\Desktop\0023-023-Sostav-prirodnogo-gaza.jpg"/>
          <p:cNvPicPr>
            <a:picLocks noChangeAspect="1" noChangeArrowheads="1"/>
          </p:cNvPicPr>
          <p:nvPr/>
        </p:nvPicPr>
        <p:blipFill>
          <a:blip r:embed="rId2"/>
          <a:srcRect l="5118" r="5907" b="15749"/>
          <a:stretch>
            <a:fillRect/>
          </a:stretch>
        </p:blipFill>
        <p:spPr bwMode="auto">
          <a:xfrm>
            <a:off x="2263775" y="304800"/>
            <a:ext cx="3594100" cy="1600200"/>
          </a:xfrm>
          <a:prstGeom prst="rect">
            <a:avLst/>
          </a:prstGeom>
          <a:noFill/>
          <a:ln w="9525">
            <a:noFill/>
            <a:miter lim="800000"/>
            <a:headEnd/>
            <a:tailEnd/>
          </a:ln>
        </p:spPr>
      </p:pic>
      <p:sp>
        <p:nvSpPr>
          <p:cNvPr id="17411" name="Прямоугольник 5"/>
          <p:cNvSpPr>
            <a:spLocks noChangeArrowheads="1"/>
          </p:cNvSpPr>
          <p:nvPr/>
        </p:nvSpPr>
        <p:spPr bwMode="auto">
          <a:xfrm>
            <a:off x="2209800" y="152400"/>
            <a:ext cx="3733800" cy="461963"/>
          </a:xfrm>
          <a:prstGeom prst="rect">
            <a:avLst/>
          </a:prstGeom>
          <a:solidFill>
            <a:schemeClr val="bg1"/>
          </a:solidFill>
          <a:ln w="9525">
            <a:noFill/>
            <a:miter lim="800000"/>
            <a:headEnd/>
            <a:tailEnd/>
          </a:ln>
        </p:spPr>
        <p:txBody>
          <a:bodyPr>
            <a:spAutoFit/>
          </a:bodyPr>
          <a:lstStyle/>
          <a:p>
            <a:pPr algn="ctr"/>
            <a:r>
              <a:rPr lang="uz-Cyrl-UZ" sz="2400" b="1">
                <a:solidFill>
                  <a:srgbClr val="FF0000"/>
                </a:solidFill>
                <a:latin typeface="Calibri" pitchFamily="34" charset="0"/>
                <a:cs typeface="Times New Roman" pitchFamily="18" charset="0"/>
              </a:rPr>
              <a:t>Табиий газнинг таркиби </a:t>
            </a:r>
            <a:endParaRPr lang="ru-RU" sz="2400">
              <a:solidFill>
                <a:srgbClr val="FF0000"/>
              </a:solidFill>
              <a:latin typeface="Calibri"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Заголовок 1"/>
          <p:cNvSpPr>
            <a:spLocks noGrp="1"/>
          </p:cNvSpPr>
          <p:nvPr>
            <p:ph type="title"/>
          </p:nvPr>
        </p:nvSpPr>
        <p:spPr>
          <a:xfrm>
            <a:off x="609600" y="0"/>
            <a:ext cx="8229600" cy="838200"/>
          </a:xfrm>
        </p:spPr>
        <p:txBody>
          <a:bodyPr/>
          <a:lstStyle/>
          <a:p>
            <a:pPr eaLnBrk="1" hangingPunct="1"/>
            <a:r>
              <a:rPr lang="uz-Cyrl-UZ" sz="2400" b="1">
                <a:solidFill>
                  <a:srgbClr val="002060"/>
                </a:solidFill>
                <a:latin typeface="Arial" charset="0"/>
                <a:cs typeface="Arial" charset="0"/>
              </a:rPr>
              <a:t>Табиий газдан турмушда фойдаланиш</a:t>
            </a:r>
            <a:endParaRPr lang="ru-RU" sz="2400">
              <a:solidFill>
                <a:srgbClr val="002060"/>
              </a:solidFill>
              <a:latin typeface="Arial" charset="0"/>
              <a:cs typeface="Arial" charset="0"/>
            </a:endParaRPr>
          </a:p>
        </p:txBody>
      </p:sp>
      <p:pic>
        <p:nvPicPr>
          <p:cNvPr id="18434" name="Рисунок 3"/>
          <p:cNvPicPr>
            <a:picLocks noChangeAspect="1" noChangeArrowheads="1"/>
          </p:cNvPicPr>
          <p:nvPr/>
        </p:nvPicPr>
        <p:blipFill>
          <a:blip r:embed="rId2"/>
          <a:srcRect/>
          <a:stretch>
            <a:fillRect/>
          </a:stretch>
        </p:blipFill>
        <p:spPr bwMode="auto">
          <a:xfrm>
            <a:off x="2286000" y="685800"/>
            <a:ext cx="1905000" cy="1504950"/>
          </a:xfrm>
          <a:prstGeom prst="rect">
            <a:avLst/>
          </a:prstGeom>
          <a:noFill/>
          <a:ln w="9525">
            <a:noFill/>
            <a:miter lim="800000"/>
            <a:headEnd/>
            <a:tailEnd/>
          </a:ln>
        </p:spPr>
      </p:pic>
      <p:pic>
        <p:nvPicPr>
          <p:cNvPr id="18435" name="Рисунок 4"/>
          <p:cNvPicPr>
            <a:picLocks noChangeAspect="1" noChangeArrowheads="1"/>
          </p:cNvPicPr>
          <p:nvPr/>
        </p:nvPicPr>
        <p:blipFill>
          <a:blip r:embed="rId3"/>
          <a:srcRect/>
          <a:stretch>
            <a:fillRect/>
          </a:stretch>
        </p:blipFill>
        <p:spPr bwMode="auto">
          <a:xfrm>
            <a:off x="4267200" y="914400"/>
            <a:ext cx="1905000" cy="1116013"/>
          </a:xfrm>
          <a:prstGeom prst="rect">
            <a:avLst/>
          </a:prstGeom>
          <a:noFill/>
          <a:ln w="9525">
            <a:noFill/>
            <a:miter lim="800000"/>
            <a:headEnd/>
            <a:tailEnd/>
          </a:ln>
        </p:spPr>
      </p:pic>
      <p:sp>
        <p:nvSpPr>
          <p:cNvPr id="18436" name="Прямоугольник 5"/>
          <p:cNvSpPr>
            <a:spLocks noChangeArrowheads="1"/>
          </p:cNvSpPr>
          <p:nvPr/>
        </p:nvSpPr>
        <p:spPr bwMode="auto">
          <a:xfrm>
            <a:off x="6096000" y="1371600"/>
            <a:ext cx="904875" cy="369888"/>
          </a:xfrm>
          <a:prstGeom prst="rect">
            <a:avLst/>
          </a:prstGeom>
          <a:noFill/>
          <a:ln w="9525">
            <a:noFill/>
            <a:miter lim="800000"/>
            <a:headEnd/>
            <a:tailEnd/>
          </a:ln>
        </p:spPr>
        <p:txBody>
          <a:bodyPr wrap="none">
            <a:spAutoFit/>
          </a:bodyPr>
          <a:lstStyle/>
          <a:p>
            <a:r>
              <a:rPr lang="uz-Cyrl-UZ" b="1">
                <a:latin typeface="Calibri" pitchFamily="34" charset="0"/>
              </a:rPr>
              <a:t>Ис гази</a:t>
            </a:r>
            <a:endParaRPr lang="ru-RU">
              <a:latin typeface="Calibri" pitchFamily="34" charset="0"/>
            </a:endParaRPr>
          </a:p>
        </p:txBody>
      </p:sp>
      <p:sp>
        <p:nvSpPr>
          <p:cNvPr id="18437" name="Rectangle 1"/>
          <p:cNvSpPr>
            <a:spLocks noChangeArrowheads="1"/>
          </p:cNvSpPr>
          <p:nvPr/>
        </p:nvSpPr>
        <p:spPr bwMode="auto">
          <a:xfrm>
            <a:off x="457200" y="2209800"/>
            <a:ext cx="8458200" cy="4400550"/>
          </a:xfrm>
          <a:prstGeom prst="rect">
            <a:avLst/>
          </a:prstGeom>
          <a:noFill/>
          <a:ln w="9525">
            <a:noFill/>
            <a:miter lim="800000"/>
            <a:headEnd/>
            <a:tailEnd/>
          </a:ln>
        </p:spPr>
        <p:txBody>
          <a:bodyPr anchor="ctr">
            <a:spAutoFit/>
          </a:bodyPr>
          <a:lstStyle/>
          <a:p>
            <a:pPr indent="449263" algn="just"/>
            <a:r>
              <a:rPr lang="uz-Cyrl-UZ" sz="2000" b="1" dirty="0">
                <a:solidFill>
                  <a:srgbClr val="0000FF"/>
                </a:solidFill>
                <a:latin typeface="Calibri" pitchFamily="34" charset="0"/>
                <a:cs typeface="Times New Roman" pitchFamily="18" charset="0"/>
              </a:rPr>
              <a:t>Ёқилғи маҳсулотлари ичида бошқаларига нисбатан хавфлироқ бўлгани – бу табиий газ ҳисобланади. </a:t>
            </a:r>
          </a:p>
          <a:p>
            <a:pPr indent="449263" algn="just"/>
            <a:r>
              <a:rPr lang="uz-Cyrl-UZ" sz="2000" b="1" dirty="0">
                <a:solidFill>
                  <a:srgbClr val="0000FF"/>
                </a:solidFill>
                <a:latin typeface="Calibri" pitchFamily="34" charset="0"/>
                <a:cs typeface="Times New Roman" pitchFamily="18" charset="0"/>
              </a:rPr>
              <a:t>Табиий газнинг тўлиқ ёнмаслиги, газ оқимининг бехосдан узилиб қолиши, хона ичида газ тўпланиши, газни ёқиб, қаровсиз қолдириш, иситиш тизимларига газни улашда  хавфсизлик қоидаларига риоя қилмаслик оқибатида портлаш ва ёнғин содир бўлиши ҳамда ис газларидан заҳарланиш ҳолатлари билан боғлиқ бахтсиз ходисалар содир бўлиши мумкин. </a:t>
            </a:r>
          </a:p>
          <a:p>
            <a:pPr indent="449263" algn="just"/>
            <a:r>
              <a:rPr lang="uz-Cyrl-UZ" sz="2000" b="1" dirty="0">
                <a:solidFill>
                  <a:srgbClr val="0000FF"/>
                </a:solidFill>
                <a:latin typeface="Calibri" pitchFamily="34" charset="0"/>
                <a:cs typeface="Times New Roman" pitchFamily="18" charset="0"/>
              </a:rPr>
              <a:t>Натижада инсонлар турли хил тан жароҳатлари олишлари ёки ҳаётдан кўз юмишлари ҳолатлари ҳам учрайди. Ис газидан заҳарланиш унинг ҳаводаги концентрацияси ва таъсир муддатига боғлиқ бўлади. </a:t>
            </a:r>
          </a:p>
          <a:p>
            <a:pPr indent="449263" algn="just"/>
            <a:r>
              <a:rPr lang="uz-Cyrl-UZ" sz="2000" b="1" dirty="0">
                <a:solidFill>
                  <a:srgbClr val="0000FF"/>
                </a:solidFill>
                <a:latin typeface="Calibri" pitchFamily="34" charset="0"/>
                <a:cs typeface="Times New Roman" pitchFamily="18" charset="0"/>
              </a:rPr>
              <a:t>Заҳарланиш енгил, ўрта ва оғир даражаларда бўлади, бундай ҳолларда бош қаттиқ оғрийди, айланади, қусиш, ҳушдан кетиш ҳамда нафас олиш секинлашади, баъзан ўлимга ҳам олиб келади.</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563562"/>
          </a:xfrm>
        </p:spPr>
        <p:txBody>
          <a:bodyPr rtlCol="0">
            <a:normAutofit fontScale="90000"/>
          </a:bodyPr>
          <a:lstStyle/>
          <a:p>
            <a:pPr eaLnBrk="1" fontAlgn="auto" hangingPunct="1">
              <a:spcAft>
                <a:spcPts val="0"/>
              </a:spcAft>
              <a:defRPr/>
            </a:pPr>
            <a:br>
              <a:rPr lang="ru-RU" b="1" dirty="0"/>
            </a:br>
            <a:r>
              <a:rPr lang="ru-RU" b="1" dirty="0" err="1">
                <a:solidFill>
                  <a:srgbClr val="FF0000"/>
                </a:solidFill>
              </a:rPr>
              <a:t>Ис</a:t>
            </a:r>
            <a:r>
              <a:rPr lang="ru-RU" b="1" dirty="0">
                <a:solidFill>
                  <a:srgbClr val="FF0000"/>
                </a:solidFill>
              </a:rPr>
              <a:t> гази </a:t>
            </a:r>
            <a:r>
              <a:rPr lang="ru-RU" b="1" dirty="0" err="1">
                <a:solidFill>
                  <a:srgbClr val="FF0000"/>
                </a:solidFill>
              </a:rPr>
              <a:t>нима</a:t>
            </a:r>
            <a:r>
              <a:rPr lang="ru-RU" b="1" dirty="0">
                <a:solidFill>
                  <a:srgbClr val="FF0000"/>
                </a:solidFill>
              </a:rPr>
              <a:t>?</a:t>
            </a:r>
            <a:br>
              <a:rPr lang="ru-RU" dirty="0">
                <a:solidFill>
                  <a:srgbClr val="FF0000"/>
                </a:solidFill>
              </a:rPr>
            </a:br>
            <a:endParaRPr lang="ru-RU" dirty="0">
              <a:solidFill>
                <a:srgbClr val="FF0000"/>
              </a:solidFill>
            </a:endParaRPr>
          </a:p>
        </p:txBody>
      </p:sp>
      <p:pic>
        <p:nvPicPr>
          <p:cNvPr id="19458" name="Рисунок 3" descr="https://encrypted-tbn2.gstatic.com/images?q=tbn:ANd9GcRxxDCOQxK2Tcy62UAVqzB1ChxUnr9JI1kMn8bHI0LlV9_Xuu-pG-ydC51P"/>
          <p:cNvPicPr>
            <a:picLocks noChangeAspect="1" noChangeArrowheads="1"/>
          </p:cNvPicPr>
          <p:nvPr/>
        </p:nvPicPr>
        <p:blipFill>
          <a:blip r:embed="rId2"/>
          <a:srcRect/>
          <a:stretch>
            <a:fillRect/>
          </a:stretch>
        </p:blipFill>
        <p:spPr bwMode="auto">
          <a:xfrm>
            <a:off x="4419600" y="1143000"/>
            <a:ext cx="1806575" cy="1657350"/>
          </a:xfrm>
          <a:prstGeom prst="rect">
            <a:avLst/>
          </a:prstGeom>
          <a:noFill/>
          <a:ln w="9525">
            <a:noFill/>
            <a:miter lim="800000"/>
            <a:headEnd/>
            <a:tailEnd/>
          </a:ln>
        </p:spPr>
      </p:pic>
      <p:pic>
        <p:nvPicPr>
          <p:cNvPr id="19459" name="Рисунок 4" descr="http://www.syl.ru/misc/i/ai/152974/496860.jpg"/>
          <p:cNvPicPr>
            <a:picLocks noChangeAspect="1" noChangeArrowheads="1"/>
          </p:cNvPicPr>
          <p:nvPr/>
        </p:nvPicPr>
        <p:blipFill>
          <a:blip r:embed="rId3"/>
          <a:srcRect/>
          <a:stretch>
            <a:fillRect/>
          </a:stretch>
        </p:blipFill>
        <p:spPr bwMode="auto">
          <a:xfrm>
            <a:off x="2667000" y="1295400"/>
            <a:ext cx="1524000" cy="1524000"/>
          </a:xfrm>
          <a:prstGeom prst="rect">
            <a:avLst/>
          </a:prstGeom>
          <a:noFill/>
          <a:ln w="9525">
            <a:noFill/>
            <a:miter lim="800000"/>
            <a:headEnd/>
            <a:tailEnd/>
          </a:ln>
        </p:spPr>
      </p:pic>
      <p:pic>
        <p:nvPicPr>
          <p:cNvPr id="19460" name="Рисунок 5" descr="http://ruslekar.info/images/original/90.jpg"/>
          <p:cNvPicPr>
            <a:picLocks noChangeAspect="1" noChangeArrowheads="1"/>
          </p:cNvPicPr>
          <p:nvPr/>
        </p:nvPicPr>
        <p:blipFill>
          <a:blip r:embed="rId4"/>
          <a:srcRect t="56" r="591" b="369"/>
          <a:stretch>
            <a:fillRect/>
          </a:stretch>
        </p:blipFill>
        <p:spPr bwMode="auto">
          <a:xfrm>
            <a:off x="457200" y="990600"/>
            <a:ext cx="1897063" cy="1744663"/>
          </a:xfrm>
          <a:prstGeom prst="rect">
            <a:avLst/>
          </a:prstGeom>
          <a:noFill/>
          <a:ln w="9525">
            <a:noFill/>
            <a:miter lim="800000"/>
            <a:headEnd/>
            <a:tailEnd/>
          </a:ln>
        </p:spPr>
      </p:pic>
      <p:sp>
        <p:nvSpPr>
          <p:cNvPr id="19461" name="Rectangle 1"/>
          <p:cNvSpPr>
            <a:spLocks noChangeArrowheads="1"/>
          </p:cNvSpPr>
          <p:nvPr/>
        </p:nvSpPr>
        <p:spPr bwMode="auto">
          <a:xfrm>
            <a:off x="304800" y="2971800"/>
            <a:ext cx="8686800" cy="3416300"/>
          </a:xfrm>
          <a:prstGeom prst="rect">
            <a:avLst/>
          </a:prstGeom>
          <a:noFill/>
          <a:ln w="9525">
            <a:noFill/>
            <a:miter lim="800000"/>
            <a:headEnd/>
            <a:tailEnd/>
          </a:ln>
        </p:spPr>
        <p:txBody>
          <a:bodyPr anchor="ctr">
            <a:spAutoFit/>
          </a:bodyPr>
          <a:lstStyle/>
          <a:p>
            <a:pPr indent="450850" algn="just"/>
            <a:r>
              <a:rPr lang="uz-Cyrl-UZ" b="1">
                <a:solidFill>
                  <a:srgbClr val="0000FF"/>
                </a:solidFill>
                <a:ea typeface="Times New Roman" pitchFamily="18" charset="0"/>
                <a:cs typeface="Arial" charset="0"/>
              </a:rPr>
              <a:t>Ис гази (углерод оксиди) — рангсиз, таъмсиз, ҳидсиз заҳарли газ. </a:t>
            </a:r>
          </a:p>
          <a:p>
            <a:pPr indent="450850" algn="just"/>
            <a:r>
              <a:rPr lang="uz-Cyrl-UZ" b="1">
                <a:solidFill>
                  <a:srgbClr val="0000FF"/>
                </a:solidFill>
                <a:ea typeface="Times New Roman" pitchFamily="18" charset="0"/>
                <a:cs typeface="Arial" charset="0"/>
              </a:rPr>
              <a:t>Кимёвий формуласи — CO. </a:t>
            </a:r>
            <a:endParaRPr lang="ru-RU">
              <a:ea typeface="Times New Roman" pitchFamily="18" charset="0"/>
              <a:cs typeface="Arial" charset="0"/>
            </a:endParaRPr>
          </a:p>
          <a:p>
            <a:pPr indent="450850" algn="just" eaLnBrk="0" hangingPunct="0"/>
            <a:r>
              <a:rPr lang="uz-Cyrl-UZ" b="1">
                <a:solidFill>
                  <a:srgbClr val="0000FF"/>
                </a:solidFill>
                <a:ea typeface="Times New Roman" pitchFamily="18" charset="0"/>
                <a:cs typeface="Arial" charset="0"/>
              </a:rPr>
              <a:t>Ис гази (СО) — ер юзида энергияни жадал ишлатилишидан юзага келадиган, табиатда энг кўп тарқалган заҳарловчи газлардан биридир.</a:t>
            </a:r>
            <a:endParaRPr lang="ru-RU">
              <a:ea typeface="Times New Roman" pitchFamily="18" charset="0"/>
              <a:cs typeface="Arial" charset="0"/>
            </a:endParaRPr>
          </a:p>
          <a:p>
            <a:pPr indent="450850" algn="just" eaLnBrk="0" hangingPunct="0"/>
            <a:r>
              <a:rPr lang="uz-Cyrl-UZ" b="1">
                <a:solidFill>
                  <a:srgbClr val="0000FF"/>
                </a:solidFill>
                <a:ea typeface="Times New Roman" pitchFamily="18" charset="0"/>
                <a:cs typeface="Arial" charset="0"/>
              </a:rPr>
              <a:t>Қазиб олинадиган ёқилғиларнинг тўлиқ ёнмаслиги Ис газининг бош манбаидир, у асосан кўмир, табиий газ ва бошқа ёқилғиларнинг тўлиқ ёнмасли сабаб юзага келади.</a:t>
            </a:r>
            <a:endParaRPr lang="ru-RU">
              <a:ea typeface="Times New Roman" pitchFamily="18" charset="0"/>
              <a:cs typeface="Arial" charset="0"/>
            </a:endParaRPr>
          </a:p>
          <a:p>
            <a:pPr indent="450850" algn="just" eaLnBrk="0" hangingPunct="0"/>
            <a:r>
              <a:rPr lang="uz-Cyrl-UZ" b="1">
                <a:solidFill>
                  <a:srgbClr val="FF0000"/>
                </a:solidFill>
                <a:ea typeface="Times New Roman" pitchFamily="18" charset="0"/>
                <a:cs typeface="Arial" charset="0"/>
              </a:rPr>
              <a:t>Нафас олинувчи ҳаво таркибида 0,1% ис газининг бўлиши, ўлим ҳолатига олиб келиши мумкин!</a:t>
            </a:r>
            <a:endParaRPr lang="ru-RU">
              <a:ea typeface="Times New Roman" pitchFamily="18" charset="0"/>
              <a:cs typeface="Arial" charset="0"/>
            </a:endParaRPr>
          </a:p>
          <a:p>
            <a:pPr indent="450850" algn="just" eaLnBrk="0" hangingPunct="0"/>
            <a:r>
              <a:rPr lang="uz-Cyrl-UZ" b="1">
                <a:solidFill>
                  <a:srgbClr val="0000FF"/>
                </a:solidFill>
                <a:ea typeface="Times New Roman" pitchFamily="18" charset="0"/>
                <a:cs typeface="Arial" charset="0"/>
              </a:rPr>
              <a:t>Ис гази организмга тушганда у қон таркибидаги гемоглабин ва кислород ташувчи эритроцитларни ўзаро боғлаб, кислородни тана бўйлаб харакатланишини чеклайди. Натижада инсон хушини йўқотади.</a:t>
            </a:r>
            <a:endParaRPr lang="uz-Cyrl-UZ">
              <a:ea typeface="Times New Roman" pitchFamily="18" charset="0"/>
              <a:cs typeface="Arial" charset="0"/>
            </a:endParaRPr>
          </a:p>
        </p:txBody>
      </p:sp>
      <p:pic>
        <p:nvPicPr>
          <p:cNvPr id="19462" name="Рисунок 7" descr="http://i.obozrevatel.ua/18/1317572/890874.jpg"/>
          <p:cNvPicPr>
            <a:picLocks noChangeAspect="1" noChangeArrowheads="1"/>
          </p:cNvPicPr>
          <p:nvPr/>
        </p:nvPicPr>
        <p:blipFill>
          <a:blip r:embed="rId5"/>
          <a:srcRect/>
          <a:stretch>
            <a:fillRect/>
          </a:stretch>
        </p:blipFill>
        <p:spPr bwMode="auto">
          <a:xfrm>
            <a:off x="6477000" y="1143000"/>
            <a:ext cx="1914525" cy="152400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1" name="Picture 2" descr="C:\Users\eshankulov\Desktop\Otravleniye ugarnym gazom-1.jpg"/>
          <p:cNvPicPr>
            <a:picLocks noChangeAspect="1" noChangeArrowheads="1"/>
          </p:cNvPicPr>
          <p:nvPr/>
        </p:nvPicPr>
        <p:blipFill>
          <a:blip r:embed="rId2"/>
          <a:srcRect/>
          <a:stretch>
            <a:fillRect/>
          </a:stretch>
        </p:blipFill>
        <p:spPr bwMode="auto">
          <a:xfrm>
            <a:off x="381000" y="381000"/>
            <a:ext cx="8382000" cy="6172200"/>
          </a:xfrm>
          <a:prstGeom prst="rect">
            <a:avLst/>
          </a:prstGeom>
          <a:noFill/>
          <a:ln w="9525">
            <a:noFill/>
            <a:miter lim="800000"/>
            <a:headEnd/>
            <a:tailEnd/>
          </a:ln>
        </p:spPr>
      </p:pic>
      <p:sp>
        <p:nvSpPr>
          <p:cNvPr id="20482" name="Прямоугольник 4"/>
          <p:cNvSpPr>
            <a:spLocks noChangeArrowheads="1"/>
          </p:cNvSpPr>
          <p:nvPr/>
        </p:nvSpPr>
        <p:spPr bwMode="auto">
          <a:xfrm>
            <a:off x="914400" y="1371600"/>
            <a:ext cx="7239000" cy="523875"/>
          </a:xfrm>
          <a:prstGeom prst="rect">
            <a:avLst/>
          </a:prstGeom>
          <a:solidFill>
            <a:schemeClr val="bg1"/>
          </a:solidFill>
          <a:ln w="9525">
            <a:noFill/>
            <a:miter lim="800000"/>
            <a:headEnd/>
            <a:tailEnd/>
          </a:ln>
        </p:spPr>
        <p:txBody>
          <a:bodyPr>
            <a:spAutoFit/>
          </a:bodyPr>
          <a:lstStyle/>
          <a:p>
            <a:pPr algn="ctr"/>
            <a:r>
              <a:rPr lang="uz-Cyrl-UZ" sz="2800" b="1">
                <a:solidFill>
                  <a:srgbClr val="0000FF"/>
                </a:solidFill>
                <a:ea typeface="Times New Roman" pitchFamily="18" charset="0"/>
                <a:cs typeface="Arial" charset="0"/>
              </a:rPr>
              <a:t>Ис газининг хоссалари</a:t>
            </a:r>
            <a:endParaRPr lang="ru-RU" sz="2800">
              <a:latin typeface="Calibri" pitchFamily="34" charset="0"/>
              <a:ea typeface="Times New Roman" pitchFamily="18" charset="0"/>
              <a:cs typeface="Arial" charset="0"/>
            </a:endParaRPr>
          </a:p>
        </p:txBody>
      </p:sp>
      <p:sp>
        <p:nvSpPr>
          <p:cNvPr id="20483" name="Прямоугольник 5"/>
          <p:cNvSpPr>
            <a:spLocks noChangeArrowheads="1"/>
          </p:cNvSpPr>
          <p:nvPr/>
        </p:nvSpPr>
        <p:spPr bwMode="auto">
          <a:xfrm>
            <a:off x="3733800" y="2362200"/>
            <a:ext cx="5029200" cy="461963"/>
          </a:xfrm>
          <a:prstGeom prst="rect">
            <a:avLst/>
          </a:prstGeom>
          <a:solidFill>
            <a:srgbClr val="FFF6D9"/>
          </a:solidFill>
          <a:ln w="9525">
            <a:noFill/>
            <a:miter lim="800000"/>
            <a:headEnd/>
            <a:tailEnd/>
          </a:ln>
        </p:spPr>
        <p:txBody>
          <a:bodyPr>
            <a:spAutoFit/>
          </a:bodyPr>
          <a:lstStyle/>
          <a:p>
            <a:pPr algn="ctr"/>
            <a:r>
              <a:rPr lang="uz-Cyrl-UZ" sz="2400" b="1" i="1">
                <a:solidFill>
                  <a:srgbClr val="0000FF"/>
                </a:solidFill>
                <a:ea typeface="Times New Roman" pitchFamily="18" charset="0"/>
                <a:cs typeface="Arial" charset="0"/>
              </a:rPr>
              <a:t>Физик хоссалари</a:t>
            </a:r>
            <a:endParaRPr lang="ru-RU" sz="2400" i="1">
              <a:latin typeface="Calibri" pitchFamily="34" charset="0"/>
              <a:ea typeface="Times New Roman" pitchFamily="18" charset="0"/>
              <a:cs typeface="Arial" charset="0"/>
            </a:endParaRPr>
          </a:p>
        </p:txBody>
      </p:sp>
      <p:sp>
        <p:nvSpPr>
          <p:cNvPr id="20484" name="Прямоугольник 6"/>
          <p:cNvSpPr>
            <a:spLocks noChangeArrowheads="1"/>
          </p:cNvSpPr>
          <p:nvPr/>
        </p:nvSpPr>
        <p:spPr bwMode="auto">
          <a:xfrm>
            <a:off x="3810000" y="2819400"/>
            <a:ext cx="1905000" cy="369888"/>
          </a:xfrm>
          <a:prstGeom prst="rect">
            <a:avLst/>
          </a:prstGeom>
          <a:solidFill>
            <a:srgbClr val="FFFFCC"/>
          </a:solidFill>
          <a:ln w="9525">
            <a:noFill/>
            <a:miter lim="800000"/>
            <a:headEnd/>
            <a:tailEnd/>
          </a:ln>
        </p:spPr>
        <p:txBody>
          <a:bodyPr>
            <a:spAutoFit/>
          </a:bodyPr>
          <a:lstStyle/>
          <a:p>
            <a:r>
              <a:rPr lang="uz-Cyrl-UZ">
                <a:ea typeface="Times New Roman" pitchFamily="18" charset="0"/>
                <a:cs typeface="Arial" charset="0"/>
              </a:rPr>
              <a:t>Ҳолати</a:t>
            </a:r>
            <a:endParaRPr lang="ru-RU">
              <a:latin typeface="Calibri" pitchFamily="34" charset="0"/>
              <a:ea typeface="Times New Roman" pitchFamily="18" charset="0"/>
              <a:cs typeface="Arial" charset="0"/>
            </a:endParaRPr>
          </a:p>
        </p:txBody>
      </p:sp>
      <p:sp>
        <p:nvSpPr>
          <p:cNvPr id="20485" name="Прямоугольник 7"/>
          <p:cNvSpPr>
            <a:spLocks noChangeArrowheads="1"/>
          </p:cNvSpPr>
          <p:nvPr/>
        </p:nvSpPr>
        <p:spPr bwMode="auto">
          <a:xfrm>
            <a:off x="3810000" y="3352800"/>
            <a:ext cx="1828800" cy="369888"/>
          </a:xfrm>
          <a:prstGeom prst="rect">
            <a:avLst/>
          </a:prstGeom>
          <a:solidFill>
            <a:srgbClr val="FFFFCC"/>
          </a:solidFill>
          <a:ln w="9525">
            <a:noFill/>
            <a:miter lim="800000"/>
            <a:headEnd/>
            <a:tailEnd/>
          </a:ln>
        </p:spPr>
        <p:txBody>
          <a:bodyPr>
            <a:spAutoFit/>
          </a:bodyPr>
          <a:lstStyle/>
          <a:p>
            <a:r>
              <a:rPr lang="uz-Cyrl-UZ">
                <a:cs typeface="Arial" charset="0"/>
              </a:rPr>
              <a:t>Зичлиги</a:t>
            </a:r>
            <a:endParaRPr lang="ru-RU">
              <a:latin typeface="Calibri" pitchFamily="34" charset="0"/>
            </a:endParaRPr>
          </a:p>
        </p:txBody>
      </p:sp>
      <p:sp>
        <p:nvSpPr>
          <p:cNvPr id="20486" name="Прямоугольник 8"/>
          <p:cNvSpPr>
            <a:spLocks noChangeArrowheads="1"/>
          </p:cNvSpPr>
          <p:nvPr/>
        </p:nvSpPr>
        <p:spPr bwMode="auto">
          <a:xfrm>
            <a:off x="6324600" y="2819400"/>
            <a:ext cx="1905000" cy="369888"/>
          </a:xfrm>
          <a:prstGeom prst="rect">
            <a:avLst/>
          </a:prstGeom>
          <a:solidFill>
            <a:srgbClr val="FFFFCC"/>
          </a:solidFill>
          <a:ln w="9525">
            <a:noFill/>
            <a:miter lim="800000"/>
            <a:headEnd/>
            <a:tailEnd/>
          </a:ln>
        </p:spPr>
        <p:txBody>
          <a:bodyPr>
            <a:spAutoFit/>
          </a:bodyPr>
          <a:lstStyle/>
          <a:p>
            <a:r>
              <a:rPr lang="uz-Cyrl-UZ">
                <a:ea typeface="Times New Roman" pitchFamily="18" charset="0"/>
                <a:cs typeface="Arial" charset="0"/>
              </a:rPr>
              <a:t>Рангсиз</a:t>
            </a:r>
            <a:endParaRPr lang="ru-RU">
              <a:latin typeface="Calibri" pitchFamily="34" charset="0"/>
              <a:ea typeface="Times New Roman" pitchFamily="18" charset="0"/>
              <a:cs typeface="Arial" charset="0"/>
            </a:endParaRPr>
          </a:p>
        </p:txBody>
      </p:sp>
      <p:sp>
        <p:nvSpPr>
          <p:cNvPr id="20487" name="Прямоугольник 9"/>
          <p:cNvSpPr>
            <a:spLocks noChangeArrowheads="1"/>
          </p:cNvSpPr>
          <p:nvPr/>
        </p:nvSpPr>
        <p:spPr bwMode="auto">
          <a:xfrm>
            <a:off x="6172200" y="3276600"/>
            <a:ext cx="2514600" cy="554038"/>
          </a:xfrm>
          <a:prstGeom prst="rect">
            <a:avLst/>
          </a:prstGeom>
          <a:solidFill>
            <a:srgbClr val="FFFFCC"/>
          </a:solidFill>
          <a:ln w="9525">
            <a:noFill/>
            <a:miter lim="800000"/>
            <a:headEnd/>
            <a:tailEnd/>
          </a:ln>
        </p:spPr>
        <p:txBody>
          <a:bodyPr>
            <a:spAutoFit/>
          </a:bodyPr>
          <a:lstStyle/>
          <a:p>
            <a:r>
              <a:rPr lang="uz-Cyrl-UZ">
                <a:cs typeface="Arial" charset="0"/>
              </a:rPr>
              <a:t>0,00125 (0 </a:t>
            </a:r>
            <a:r>
              <a:rPr lang="uz-Cyrl-UZ" baseline="30000">
                <a:cs typeface="Arial" charset="0"/>
              </a:rPr>
              <a:t>0</a:t>
            </a:r>
            <a:r>
              <a:rPr lang="uz-Cyrl-UZ">
                <a:cs typeface="Arial" charset="0"/>
              </a:rPr>
              <a:t>Сда) г/см</a:t>
            </a:r>
            <a:r>
              <a:rPr lang="uz-Cyrl-UZ" baseline="30000">
                <a:cs typeface="Arial" charset="0"/>
              </a:rPr>
              <a:t>3</a:t>
            </a:r>
          </a:p>
          <a:p>
            <a:endParaRPr lang="ru-RU" baseline="30000">
              <a:latin typeface="Calibri" pitchFamily="34" charset="0"/>
            </a:endParaRPr>
          </a:p>
        </p:txBody>
      </p:sp>
      <p:sp>
        <p:nvSpPr>
          <p:cNvPr id="20488" name="Прямоугольник 10"/>
          <p:cNvSpPr>
            <a:spLocks noChangeArrowheads="1"/>
          </p:cNvSpPr>
          <p:nvPr/>
        </p:nvSpPr>
        <p:spPr bwMode="auto">
          <a:xfrm>
            <a:off x="4114800" y="3733800"/>
            <a:ext cx="4724400" cy="461963"/>
          </a:xfrm>
          <a:prstGeom prst="rect">
            <a:avLst/>
          </a:prstGeom>
          <a:solidFill>
            <a:srgbClr val="FFF6D9"/>
          </a:solidFill>
          <a:ln w="9525">
            <a:noFill/>
            <a:miter lim="800000"/>
            <a:headEnd/>
            <a:tailEnd/>
          </a:ln>
        </p:spPr>
        <p:txBody>
          <a:bodyPr>
            <a:spAutoFit/>
          </a:bodyPr>
          <a:lstStyle/>
          <a:p>
            <a:pPr algn="ctr"/>
            <a:r>
              <a:rPr lang="uz-Cyrl-UZ" sz="2400" b="1" i="1">
                <a:solidFill>
                  <a:srgbClr val="0000FF"/>
                </a:solidFill>
                <a:ea typeface="Times New Roman" pitchFamily="18" charset="0"/>
                <a:cs typeface="Arial" charset="0"/>
              </a:rPr>
              <a:t>Термик хоссаси</a:t>
            </a:r>
            <a:endParaRPr lang="ru-RU" sz="2400" i="1">
              <a:latin typeface="Calibri" pitchFamily="34" charset="0"/>
              <a:ea typeface="Times New Roman" pitchFamily="18" charset="0"/>
              <a:cs typeface="Arial" charset="0"/>
            </a:endParaRPr>
          </a:p>
        </p:txBody>
      </p:sp>
      <p:sp>
        <p:nvSpPr>
          <p:cNvPr id="20489" name="Прямоугольник 11"/>
          <p:cNvSpPr>
            <a:spLocks noChangeArrowheads="1"/>
          </p:cNvSpPr>
          <p:nvPr/>
        </p:nvSpPr>
        <p:spPr bwMode="auto">
          <a:xfrm>
            <a:off x="3810000" y="4267200"/>
            <a:ext cx="2438400" cy="369888"/>
          </a:xfrm>
          <a:prstGeom prst="rect">
            <a:avLst/>
          </a:prstGeom>
          <a:solidFill>
            <a:srgbClr val="FFFFCC"/>
          </a:solidFill>
          <a:ln w="9525">
            <a:noFill/>
            <a:miter lim="800000"/>
            <a:headEnd/>
            <a:tailEnd/>
          </a:ln>
        </p:spPr>
        <p:txBody>
          <a:bodyPr>
            <a:spAutoFit/>
          </a:bodyPr>
          <a:lstStyle/>
          <a:p>
            <a:r>
              <a:rPr lang="uz-Cyrl-UZ">
                <a:cs typeface="Arial" charset="0"/>
              </a:rPr>
              <a:t>Эриш ҳарорати</a:t>
            </a:r>
            <a:endParaRPr lang="ru-RU">
              <a:latin typeface="Calibri" pitchFamily="34" charset="0"/>
            </a:endParaRPr>
          </a:p>
        </p:txBody>
      </p:sp>
      <p:sp>
        <p:nvSpPr>
          <p:cNvPr id="20490" name="Прямоугольник 12"/>
          <p:cNvSpPr>
            <a:spLocks noChangeArrowheads="1"/>
          </p:cNvSpPr>
          <p:nvPr/>
        </p:nvSpPr>
        <p:spPr bwMode="auto">
          <a:xfrm>
            <a:off x="6324600" y="4267200"/>
            <a:ext cx="2362200" cy="369888"/>
          </a:xfrm>
          <a:prstGeom prst="rect">
            <a:avLst/>
          </a:prstGeom>
          <a:solidFill>
            <a:srgbClr val="FFFFCC"/>
          </a:solidFill>
          <a:ln w="9525">
            <a:noFill/>
            <a:miter lim="800000"/>
            <a:headEnd/>
            <a:tailEnd/>
          </a:ln>
        </p:spPr>
        <p:txBody>
          <a:bodyPr>
            <a:spAutoFit/>
          </a:bodyPr>
          <a:lstStyle/>
          <a:p>
            <a:r>
              <a:rPr lang="uz-Cyrl-UZ">
                <a:cs typeface="Arial" charset="0"/>
              </a:rPr>
              <a:t>-205 </a:t>
            </a:r>
            <a:r>
              <a:rPr lang="uz-Cyrl-UZ" baseline="30000">
                <a:cs typeface="Arial" charset="0"/>
              </a:rPr>
              <a:t>0</a:t>
            </a:r>
            <a:r>
              <a:rPr lang="uz-Cyrl-UZ">
                <a:cs typeface="Arial" charset="0"/>
              </a:rPr>
              <a:t>С</a:t>
            </a:r>
            <a:endParaRPr lang="ru-RU">
              <a:latin typeface="Calibri" pitchFamily="34" charset="0"/>
            </a:endParaRPr>
          </a:p>
        </p:txBody>
      </p:sp>
      <p:sp>
        <p:nvSpPr>
          <p:cNvPr id="20491" name="Прямоугольник 13"/>
          <p:cNvSpPr>
            <a:spLocks noChangeArrowheads="1"/>
          </p:cNvSpPr>
          <p:nvPr/>
        </p:nvSpPr>
        <p:spPr bwMode="auto">
          <a:xfrm>
            <a:off x="3810000" y="4724400"/>
            <a:ext cx="2438400" cy="369888"/>
          </a:xfrm>
          <a:prstGeom prst="rect">
            <a:avLst/>
          </a:prstGeom>
          <a:solidFill>
            <a:srgbClr val="FFFFCC"/>
          </a:solidFill>
          <a:ln w="9525">
            <a:noFill/>
            <a:miter lim="800000"/>
            <a:headEnd/>
            <a:tailEnd/>
          </a:ln>
        </p:spPr>
        <p:txBody>
          <a:bodyPr>
            <a:spAutoFit/>
          </a:bodyPr>
          <a:lstStyle/>
          <a:p>
            <a:r>
              <a:rPr lang="uz-Cyrl-UZ">
                <a:cs typeface="Arial" charset="0"/>
              </a:rPr>
              <a:t>Қайнаш ҳарорати</a:t>
            </a:r>
            <a:endParaRPr lang="ru-RU">
              <a:latin typeface="Calibri" pitchFamily="34" charset="0"/>
            </a:endParaRPr>
          </a:p>
        </p:txBody>
      </p:sp>
      <p:sp>
        <p:nvSpPr>
          <p:cNvPr id="20492" name="Прямоугольник 14"/>
          <p:cNvSpPr>
            <a:spLocks noChangeArrowheads="1"/>
          </p:cNvSpPr>
          <p:nvPr/>
        </p:nvSpPr>
        <p:spPr bwMode="auto">
          <a:xfrm>
            <a:off x="6324600" y="4724400"/>
            <a:ext cx="1219200" cy="369888"/>
          </a:xfrm>
          <a:prstGeom prst="rect">
            <a:avLst/>
          </a:prstGeom>
          <a:solidFill>
            <a:srgbClr val="FFFFCC"/>
          </a:solidFill>
          <a:ln w="9525">
            <a:noFill/>
            <a:miter lim="800000"/>
            <a:headEnd/>
            <a:tailEnd/>
          </a:ln>
        </p:spPr>
        <p:txBody>
          <a:bodyPr>
            <a:spAutoFit/>
          </a:bodyPr>
          <a:lstStyle/>
          <a:p>
            <a:r>
              <a:rPr lang="uz-Cyrl-UZ">
                <a:cs typeface="Arial" charset="0"/>
              </a:rPr>
              <a:t>-191,5 </a:t>
            </a:r>
            <a:r>
              <a:rPr lang="uz-Cyrl-UZ" baseline="30000">
                <a:cs typeface="Arial" charset="0"/>
              </a:rPr>
              <a:t>0</a:t>
            </a:r>
            <a:r>
              <a:rPr lang="uz-Cyrl-UZ">
                <a:cs typeface="Arial" charset="0"/>
              </a:rPr>
              <a:t>С</a:t>
            </a:r>
            <a:endParaRPr lang="ru-RU">
              <a:latin typeface="Calibri" pitchFamily="34" charset="0"/>
            </a:endParaRPr>
          </a:p>
        </p:txBody>
      </p:sp>
      <p:sp>
        <p:nvSpPr>
          <p:cNvPr id="20493" name="Прямоугольник 15"/>
          <p:cNvSpPr>
            <a:spLocks noChangeArrowheads="1"/>
          </p:cNvSpPr>
          <p:nvPr/>
        </p:nvSpPr>
        <p:spPr bwMode="auto">
          <a:xfrm>
            <a:off x="3810000" y="5486400"/>
            <a:ext cx="4724400" cy="461963"/>
          </a:xfrm>
          <a:prstGeom prst="rect">
            <a:avLst/>
          </a:prstGeom>
          <a:solidFill>
            <a:srgbClr val="FFF6D9"/>
          </a:solidFill>
          <a:ln w="9525">
            <a:noFill/>
            <a:miter lim="800000"/>
            <a:headEnd/>
            <a:tailEnd/>
          </a:ln>
        </p:spPr>
        <p:txBody>
          <a:bodyPr>
            <a:spAutoFit/>
          </a:bodyPr>
          <a:lstStyle/>
          <a:p>
            <a:pPr algn="ctr"/>
            <a:r>
              <a:rPr lang="uz-Cyrl-UZ" sz="2400" b="1" i="1">
                <a:solidFill>
                  <a:srgbClr val="0000FF"/>
                </a:solidFill>
                <a:ea typeface="Times New Roman" pitchFamily="18" charset="0"/>
                <a:cs typeface="Arial" charset="0"/>
              </a:rPr>
              <a:t>Кимёвий хоссаси</a:t>
            </a:r>
            <a:endParaRPr lang="ru-RU" sz="2400" i="1">
              <a:latin typeface="Calibri" pitchFamily="34" charset="0"/>
              <a:ea typeface="Times New Roman" pitchFamily="18" charset="0"/>
              <a:cs typeface="Arial" charset="0"/>
            </a:endParaRPr>
          </a:p>
        </p:txBody>
      </p:sp>
      <p:sp>
        <p:nvSpPr>
          <p:cNvPr id="20494" name="Прямоугольник 16"/>
          <p:cNvSpPr>
            <a:spLocks noChangeArrowheads="1"/>
          </p:cNvSpPr>
          <p:nvPr/>
        </p:nvSpPr>
        <p:spPr bwMode="auto">
          <a:xfrm>
            <a:off x="3810000" y="5943600"/>
            <a:ext cx="2514600" cy="369888"/>
          </a:xfrm>
          <a:prstGeom prst="rect">
            <a:avLst/>
          </a:prstGeom>
          <a:solidFill>
            <a:srgbClr val="FFFFCC"/>
          </a:solidFill>
          <a:ln w="9525">
            <a:noFill/>
            <a:miter lim="800000"/>
            <a:headEnd/>
            <a:tailEnd/>
          </a:ln>
        </p:spPr>
        <p:txBody>
          <a:bodyPr>
            <a:spAutoFit/>
          </a:bodyPr>
          <a:lstStyle/>
          <a:p>
            <a:r>
              <a:rPr lang="uz-Cyrl-UZ">
                <a:cs typeface="Arial" charset="0"/>
              </a:rPr>
              <a:t>Сувда эрувчанлиги</a:t>
            </a:r>
            <a:endParaRPr lang="ru-RU">
              <a:latin typeface="Calibri" pitchFamily="34" charset="0"/>
            </a:endParaRPr>
          </a:p>
        </p:txBody>
      </p:sp>
      <p:sp>
        <p:nvSpPr>
          <p:cNvPr id="20495" name="Прямоугольник 17"/>
          <p:cNvSpPr>
            <a:spLocks noChangeArrowheads="1"/>
          </p:cNvSpPr>
          <p:nvPr/>
        </p:nvSpPr>
        <p:spPr bwMode="auto">
          <a:xfrm>
            <a:off x="6324600" y="5943600"/>
            <a:ext cx="2514600" cy="369888"/>
          </a:xfrm>
          <a:prstGeom prst="rect">
            <a:avLst/>
          </a:prstGeom>
          <a:solidFill>
            <a:srgbClr val="FFFFCC"/>
          </a:solidFill>
          <a:ln w="9525">
            <a:noFill/>
            <a:miter lim="800000"/>
            <a:headEnd/>
            <a:tailEnd/>
          </a:ln>
        </p:spPr>
        <p:txBody>
          <a:bodyPr>
            <a:spAutoFit/>
          </a:bodyPr>
          <a:lstStyle/>
          <a:p>
            <a:r>
              <a:rPr lang="uz-Cyrl-UZ">
                <a:cs typeface="Arial" charset="0"/>
              </a:rPr>
              <a:t>0,0026г/100мл</a:t>
            </a:r>
            <a:endParaRPr lang="ru-RU">
              <a:latin typeface="Calibri"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5" name="Рисунок 4" descr="Табиий газ хоссалари.jpg"/>
          <p:cNvPicPr>
            <a:picLocks noChangeAspect="1" noChangeArrowheads="1"/>
          </p:cNvPicPr>
          <p:nvPr/>
        </p:nvPicPr>
        <p:blipFill>
          <a:blip r:embed="rId2"/>
          <a:srcRect/>
          <a:stretch>
            <a:fillRect/>
          </a:stretch>
        </p:blipFill>
        <p:spPr bwMode="auto">
          <a:xfrm>
            <a:off x="609600" y="457200"/>
            <a:ext cx="8001000" cy="57912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57200"/>
            <a:ext cx="8229600" cy="563563"/>
          </a:xfrm>
        </p:spPr>
        <p:txBody>
          <a:bodyPr rtlCol="0">
            <a:normAutofit fontScale="90000"/>
          </a:bodyPr>
          <a:lstStyle/>
          <a:p>
            <a:pPr eaLnBrk="1" fontAlgn="auto" hangingPunct="1">
              <a:spcAft>
                <a:spcPts val="0"/>
              </a:spcAft>
              <a:defRPr/>
            </a:pPr>
            <a:r>
              <a:rPr lang="uz-Cyrl-UZ" sz="2700" b="1" dirty="0">
                <a:solidFill>
                  <a:srgbClr val="002060"/>
                </a:solidFill>
              </a:rPr>
              <a:t>Ис газини юзага келтирувчи асосий газ жиҳозлари</a:t>
            </a:r>
            <a:br>
              <a:rPr lang="ru-RU" dirty="0"/>
            </a:br>
            <a:endParaRPr lang="ru-RU" dirty="0"/>
          </a:p>
        </p:txBody>
      </p:sp>
      <p:sp>
        <p:nvSpPr>
          <p:cNvPr id="22530" name="Rectangle 1"/>
          <p:cNvSpPr>
            <a:spLocks noChangeArrowheads="1"/>
          </p:cNvSpPr>
          <p:nvPr/>
        </p:nvSpPr>
        <p:spPr bwMode="auto">
          <a:xfrm>
            <a:off x="228600" y="2895600"/>
            <a:ext cx="8534400" cy="3694113"/>
          </a:xfrm>
          <a:prstGeom prst="rect">
            <a:avLst/>
          </a:prstGeom>
          <a:noFill/>
          <a:ln w="9525">
            <a:noFill/>
            <a:miter lim="800000"/>
            <a:headEnd/>
            <a:tailEnd/>
          </a:ln>
        </p:spPr>
        <p:txBody>
          <a:bodyPr anchor="ctr">
            <a:spAutoFit/>
          </a:bodyPr>
          <a:lstStyle/>
          <a:p>
            <a:pPr indent="449263" algn="just"/>
            <a:r>
              <a:rPr lang="uz-Cyrl-UZ" b="1" dirty="0">
                <a:solidFill>
                  <a:srgbClr val="0000FF"/>
                </a:solidFill>
                <a:latin typeface="Calibri" pitchFamily="34" charset="0"/>
                <a:cs typeface="Times New Roman" pitchFamily="18" charset="0"/>
              </a:rPr>
              <a:t>Ҳозирги кунда бозорларда, савдо дўконларда сотилаётган газда ишлайдиган ҳар хил турдаги газ ускуналари, жумладан, Эрон давлатида ишлаб чиқилган “камин” газ ускунаси чиройли, ихчам кўринишли, иситиш мавсумида ишлатиб, кейин уни бошқа жойга олиб қўйса бўладиган қулайликларга эгадир. Лекин ушбу “камин” газ ускунаси араб давлатларида ишлаб чиқилганлиги сабабли, уни ўрнатиш ва фойдаланиш тўғрисидаги техник паспорти ўзбек ёки рус тилига таржима қилинмаган. Уларни ўрнатиш ва фойдаланиш тўғрисидаги техник паспортини таржима қилинмаганлиги оқибатида ундан фойдаланиш хавфсизлик қоидалари билан танишиш имкониятини йўқотади. 	</a:t>
            </a:r>
          </a:p>
          <a:p>
            <a:pPr indent="449263" algn="just"/>
            <a:r>
              <a:rPr lang="uz-Cyrl-UZ" b="1" dirty="0">
                <a:solidFill>
                  <a:srgbClr val="FF0000"/>
                </a:solidFill>
                <a:latin typeface="Calibri" pitchFamily="34" charset="0"/>
                <a:cs typeface="Times New Roman" pitchFamily="18" charset="0"/>
              </a:rPr>
              <a:t>Ушбу қоидаларни тушунмасдан, ўзбошимчалик билан мутахассиснинг кўрсатмасисиз Қурилиш меъёрлари ва қоидаларининг  талабларини бузган ҳолатда ўрнатилмоқда ва натижада инсонларнинг ис газидан заҳарланиб, вафот этишларига сабаб бўлмоқда.</a:t>
            </a:r>
            <a:endParaRPr lang="uz-Cyrl-UZ" dirty="0">
              <a:cs typeface="Arial" charset="0"/>
            </a:endParaRPr>
          </a:p>
        </p:txBody>
      </p:sp>
      <p:pic>
        <p:nvPicPr>
          <p:cNvPr id="22531" name="Рисунок 5" descr="D:\Фото\DSC05125.JPG"/>
          <p:cNvPicPr>
            <a:picLocks noChangeAspect="1" noChangeArrowheads="1"/>
          </p:cNvPicPr>
          <p:nvPr/>
        </p:nvPicPr>
        <p:blipFill>
          <a:blip r:embed="rId2">
            <a:lum contrast="20000"/>
          </a:blip>
          <a:srcRect l="14494" r="8112"/>
          <a:stretch>
            <a:fillRect/>
          </a:stretch>
        </p:blipFill>
        <p:spPr bwMode="auto">
          <a:xfrm>
            <a:off x="1676400" y="914400"/>
            <a:ext cx="2586038" cy="1828800"/>
          </a:xfrm>
          <a:prstGeom prst="rect">
            <a:avLst/>
          </a:prstGeom>
          <a:noFill/>
          <a:ln w="9525">
            <a:noFill/>
            <a:miter lim="800000"/>
            <a:headEnd/>
            <a:tailEnd/>
          </a:ln>
        </p:spPr>
      </p:pic>
      <p:pic>
        <p:nvPicPr>
          <p:cNvPr id="22532" name="Рисунок 6" descr="Табиий газ хоссалари.jpg"/>
          <p:cNvPicPr>
            <a:picLocks noChangeAspect="1" noChangeArrowheads="1"/>
          </p:cNvPicPr>
          <p:nvPr/>
        </p:nvPicPr>
        <p:blipFill>
          <a:blip r:embed="rId3"/>
          <a:srcRect t="5556" b="6944"/>
          <a:stretch>
            <a:fillRect/>
          </a:stretch>
        </p:blipFill>
        <p:spPr bwMode="auto">
          <a:xfrm>
            <a:off x="4343400" y="838200"/>
            <a:ext cx="2813050" cy="20574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077200" cy="639762"/>
          </a:xfrm>
        </p:spPr>
        <p:txBody>
          <a:bodyPr rtlCol="0">
            <a:normAutofit fontScale="90000"/>
          </a:bodyPr>
          <a:lstStyle/>
          <a:p>
            <a:pPr indent="457200" eaLnBrk="1" hangingPunct="1">
              <a:defRPr/>
            </a:pPr>
            <a:r>
              <a:rPr lang="uz-Cyrl-UZ" sz="2000" b="1" dirty="0">
                <a:solidFill>
                  <a:srgbClr val="FF0000"/>
                </a:solidFill>
                <a:latin typeface="Arial" pitchFamily="34" charset="0"/>
                <a:ea typeface="Times New Roman" pitchFamily="18" charset="0"/>
                <a:cs typeface="Arial" pitchFamily="34" charset="0"/>
              </a:rPr>
              <a:t>Турмушда  табиий газдан фойдаланилаётганда абонентларга қуйидагилар тақиқланади:</a:t>
            </a:r>
            <a:br>
              <a:rPr lang="ru-RU" sz="2000" dirty="0">
                <a:latin typeface="Arial" pitchFamily="34" charset="0"/>
                <a:cs typeface="Arial" pitchFamily="34" charset="0"/>
              </a:rPr>
            </a:br>
            <a:endParaRPr lang="ru-RU" sz="2000" dirty="0">
              <a:latin typeface="Arial" pitchFamily="34" charset="0"/>
              <a:cs typeface="Arial" pitchFamily="34" charset="0"/>
            </a:endParaRPr>
          </a:p>
        </p:txBody>
      </p:sp>
      <p:sp>
        <p:nvSpPr>
          <p:cNvPr id="23554" name="Rectangle 1"/>
          <p:cNvSpPr>
            <a:spLocks noChangeArrowheads="1"/>
          </p:cNvSpPr>
          <p:nvPr/>
        </p:nvSpPr>
        <p:spPr bwMode="auto">
          <a:xfrm>
            <a:off x="381000" y="914400"/>
            <a:ext cx="8534400" cy="5702300"/>
          </a:xfrm>
          <a:prstGeom prst="rect">
            <a:avLst/>
          </a:prstGeom>
          <a:noFill/>
          <a:ln w="9525">
            <a:noFill/>
            <a:miter lim="800000"/>
            <a:headEnd/>
            <a:tailEnd/>
          </a:ln>
        </p:spPr>
        <p:txBody>
          <a:bodyPr anchor="ctr">
            <a:spAutoFit/>
          </a:bodyPr>
          <a:lstStyle/>
          <a:p>
            <a:pPr indent="457200" algn="just" eaLnBrk="0" hangingPunct="0"/>
            <a:r>
              <a:rPr lang="uz-Cyrl-UZ" sz="1300" b="1">
                <a:solidFill>
                  <a:srgbClr val="0000FF"/>
                </a:solidFill>
                <a:latin typeface="Times New Roman" pitchFamily="18" charset="0"/>
                <a:cs typeface="Times New Roman" pitchFamily="18" charset="0"/>
              </a:rPr>
              <a:t>Ўзбошимчалик билан уй (квартира, боғдаги уй)ни газлаштириш, газ асбоби ўрнини алмаштириш, уни янгилаш ва тузатиш.</a:t>
            </a:r>
            <a:endParaRPr lang="ru-RU" sz="1300" b="1">
              <a:latin typeface="Times New Roman" pitchFamily="18" charset="0"/>
              <a:cs typeface="Times New Roman" pitchFamily="18" charset="0"/>
            </a:endParaRPr>
          </a:p>
          <a:p>
            <a:pPr indent="457200" algn="just" eaLnBrk="0" hangingPunct="0"/>
            <a:r>
              <a:rPr lang="uz-Cyrl-UZ" sz="1300" b="1">
                <a:solidFill>
                  <a:srgbClr val="0000FF"/>
                </a:solidFill>
                <a:latin typeface="Times New Roman" pitchFamily="18" charset="0"/>
                <a:cs typeface="Times New Roman" pitchFamily="18" charset="0"/>
              </a:rPr>
              <a:t>Газ асбоблари ўрнатилган хоналар режасини ўзгартириш.</a:t>
            </a:r>
            <a:endParaRPr lang="ru-RU" sz="1300" b="1">
              <a:latin typeface="Times New Roman" pitchFamily="18" charset="0"/>
              <a:cs typeface="Times New Roman" pitchFamily="18" charset="0"/>
            </a:endParaRPr>
          </a:p>
          <a:p>
            <a:pPr indent="457200" algn="just" eaLnBrk="0" hangingPunct="0"/>
            <a:r>
              <a:rPr lang="uz-Cyrl-UZ" sz="1300" b="1">
                <a:solidFill>
                  <a:srgbClr val="0000FF"/>
                </a:solidFill>
                <a:latin typeface="Times New Roman" pitchFamily="18" charset="0"/>
                <a:cs typeface="Times New Roman" pitchFamily="18" charset="0"/>
              </a:rPr>
              <a:t>Газ асбоблари конструкциясига ўзгартиришлар киритиш. Дудбурон ва шамоллатиш тизимларини ўзгартириш. Шамоллатиш каналларини тўсиб қўйиш, дудбуронларни тозалаш «чўнтаклари» ва дарчаларини беркитиб ташлаш.</a:t>
            </a:r>
            <a:endParaRPr lang="ru-RU" sz="1300" b="1">
              <a:latin typeface="Times New Roman" pitchFamily="18" charset="0"/>
              <a:cs typeface="Times New Roman" pitchFamily="18" charset="0"/>
            </a:endParaRPr>
          </a:p>
          <a:p>
            <a:pPr indent="457200" algn="just" eaLnBrk="0" hangingPunct="0"/>
            <a:r>
              <a:rPr lang="uz-Cyrl-UZ" sz="1300" b="1">
                <a:solidFill>
                  <a:srgbClr val="0000FF"/>
                </a:solidFill>
                <a:latin typeface="Times New Roman" pitchFamily="18" charset="0"/>
                <a:cs typeface="Times New Roman" pitchFamily="18" charset="0"/>
              </a:rPr>
              <a:t>Хавфсизлик ва созлаш автоматикасини узиб қўйиш. Газ асбоблари, автоматикаси, арматураси ва газ баллонлари носозлигида газдан фойдаланиш.</a:t>
            </a:r>
            <a:endParaRPr lang="ru-RU" sz="1300" b="1">
              <a:latin typeface="Times New Roman" pitchFamily="18" charset="0"/>
              <a:cs typeface="Times New Roman" pitchFamily="18" charset="0"/>
            </a:endParaRPr>
          </a:p>
          <a:p>
            <a:pPr indent="457200" algn="just" eaLnBrk="0" hangingPunct="0"/>
            <a:r>
              <a:rPr lang="uz-Cyrl-UZ" sz="1300" b="1">
                <a:solidFill>
                  <a:srgbClr val="0000FF"/>
                </a:solidFill>
                <a:latin typeface="Times New Roman" pitchFamily="18" charset="0"/>
                <a:cs typeface="Times New Roman" pitchFamily="18" charset="0"/>
              </a:rPr>
              <a:t>Газлаштирилган печка ва дудбуронлар деворнинг, сувоғининг зичлиги бузилган (ёрилган) бўлса, газдан фойдаланиш.</a:t>
            </a:r>
            <a:endParaRPr lang="ru-RU" sz="1300" b="1">
              <a:latin typeface="Times New Roman" pitchFamily="18" charset="0"/>
              <a:cs typeface="Times New Roman" pitchFamily="18" charset="0"/>
            </a:endParaRPr>
          </a:p>
          <a:p>
            <a:pPr indent="457200" algn="just" eaLnBrk="0" hangingPunct="0"/>
            <a:r>
              <a:rPr lang="uz-Cyrl-UZ" sz="1300" b="1">
                <a:solidFill>
                  <a:srgbClr val="0000FF"/>
                </a:solidFill>
                <a:latin typeface="Times New Roman" pitchFamily="18" charset="0"/>
                <a:cs typeface="Times New Roman" pitchFamily="18" charset="0"/>
              </a:rPr>
              <a:t>Дудбурон ва шамоллатиш каналлари текширилганлиги ҳамда тозаланганлиги ҳақидаги далолатноманинг муддати тугаган холларда газдан фойдаланиш.</a:t>
            </a:r>
            <a:endParaRPr lang="ru-RU" sz="1300" b="1">
              <a:latin typeface="Times New Roman" pitchFamily="18" charset="0"/>
              <a:cs typeface="Times New Roman" pitchFamily="18" charset="0"/>
            </a:endParaRPr>
          </a:p>
          <a:p>
            <a:pPr indent="457200" algn="just" eaLnBrk="0" hangingPunct="0"/>
            <a:r>
              <a:rPr lang="uz-Cyrl-UZ" sz="1300" b="1">
                <a:solidFill>
                  <a:srgbClr val="0000FF"/>
                </a:solidFill>
                <a:latin typeface="Times New Roman" pitchFamily="18" charset="0"/>
                <a:cs typeface="Times New Roman" pitchFamily="18" charset="0"/>
              </a:rPr>
              <a:t>Махсус маълумотга эга бўлмай ва газ хўжалиги корхонасидан рухсатнома олмасдан туриб дудбурон ҳамда шамоллатиш каналларини тозалаш, текшириш ҳамда газ-баллон қурилманинг баллонларини алмаштириш.</a:t>
            </a:r>
            <a:endParaRPr lang="ru-RU" sz="1300" b="1">
              <a:latin typeface="Times New Roman" pitchFamily="18" charset="0"/>
              <a:cs typeface="Times New Roman" pitchFamily="18" charset="0"/>
            </a:endParaRPr>
          </a:p>
          <a:p>
            <a:pPr indent="457200" algn="just" eaLnBrk="0" hangingPunct="0"/>
            <a:r>
              <a:rPr lang="uz-Cyrl-UZ" sz="1300" b="1">
                <a:solidFill>
                  <a:srgbClr val="0000FF"/>
                </a:solidFill>
                <a:latin typeface="Times New Roman" pitchFamily="18" charset="0"/>
                <a:cs typeface="Times New Roman" pitchFamily="18" charset="0"/>
              </a:rPr>
              <a:t>Форточкалар (фрамугалар), жалюзали панжаралар, шамоллатиш каналларининг панжаралари, ваннахона ва ошхона эшиклари остидаги тирқишлар ёпиқлигида, дудбурон ҳамда шамоллатиш каналларида тортиш бўлмаган холларда газдан фойдаланиш.</a:t>
            </a:r>
            <a:endParaRPr lang="ru-RU" sz="1300" b="1">
              <a:latin typeface="Times New Roman" pitchFamily="18" charset="0"/>
              <a:cs typeface="Times New Roman" pitchFamily="18" charset="0"/>
            </a:endParaRPr>
          </a:p>
          <a:p>
            <a:pPr indent="457200" algn="just" eaLnBrk="0" hangingPunct="0"/>
            <a:r>
              <a:rPr lang="uz-Cyrl-UZ" sz="1300" b="1">
                <a:solidFill>
                  <a:srgbClr val="0000FF"/>
                </a:solidFill>
                <a:latin typeface="Times New Roman" pitchFamily="18" charset="0"/>
                <a:cs typeface="Times New Roman" pitchFamily="18" charset="0"/>
              </a:rPr>
              <a:t>Узлуксиз ишлашга мўлжалланган ва бунинг учун тегишли автоматикага эга бўлганларидан ташқари ишлаётган газ асбобларини қаровсиз қолдириш.</a:t>
            </a:r>
            <a:endParaRPr lang="ru-RU" sz="1300" b="1">
              <a:latin typeface="Times New Roman" pitchFamily="18" charset="0"/>
              <a:cs typeface="Times New Roman" pitchFamily="18" charset="0"/>
            </a:endParaRPr>
          </a:p>
          <a:p>
            <a:pPr indent="457200" algn="just" eaLnBrk="0" hangingPunct="0"/>
            <a:r>
              <a:rPr lang="uz-Cyrl-UZ" sz="1300" b="1">
                <a:solidFill>
                  <a:srgbClr val="0000FF"/>
                </a:solidFill>
                <a:latin typeface="Times New Roman" pitchFamily="18" charset="0"/>
                <a:cs typeface="Times New Roman" pitchFamily="18" charset="0"/>
              </a:rPr>
              <a:t>Мактабгача ёшдаги болаларга шунингдек ўз ҳаракатларини назорат қила олмайдиган ва газ асбобларидан фойдаланиш қоидаларини билмайдиган  шахсларга улардан фойдаланишга рухсат бериш.</a:t>
            </a:r>
            <a:endParaRPr lang="ru-RU" sz="1300" b="1">
              <a:latin typeface="Times New Roman" pitchFamily="18" charset="0"/>
              <a:cs typeface="Times New Roman" pitchFamily="18" charset="0"/>
            </a:endParaRPr>
          </a:p>
          <a:p>
            <a:pPr indent="457200" algn="just" eaLnBrk="0" hangingPunct="0"/>
            <a:r>
              <a:rPr lang="uz-Cyrl-UZ" sz="1300" b="1">
                <a:solidFill>
                  <a:srgbClr val="0000FF"/>
                </a:solidFill>
                <a:latin typeface="Times New Roman" pitchFamily="18" charset="0"/>
                <a:cs typeface="Times New Roman" pitchFamily="18" charset="0"/>
              </a:rPr>
              <a:t>Газ қувурларига арқон боғлаш, унга юк осиш.</a:t>
            </a:r>
            <a:endParaRPr lang="ru-RU" sz="1300" b="1">
              <a:latin typeface="Times New Roman" pitchFamily="18" charset="0"/>
              <a:cs typeface="Times New Roman" pitchFamily="18" charset="0"/>
            </a:endParaRPr>
          </a:p>
          <a:p>
            <a:pPr indent="457200" algn="just" eaLnBrk="0" hangingPunct="0"/>
            <a:r>
              <a:rPr lang="uz-Cyrl-UZ" sz="1300" b="1">
                <a:solidFill>
                  <a:srgbClr val="0000FF"/>
                </a:solidFill>
                <a:latin typeface="Times New Roman" pitchFamily="18" charset="0"/>
                <a:cs typeface="Times New Roman" pitchFamily="18" charset="0"/>
              </a:rPr>
              <a:t>Газдан ва газ асбобларидан бошқа мақсадларда фойдаланиш. Газ плиталаридан хоналарни иситиш учун фойдаланиш.</a:t>
            </a:r>
            <a:endParaRPr lang="ru-RU" sz="1300" b="1">
              <a:latin typeface="Times New Roman" pitchFamily="18" charset="0"/>
              <a:cs typeface="Times New Roman" pitchFamily="18" charset="0"/>
            </a:endParaRPr>
          </a:p>
          <a:p>
            <a:pPr indent="457200" algn="just" eaLnBrk="0" hangingPunct="0"/>
            <a:r>
              <a:rPr lang="uz-Cyrl-UZ" sz="1300" b="1">
                <a:solidFill>
                  <a:srgbClr val="0000FF"/>
                </a:solidFill>
                <a:latin typeface="Times New Roman" pitchFamily="18" charset="0"/>
                <a:cs typeface="Times New Roman" pitchFamily="18" charset="0"/>
              </a:rPr>
              <a:t>Газ асбоблари ўрнатилган хоналарда ухлаш ва дам олиш учун фойдаланиш.</a:t>
            </a:r>
            <a:endParaRPr lang="ru-RU" sz="1300" b="1">
              <a:latin typeface="Times New Roman" pitchFamily="18" charset="0"/>
              <a:cs typeface="Times New Roman" pitchFamily="18" charset="0"/>
            </a:endParaRPr>
          </a:p>
          <a:p>
            <a:pPr indent="457200" algn="just" eaLnBrk="0" hangingPunct="0"/>
            <a:r>
              <a:rPr lang="uz-Cyrl-UZ" sz="1300" b="1">
                <a:solidFill>
                  <a:srgbClr val="0000FF"/>
                </a:solidFill>
                <a:latin typeface="Times New Roman" pitchFamily="18" charset="0"/>
                <a:cs typeface="Times New Roman" pitchFamily="18" charset="0"/>
              </a:rPr>
              <a:t>Газ сирқиётганлигини аниқлаш учун олов ёқиб текшириш.</a:t>
            </a:r>
            <a:endParaRPr lang="ru-RU" sz="1300" b="1">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487362"/>
          </a:xfrm>
        </p:spPr>
        <p:txBody>
          <a:bodyPr rtlCol="0">
            <a:normAutofit fontScale="90000"/>
          </a:bodyPr>
          <a:lstStyle/>
          <a:p>
            <a:pPr eaLnBrk="1" fontAlgn="auto" hangingPunct="1">
              <a:spcAft>
                <a:spcPts val="0"/>
              </a:spcAft>
              <a:defRPr/>
            </a:pPr>
            <a:r>
              <a:rPr lang="uz-Cyrl-UZ" sz="2700" b="1" dirty="0">
                <a:solidFill>
                  <a:srgbClr val="660066"/>
                </a:solidFill>
                <a:latin typeface="Arial" pitchFamily="34" charset="0"/>
                <a:cs typeface="Arial" pitchFamily="34" charset="0"/>
              </a:rPr>
              <a:t>Cуюлтирилган газнинг хоссалари</a:t>
            </a:r>
            <a:endParaRPr lang="ru-RU" dirty="0">
              <a:solidFill>
                <a:srgbClr val="660066"/>
              </a:solidFill>
            </a:endParaRPr>
          </a:p>
        </p:txBody>
      </p:sp>
      <p:pic>
        <p:nvPicPr>
          <p:cNvPr id="24578" name="Рисунок 3" descr="Слайд2.JPG"/>
          <p:cNvPicPr>
            <a:picLocks noChangeAspect="1" noChangeArrowheads="1"/>
          </p:cNvPicPr>
          <p:nvPr/>
        </p:nvPicPr>
        <p:blipFill>
          <a:blip r:embed="rId2"/>
          <a:srcRect/>
          <a:stretch>
            <a:fillRect/>
          </a:stretch>
        </p:blipFill>
        <p:spPr bwMode="auto">
          <a:xfrm>
            <a:off x="3200400" y="1219200"/>
            <a:ext cx="2743200" cy="2197100"/>
          </a:xfrm>
          <a:prstGeom prst="rect">
            <a:avLst/>
          </a:prstGeom>
          <a:noFill/>
          <a:ln w="9525">
            <a:noFill/>
            <a:miter lim="800000"/>
            <a:headEnd/>
            <a:tailEnd/>
          </a:ln>
        </p:spPr>
      </p:pic>
      <p:sp>
        <p:nvSpPr>
          <p:cNvPr id="24579" name="Rectangle 1"/>
          <p:cNvSpPr>
            <a:spLocks noChangeArrowheads="1"/>
          </p:cNvSpPr>
          <p:nvPr/>
        </p:nvSpPr>
        <p:spPr bwMode="auto">
          <a:xfrm>
            <a:off x="381000" y="3733800"/>
            <a:ext cx="8229600" cy="2462213"/>
          </a:xfrm>
          <a:prstGeom prst="rect">
            <a:avLst/>
          </a:prstGeom>
          <a:noFill/>
          <a:ln w="9525">
            <a:noFill/>
            <a:miter lim="800000"/>
            <a:headEnd/>
            <a:tailEnd/>
          </a:ln>
        </p:spPr>
        <p:txBody>
          <a:bodyPr anchor="ctr">
            <a:spAutoFit/>
          </a:bodyPr>
          <a:lstStyle/>
          <a:p>
            <a:pPr algn="just"/>
            <a:r>
              <a:rPr lang="uz-Cyrl-UZ" sz="2200" b="1">
                <a:solidFill>
                  <a:srgbClr val="0000FF"/>
                </a:solidFill>
                <a:ea typeface="Times New Roman" pitchFamily="18" charset="0"/>
                <a:cs typeface="Arial" charset="0"/>
              </a:rPr>
              <a:t>	Суюлтирилган газ пропан (С</a:t>
            </a:r>
            <a:r>
              <a:rPr lang="uz-Cyrl-UZ" sz="2200" b="1" baseline="-30000">
                <a:solidFill>
                  <a:srgbClr val="0000FF"/>
                </a:solidFill>
                <a:ea typeface="Times New Roman" pitchFamily="18" charset="0"/>
                <a:cs typeface="Arial" charset="0"/>
              </a:rPr>
              <a:t>3</a:t>
            </a:r>
            <a:r>
              <a:rPr lang="uz-Cyrl-UZ" sz="2200" b="1">
                <a:solidFill>
                  <a:srgbClr val="0000FF"/>
                </a:solidFill>
                <a:ea typeface="Times New Roman" pitchFamily="18" charset="0"/>
                <a:cs typeface="Arial" charset="0"/>
              </a:rPr>
              <a:t>Н</a:t>
            </a:r>
            <a:r>
              <a:rPr lang="uz-Cyrl-UZ" sz="2200" b="1" baseline="-30000">
                <a:solidFill>
                  <a:srgbClr val="0000FF"/>
                </a:solidFill>
                <a:ea typeface="Times New Roman" pitchFamily="18" charset="0"/>
                <a:cs typeface="Arial" charset="0"/>
              </a:rPr>
              <a:t>8</a:t>
            </a:r>
            <a:r>
              <a:rPr lang="uz-Cyrl-UZ" sz="2200" b="1">
                <a:solidFill>
                  <a:srgbClr val="0000FF"/>
                </a:solidFill>
                <a:ea typeface="Times New Roman" pitchFamily="18" charset="0"/>
                <a:cs typeface="Arial" charset="0"/>
              </a:rPr>
              <a:t>) ва бутан (С</a:t>
            </a:r>
            <a:r>
              <a:rPr lang="uz-Cyrl-UZ" sz="2200" b="1" baseline="-30000">
                <a:solidFill>
                  <a:srgbClr val="0000FF"/>
                </a:solidFill>
                <a:ea typeface="Times New Roman" pitchFamily="18" charset="0"/>
                <a:cs typeface="Arial" charset="0"/>
              </a:rPr>
              <a:t>4</a:t>
            </a:r>
            <a:r>
              <a:rPr lang="uz-Cyrl-UZ" sz="2200" b="1">
                <a:solidFill>
                  <a:srgbClr val="0000FF"/>
                </a:solidFill>
                <a:ea typeface="Times New Roman" pitchFamily="18" charset="0"/>
                <a:cs typeface="Arial" charset="0"/>
              </a:rPr>
              <a:t>Н</a:t>
            </a:r>
            <a:r>
              <a:rPr lang="uz-Cyrl-UZ" sz="2200" b="1" baseline="-30000">
                <a:solidFill>
                  <a:srgbClr val="0000FF"/>
                </a:solidFill>
                <a:ea typeface="Times New Roman" pitchFamily="18" charset="0"/>
                <a:cs typeface="Arial" charset="0"/>
              </a:rPr>
              <a:t>10</a:t>
            </a:r>
            <a:r>
              <a:rPr lang="uz-Cyrl-UZ" sz="2200" b="1">
                <a:solidFill>
                  <a:srgbClr val="0000FF"/>
                </a:solidFill>
                <a:ea typeface="Times New Roman" pitchFamily="18" charset="0"/>
                <a:cs typeface="Arial" charset="0"/>
              </a:rPr>
              <a:t>) иборат бўлиб, нефть махсулотларидан нефтни қайта ишлаш заводларида ишлаб чиқарилади. </a:t>
            </a:r>
          </a:p>
          <a:p>
            <a:pPr algn="just"/>
            <a:r>
              <a:rPr lang="uz-Cyrl-UZ" sz="2200" b="1">
                <a:solidFill>
                  <a:srgbClr val="0000FF"/>
                </a:solidFill>
                <a:ea typeface="Times New Roman" pitchFamily="18" charset="0"/>
                <a:cs typeface="Arial" charset="0"/>
              </a:rPr>
              <a:t>	Пропан газининг солиштирма оғирлиги – 1,98 кг/н.м3, қайта ишлангунгача ҳидсиз, рангсиз ва таъмсиз бўлади. Суюлтирилган газ ҳаводан оғир бўлганлиги учун пастга интилади ва хонанинг пастки қисмига йиғилади.</a:t>
            </a:r>
            <a:endParaRPr lang="uz-Cyrl-UZ">
              <a:ea typeface="Times New Roman" pitchFamily="18" charset="0"/>
              <a:cs typeface="Arial"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1" name="Рисунок 3" descr="Слайд3.JPG"/>
          <p:cNvPicPr>
            <a:picLocks noChangeAspect="1" noChangeArrowheads="1"/>
          </p:cNvPicPr>
          <p:nvPr/>
        </p:nvPicPr>
        <p:blipFill>
          <a:blip r:embed="rId2"/>
          <a:srcRect t="10197" b="3288"/>
          <a:stretch>
            <a:fillRect/>
          </a:stretch>
        </p:blipFill>
        <p:spPr bwMode="auto">
          <a:xfrm>
            <a:off x="2209800" y="1066800"/>
            <a:ext cx="4953000" cy="1905000"/>
          </a:xfrm>
          <a:prstGeom prst="rect">
            <a:avLst/>
          </a:prstGeom>
          <a:noFill/>
          <a:ln w="9525">
            <a:noFill/>
            <a:miter lim="800000"/>
            <a:headEnd/>
            <a:tailEnd/>
          </a:ln>
        </p:spPr>
      </p:pic>
      <p:sp>
        <p:nvSpPr>
          <p:cNvPr id="24577" name="Rectangle 1"/>
          <p:cNvSpPr>
            <a:spLocks noChangeArrowheads="1"/>
          </p:cNvSpPr>
          <p:nvPr/>
        </p:nvSpPr>
        <p:spPr bwMode="auto">
          <a:xfrm>
            <a:off x="304800" y="3124200"/>
            <a:ext cx="8610600" cy="3492500"/>
          </a:xfrm>
          <a:prstGeom prst="rect">
            <a:avLst/>
          </a:prstGeom>
          <a:noFill/>
          <a:ln w="9525">
            <a:noFill/>
            <a:miter lim="800000"/>
            <a:headEnd/>
            <a:tailEnd/>
          </a:ln>
          <a:effectLst/>
        </p:spPr>
        <p:txBody>
          <a:bodyPr anchor="ctr">
            <a:spAutoFit/>
          </a:bodyPr>
          <a:lstStyle/>
          <a:p>
            <a:pPr indent="449263" algn="just">
              <a:defRPr/>
            </a:pPr>
            <a:r>
              <a:rPr lang="uz-Cyrl-UZ" sz="1700" b="1" dirty="0">
                <a:solidFill>
                  <a:srgbClr val="0000FF"/>
                </a:solidFill>
                <a:latin typeface="Arial" pitchFamily="34" charset="0"/>
                <a:ea typeface="Times New Roman" pitchFamily="18" charset="0"/>
                <a:cs typeface="Arial" pitchFamily="34" charset="0"/>
              </a:rPr>
              <a:t>Суюлтирилган газларга заводларда, газни қайта ишлаш корхоналарида  одарант – ўткир ҳидли модда этилмеркоптан қўшилади. 1 тонна суюлтирилган газларга ёзда 60 грамм, қишки мавсумда 90 грамм этилмеркоптан қўшилади.</a:t>
            </a:r>
            <a:endParaRPr lang="ru-RU" sz="1700" dirty="0">
              <a:latin typeface="Arial" pitchFamily="34" charset="0"/>
              <a:cs typeface="Arial" pitchFamily="34" charset="0"/>
            </a:endParaRPr>
          </a:p>
          <a:p>
            <a:pPr indent="449263" algn="just" eaLnBrk="0" hangingPunct="0">
              <a:defRPr/>
            </a:pPr>
            <a:r>
              <a:rPr lang="uz-Cyrl-UZ" sz="1700" b="1" dirty="0">
                <a:solidFill>
                  <a:srgbClr val="0000FF"/>
                </a:solidFill>
                <a:latin typeface="Arial" pitchFamily="34" charset="0"/>
                <a:ea typeface="Times New Roman" pitchFamily="18" charset="0"/>
                <a:cs typeface="Arial" pitchFamily="34" charset="0"/>
              </a:rPr>
              <a:t>Пропан портлаш чоғида майдон ҳисобига 7,1дан 8,5 кг.см</a:t>
            </a:r>
            <a:r>
              <a:rPr lang="uz-Cyrl-UZ" sz="1700" b="1" baseline="30000" dirty="0">
                <a:solidFill>
                  <a:srgbClr val="0000FF"/>
                </a:solidFill>
                <a:latin typeface="Arial" pitchFamily="34" charset="0"/>
                <a:ea typeface="Times New Roman" pitchFamily="18" charset="0"/>
                <a:cs typeface="Arial" pitchFamily="34" charset="0"/>
              </a:rPr>
              <a:t>2</a:t>
            </a:r>
            <a:r>
              <a:rPr lang="uz-Cyrl-UZ" sz="1700" b="1" dirty="0">
                <a:solidFill>
                  <a:srgbClr val="0000FF"/>
                </a:solidFill>
                <a:latin typeface="Arial" pitchFamily="34" charset="0"/>
                <a:ea typeface="Times New Roman" pitchFamily="18" charset="0"/>
                <a:cs typeface="Arial" pitchFamily="34" charset="0"/>
              </a:rPr>
              <a:t>гача зарб кучи  ҳосил бўлади.</a:t>
            </a:r>
            <a:endParaRPr lang="ru-RU" sz="1700" dirty="0">
              <a:latin typeface="Arial" pitchFamily="34" charset="0"/>
              <a:cs typeface="Arial" pitchFamily="34" charset="0"/>
            </a:endParaRPr>
          </a:p>
          <a:p>
            <a:pPr indent="449263" algn="just" eaLnBrk="0" hangingPunct="0">
              <a:defRPr/>
            </a:pPr>
            <a:r>
              <a:rPr lang="uz-Cyrl-UZ" sz="1700" b="1" dirty="0">
                <a:solidFill>
                  <a:srgbClr val="0000FF"/>
                </a:solidFill>
                <a:latin typeface="Arial" pitchFamily="34" charset="0"/>
                <a:ea typeface="Times New Roman" pitchFamily="18" charset="0"/>
                <a:cs typeface="Arial" pitchFamily="34" charset="0"/>
              </a:rPr>
              <a:t>Пропаннинг ёниш ҳарорати 2110 0С.</a:t>
            </a:r>
            <a:endParaRPr lang="ru-RU" sz="1700" dirty="0">
              <a:latin typeface="Arial" pitchFamily="34" charset="0"/>
              <a:cs typeface="Arial" pitchFamily="34" charset="0"/>
            </a:endParaRPr>
          </a:p>
          <a:p>
            <a:pPr algn="just" fontAlgn="auto">
              <a:spcBef>
                <a:spcPts val="0"/>
              </a:spcBef>
              <a:spcAft>
                <a:spcPts val="0"/>
              </a:spcAft>
              <a:defRPr/>
            </a:pPr>
            <a:r>
              <a:rPr lang="uz-Cyrl-UZ" sz="1700" b="1" dirty="0">
                <a:solidFill>
                  <a:srgbClr val="0000FF"/>
                </a:solidFill>
                <a:latin typeface="Arial" pitchFamily="34" charset="0"/>
                <a:ea typeface="Times New Roman" pitchFamily="18" charset="0"/>
                <a:cs typeface="Arial" pitchFamily="34" charset="0"/>
              </a:rPr>
              <a:t>Пропан билан ҳаво аралашмаси алангасини тарқалиш тезлиги 0,82 м/с. Ёнаётганда сув буғи, углерод икки оксиди ва иссиқлик ажралиб чиқади.            1 м</a:t>
            </a:r>
            <a:r>
              <a:rPr lang="uz-Cyrl-UZ" sz="1700" b="1" baseline="30000" dirty="0">
                <a:solidFill>
                  <a:srgbClr val="0000FF"/>
                </a:solidFill>
                <a:latin typeface="Arial" pitchFamily="34" charset="0"/>
                <a:ea typeface="Times New Roman" pitchFamily="18" charset="0"/>
                <a:cs typeface="Arial" pitchFamily="34" charset="0"/>
              </a:rPr>
              <a:t>3</a:t>
            </a:r>
            <a:r>
              <a:rPr lang="uz-Cyrl-UZ" sz="1700" b="1" dirty="0">
                <a:solidFill>
                  <a:srgbClr val="0000FF"/>
                </a:solidFill>
                <a:latin typeface="Arial" pitchFamily="34" charset="0"/>
                <a:ea typeface="Times New Roman" pitchFamily="18" charset="0"/>
                <a:cs typeface="Arial" pitchFamily="34" charset="0"/>
              </a:rPr>
              <a:t> пропаннинг ёниши учун 5 м</a:t>
            </a:r>
            <a:r>
              <a:rPr lang="uz-Cyrl-UZ" sz="1700" b="1" baseline="30000" dirty="0">
                <a:solidFill>
                  <a:srgbClr val="0000FF"/>
                </a:solidFill>
                <a:latin typeface="Arial" pitchFamily="34" charset="0"/>
                <a:ea typeface="Times New Roman" pitchFamily="18" charset="0"/>
                <a:cs typeface="Arial" pitchFamily="34" charset="0"/>
              </a:rPr>
              <a:t>3</a:t>
            </a:r>
            <a:r>
              <a:rPr lang="uz-Cyrl-UZ" sz="1700" b="1" dirty="0">
                <a:solidFill>
                  <a:srgbClr val="0000FF"/>
                </a:solidFill>
                <a:latin typeface="Arial" pitchFamily="34" charset="0"/>
                <a:ea typeface="Times New Roman" pitchFamily="18" charset="0"/>
                <a:cs typeface="Arial" pitchFamily="34" charset="0"/>
              </a:rPr>
              <a:t> кислород ёки 23,8 м</a:t>
            </a:r>
            <a:r>
              <a:rPr lang="uz-Cyrl-UZ" sz="1700" b="1" baseline="30000" dirty="0">
                <a:solidFill>
                  <a:srgbClr val="0000FF"/>
                </a:solidFill>
                <a:latin typeface="Arial" pitchFamily="34" charset="0"/>
                <a:ea typeface="Times New Roman" pitchFamily="18" charset="0"/>
                <a:cs typeface="Arial" pitchFamily="34" charset="0"/>
              </a:rPr>
              <a:t>3</a:t>
            </a:r>
            <a:r>
              <a:rPr lang="uz-Cyrl-UZ" sz="1700" b="1" dirty="0">
                <a:solidFill>
                  <a:srgbClr val="0000FF"/>
                </a:solidFill>
                <a:latin typeface="Arial" pitchFamily="34" charset="0"/>
                <a:ea typeface="Times New Roman" pitchFamily="18" charset="0"/>
                <a:cs typeface="Arial" pitchFamily="34" charset="0"/>
              </a:rPr>
              <a:t>  ҳаво керак бўлади.</a:t>
            </a:r>
            <a:endParaRPr lang="ru-RU" sz="1700" b="1" dirty="0">
              <a:solidFill>
                <a:srgbClr val="0000FF"/>
              </a:solidFill>
              <a:latin typeface="Arial" pitchFamily="34" charset="0"/>
              <a:ea typeface="Times New Roman" pitchFamily="18" charset="0"/>
              <a:cs typeface="Arial" pitchFamily="34" charset="0"/>
            </a:endParaRPr>
          </a:p>
          <a:p>
            <a:pPr algn="just" fontAlgn="auto">
              <a:spcBef>
                <a:spcPts val="0"/>
              </a:spcBef>
              <a:spcAft>
                <a:spcPts val="0"/>
              </a:spcAft>
              <a:defRPr/>
            </a:pPr>
            <a:r>
              <a:rPr lang="uz-Cyrl-UZ" sz="1700" b="1" dirty="0">
                <a:solidFill>
                  <a:srgbClr val="0000FF"/>
                </a:solidFill>
                <a:latin typeface="Arial" pitchFamily="34" charset="0"/>
                <a:ea typeface="Times New Roman" pitchFamily="18" charset="0"/>
                <a:cs typeface="Arial" pitchFamily="34" charset="0"/>
              </a:rPr>
              <a:t>        Пропаннинг иссиқлик ажралишини энг паст даражаси 22000 ккал/ м</a:t>
            </a:r>
            <a:r>
              <a:rPr lang="uz-Cyrl-UZ" sz="1700" b="1" baseline="30000" dirty="0">
                <a:solidFill>
                  <a:srgbClr val="0000FF"/>
                </a:solidFill>
                <a:latin typeface="Arial" pitchFamily="34" charset="0"/>
                <a:ea typeface="Times New Roman" pitchFamily="18" charset="0"/>
                <a:cs typeface="Arial" pitchFamily="34" charset="0"/>
              </a:rPr>
              <a:t>3</a:t>
            </a:r>
            <a:r>
              <a:rPr lang="uz-Cyrl-UZ" sz="1700" b="1" dirty="0">
                <a:solidFill>
                  <a:srgbClr val="0000FF"/>
                </a:solidFill>
                <a:latin typeface="Arial" pitchFamily="34" charset="0"/>
                <a:ea typeface="Times New Roman" pitchFamily="18" charset="0"/>
                <a:cs typeface="Arial" pitchFamily="34" charset="0"/>
              </a:rPr>
              <a:t> бўлса, юқори даражаси – 24000 ккал/ м</a:t>
            </a:r>
            <a:r>
              <a:rPr lang="uz-Cyrl-UZ" sz="1700" b="1" baseline="30000" dirty="0">
                <a:solidFill>
                  <a:srgbClr val="0000FF"/>
                </a:solidFill>
                <a:latin typeface="Arial" pitchFamily="34" charset="0"/>
                <a:ea typeface="Times New Roman" pitchFamily="18" charset="0"/>
                <a:cs typeface="Arial" pitchFamily="34" charset="0"/>
              </a:rPr>
              <a:t>3</a:t>
            </a:r>
            <a:r>
              <a:rPr lang="uz-Cyrl-UZ" sz="1700" b="1" dirty="0">
                <a:solidFill>
                  <a:srgbClr val="0000FF"/>
                </a:solidFill>
                <a:latin typeface="Arial" pitchFamily="34" charset="0"/>
                <a:ea typeface="Times New Roman" pitchFamily="18" charset="0"/>
                <a:cs typeface="Arial" pitchFamily="34" charset="0"/>
              </a:rPr>
              <a:t> га тенг.</a:t>
            </a:r>
            <a:endParaRPr lang="ru-RU" sz="1700" b="1" dirty="0">
              <a:solidFill>
                <a:srgbClr val="0000FF"/>
              </a:solidFill>
              <a:latin typeface="Arial" pitchFamily="34" charset="0"/>
              <a:ea typeface="Times New Roman" pitchFamily="18" charset="0"/>
              <a:cs typeface="Arial" pitchFamily="34" charset="0"/>
            </a:endParaRPr>
          </a:p>
          <a:p>
            <a:pPr algn="just" fontAlgn="auto">
              <a:spcBef>
                <a:spcPts val="0"/>
              </a:spcBef>
              <a:spcAft>
                <a:spcPts val="0"/>
              </a:spcAft>
              <a:defRPr/>
            </a:pPr>
            <a:r>
              <a:rPr lang="uz-Cyrl-UZ" sz="1700" b="1" dirty="0">
                <a:solidFill>
                  <a:srgbClr val="0000FF"/>
                </a:solidFill>
                <a:latin typeface="Arial" pitchFamily="34" charset="0"/>
                <a:ea typeface="Times New Roman" pitchFamily="18" charset="0"/>
                <a:cs typeface="Arial" pitchFamily="34" charset="0"/>
              </a:rPr>
              <a:t>        Пропаннинг алангаланиш даражаси – 510 </a:t>
            </a:r>
            <a:r>
              <a:rPr lang="uz-Cyrl-UZ" sz="1700" b="1" baseline="30000" dirty="0">
                <a:solidFill>
                  <a:srgbClr val="0000FF"/>
                </a:solidFill>
                <a:latin typeface="Arial" pitchFamily="34" charset="0"/>
                <a:ea typeface="Times New Roman" pitchFamily="18" charset="0"/>
                <a:cs typeface="Arial" pitchFamily="34" charset="0"/>
              </a:rPr>
              <a:t>О</a:t>
            </a:r>
            <a:r>
              <a:rPr lang="uz-Cyrl-UZ" sz="1700" b="1" dirty="0">
                <a:solidFill>
                  <a:srgbClr val="0000FF"/>
                </a:solidFill>
                <a:latin typeface="Arial" pitchFamily="34" charset="0"/>
                <a:ea typeface="Times New Roman" pitchFamily="18" charset="0"/>
                <a:cs typeface="Arial" pitchFamily="34" charset="0"/>
              </a:rPr>
              <a:t>С га тенг.</a:t>
            </a:r>
            <a:endParaRPr lang="ru-RU" dirty="0">
              <a:latin typeface="Arial" pitchFamily="34" charset="0"/>
              <a:cs typeface="Arial" pitchFamily="34" charset="0"/>
            </a:endParaRPr>
          </a:p>
        </p:txBody>
      </p:sp>
      <p:sp>
        <p:nvSpPr>
          <p:cNvPr id="25603" name="Прямоугольник 5"/>
          <p:cNvSpPr>
            <a:spLocks noChangeArrowheads="1"/>
          </p:cNvSpPr>
          <p:nvPr/>
        </p:nvSpPr>
        <p:spPr bwMode="auto">
          <a:xfrm>
            <a:off x="838200" y="381000"/>
            <a:ext cx="7315200" cy="461963"/>
          </a:xfrm>
          <a:prstGeom prst="rect">
            <a:avLst/>
          </a:prstGeom>
          <a:noFill/>
          <a:ln w="9525">
            <a:noFill/>
            <a:miter lim="800000"/>
            <a:headEnd/>
            <a:tailEnd/>
          </a:ln>
        </p:spPr>
        <p:txBody>
          <a:bodyPr>
            <a:spAutoFit/>
          </a:bodyPr>
          <a:lstStyle/>
          <a:p>
            <a:pPr indent="449263" eaLnBrk="0" hangingPunct="0"/>
            <a:r>
              <a:rPr lang="uz-Cyrl-UZ" sz="2400" b="1">
                <a:solidFill>
                  <a:srgbClr val="660066"/>
                </a:solidFill>
                <a:cs typeface="Arial" charset="0"/>
              </a:rPr>
              <a:t>Cуюлтирилган газнинг кимёвий хоссалари</a:t>
            </a:r>
            <a:endParaRPr lang="ru-RU" sz="2400" b="1">
              <a:solidFill>
                <a:srgbClr val="660066"/>
              </a:solidFill>
              <a:cs typeface="Arial"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944562"/>
          </a:xfrm>
        </p:spPr>
        <p:txBody>
          <a:bodyPr rtlCol="0">
            <a:normAutofit/>
          </a:bodyPr>
          <a:lstStyle/>
          <a:p>
            <a:pPr eaLnBrk="1" fontAlgn="auto" hangingPunct="1">
              <a:spcAft>
                <a:spcPts val="0"/>
              </a:spcAft>
              <a:defRPr/>
            </a:pPr>
            <a:r>
              <a:rPr lang="uz-Cyrl-UZ" sz="2400" b="1" dirty="0">
                <a:solidFill>
                  <a:srgbClr val="660066"/>
                </a:solidFill>
                <a:latin typeface="Arial" pitchFamily="34" charset="0"/>
                <a:ea typeface="+mn-ea"/>
                <a:cs typeface="Arial" pitchFamily="34" charset="0"/>
              </a:rPr>
              <a:t>Суюлтирилган газдан турмушда ҳавфсиз фойдаланиш</a:t>
            </a:r>
            <a:endParaRPr lang="ru-RU" sz="2400" b="1" dirty="0">
              <a:solidFill>
                <a:srgbClr val="660066"/>
              </a:solidFill>
              <a:latin typeface="Arial" pitchFamily="34" charset="0"/>
              <a:ea typeface="+mn-ea"/>
              <a:cs typeface="Arial" pitchFamily="34" charset="0"/>
            </a:endParaRPr>
          </a:p>
        </p:txBody>
      </p:sp>
      <p:sp>
        <p:nvSpPr>
          <p:cNvPr id="26626" name="Rectangle 1"/>
          <p:cNvSpPr>
            <a:spLocks noChangeArrowheads="1"/>
          </p:cNvSpPr>
          <p:nvPr/>
        </p:nvSpPr>
        <p:spPr bwMode="auto">
          <a:xfrm>
            <a:off x="381000" y="1371600"/>
            <a:ext cx="8458200" cy="4400550"/>
          </a:xfrm>
          <a:prstGeom prst="rect">
            <a:avLst/>
          </a:prstGeom>
          <a:noFill/>
          <a:ln w="9525">
            <a:noFill/>
            <a:miter lim="800000"/>
            <a:headEnd/>
            <a:tailEnd/>
          </a:ln>
        </p:spPr>
        <p:txBody>
          <a:bodyPr anchor="ctr">
            <a:spAutoFit/>
          </a:bodyPr>
          <a:lstStyle/>
          <a:p>
            <a:pPr indent="449263" algn="just"/>
            <a:r>
              <a:rPr lang="uz-Cyrl-UZ" sz="2000" b="1">
                <a:solidFill>
                  <a:srgbClr val="0000FF"/>
                </a:solidFill>
                <a:ea typeface="Times New Roman" pitchFamily="18" charset="0"/>
                <a:cs typeface="Arial" charset="0"/>
              </a:rPr>
              <a:t>Пропан – портловчи ва ёнувчи газдир. Газларнинг ҳаво билан аралашмаси эса портлайди. Пропаннинг портлаш чегаралари ёпиқ муҳитда: паст – 1,6 %, юқори  9,8 % га тенг.</a:t>
            </a:r>
            <a:endParaRPr lang="ru-RU" sz="2000">
              <a:ea typeface="Times New Roman" pitchFamily="18" charset="0"/>
              <a:cs typeface="Arial" charset="0"/>
            </a:endParaRPr>
          </a:p>
          <a:p>
            <a:pPr indent="449263" algn="just" eaLnBrk="0" hangingPunct="0"/>
            <a:r>
              <a:rPr lang="uz-Cyrl-UZ" sz="2000" b="1">
                <a:solidFill>
                  <a:srgbClr val="0000FF"/>
                </a:solidFill>
                <a:ea typeface="Times New Roman" pitchFamily="18" charset="0"/>
                <a:cs typeface="Arial" charset="0"/>
              </a:rPr>
              <a:t>	Газлар чала ёниши натижасида СО – ис гази ажралиб чиқади, бу эса инсон ҳаётига хавфли таъсир этади.</a:t>
            </a:r>
            <a:endParaRPr lang="ru-RU" sz="2000">
              <a:ea typeface="Times New Roman" pitchFamily="18" charset="0"/>
              <a:cs typeface="Arial" charset="0"/>
            </a:endParaRPr>
          </a:p>
          <a:p>
            <a:pPr indent="449263" algn="just" eaLnBrk="0" hangingPunct="0"/>
            <a:r>
              <a:rPr lang="uz-Cyrl-UZ" sz="2000" b="1">
                <a:solidFill>
                  <a:srgbClr val="0000FF"/>
                </a:solidFill>
                <a:ea typeface="Times New Roman" pitchFamily="18" charset="0"/>
                <a:cs typeface="Arial" charset="0"/>
              </a:rPr>
              <a:t>	Фуқаролар яшаши учун ажратилган хонадонларида ис гази миқдори 0,002 мг/л, ишлаб чиқариш корхоналарида 0,02 мг/л дан ошмаслиги керак.</a:t>
            </a:r>
            <a:endParaRPr lang="ru-RU" sz="2000">
              <a:ea typeface="Times New Roman" pitchFamily="18" charset="0"/>
              <a:cs typeface="Arial" charset="0"/>
            </a:endParaRPr>
          </a:p>
          <a:p>
            <a:pPr indent="449263" algn="just" eaLnBrk="0" hangingPunct="0"/>
            <a:r>
              <a:rPr lang="uz-Cyrl-UZ" sz="2000" b="1">
                <a:solidFill>
                  <a:srgbClr val="0000FF"/>
                </a:solidFill>
                <a:ea typeface="Times New Roman" pitchFamily="18" charset="0"/>
                <a:cs typeface="Arial" charset="0"/>
              </a:rPr>
              <a:t>	Ис гази (СО) заҳарли газ хисобланиб, агар ёпиқ муҳитда одам бу газ миқдори қуйидагича бўлганда:</a:t>
            </a:r>
            <a:endParaRPr lang="ru-RU" sz="2000">
              <a:ea typeface="Times New Roman" pitchFamily="18" charset="0"/>
              <a:cs typeface="Arial" charset="0"/>
            </a:endParaRPr>
          </a:p>
          <a:p>
            <a:pPr indent="449263" algn="just" eaLnBrk="0" hangingPunct="0"/>
            <a:r>
              <a:rPr lang="uz-Cyrl-UZ" sz="2000" b="1">
                <a:solidFill>
                  <a:srgbClr val="0000FF"/>
                </a:solidFill>
                <a:ea typeface="Times New Roman" pitchFamily="18" charset="0"/>
                <a:cs typeface="Arial" charset="0"/>
              </a:rPr>
              <a:t>	а) 0,01 – 0,05% (ёпиқ муҳитда) 2 соатда заҳарланади.</a:t>
            </a:r>
            <a:endParaRPr lang="ru-RU" sz="2000">
              <a:ea typeface="Times New Roman" pitchFamily="18" charset="0"/>
              <a:cs typeface="Arial" charset="0"/>
            </a:endParaRPr>
          </a:p>
          <a:p>
            <a:pPr indent="449263" algn="just" eaLnBrk="0" hangingPunct="0"/>
            <a:r>
              <a:rPr lang="uz-Cyrl-UZ" sz="2000" b="1">
                <a:solidFill>
                  <a:srgbClr val="0000FF"/>
                </a:solidFill>
                <a:ea typeface="Times New Roman" pitchFamily="18" charset="0"/>
                <a:cs typeface="Arial" charset="0"/>
              </a:rPr>
              <a:t>	б) 0,2 – 0,3% 30 минут ичида ўртача заҳарланади.</a:t>
            </a:r>
            <a:endParaRPr lang="ru-RU" sz="2000">
              <a:ea typeface="Times New Roman" pitchFamily="18" charset="0"/>
              <a:cs typeface="Arial" charset="0"/>
            </a:endParaRPr>
          </a:p>
          <a:p>
            <a:pPr indent="449263" algn="just" eaLnBrk="0" hangingPunct="0"/>
            <a:r>
              <a:rPr lang="uz-Cyrl-UZ" sz="2000" b="1">
                <a:solidFill>
                  <a:srgbClr val="0000FF"/>
                </a:solidFill>
                <a:ea typeface="Times New Roman" pitchFamily="18" charset="0"/>
                <a:cs typeface="Arial" charset="0"/>
              </a:rPr>
              <a:t>	в) 0,5 – 0,8% (ёпиқ муҳитда) қисқа вақт ичида хаёт учун хавфли даражада заҳарланади.</a:t>
            </a:r>
            <a:endParaRPr lang="uz-Cyrl-UZ" sz="2000">
              <a:ea typeface="Times New Roman" pitchFamily="18" charset="0"/>
              <a:cs typeface="Arial"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49" name="Рисунок 3" descr="Слайд6.JPG"/>
          <p:cNvPicPr>
            <a:picLocks noChangeAspect="1" noChangeArrowheads="1"/>
          </p:cNvPicPr>
          <p:nvPr/>
        </p:nvPicPr>
        <p:blipFill>
          <a:blip r:embed="rId2"/>
          <a:srcRect/>
          <a:stretch>
            <a:fillRect/>
          </a:stretch>
        </p:blipFill>
        <p:spPr bwMode="auto">
          <a:xfrm>
            <a:off x="436563" y="304800"/>
            <a:ext cx="8478837" cy="61722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1"/>
          <p:cNvSpPr>
            <a:spLocks noChangeArrowheads="1"/>
          </p:cNvSpPr>
          <p:nvPr/>
        </p:nvSpPr>
        <p:spPr bwMode="auto">
          <a:xfrm>
            <a:off x="457200" y="1143000"/>
            <a:ext cx="8305800" cy="5078413"/>
          </a:xfrm>
          <a:prstGeom prst="rect">
            <a:avLst/>
          </a:prstGeom>
          <a:noFill/>
          <a:ln w="9525">
            <a:noFill/>
            <a:miter lim="800000"/>
            <a:headEnd/>
            <a:tailEnd/>
          </a:ln>
        </p:spPr>
        <p:txBody>
          <a:bodyPr anchor="ctr">
            <a:spAutoFit/>
          </a:bodyPr>
          <a:lstStyle/>
          <a:p>
            <a:pPr indent="457200" algn="just"/>
            <a:r>
              <a:rPr lang="uz-Cyrl-UZ" b="1">
                <a:solidFill>
                  <a:srgbClr val="0000FF"/>
                </a:solidFill>
                <a:ea typeface="Times New Roman" pitchFamily="18" charset="0"/>
                <a:cs typeface="Arial" charset="0"/>
              </a:rPr>
              <a:t>Бўш ва суюлтирилган газли баллонларни хона ҳамда ертўлаларда сақлаш.</a:t>
            </a:r>
            <a:endParaRPr lang="ru-RU">
              <a:ea typeface="Times New Roman" pitchFamily="18" charset="0"/>
              <a:cs typeface="Arial" charset="0"/>
            </a:endParaRPr>
          </a:p>
          <a:p>
            <a:pPr indent="457200" algn="just" eaLnBrk="0" hangingPunct="0"/>
            <a:r>
              <a:rPr lang="uz-Cyrl-UZ" b="1">
                <a:solidFill>
                  <a:srgbClr val="0000FF"/>
                </a:solidFill>
                <a:ea typeface="Times New Roman" pitchFamily="18" charset="0"/>
                <a:cs typeface="Arial" charset="0"/>
              </a:rPr>
              <a:t>Газлаштирилган хонага 50/55 литр сиғимли баллондан биттадан ортиқ ёки ҳар бирининг сиғими 27л бўлган баллондан иккитадан ортиқ қўйиш.</a:t>
            </a:r>
            <a:endParaRPr lang="ru-RU">
              <a:ea typeface="Times New Roman" pitchFamily="18" charset="0"/>
              <a:cs typeface="Arial" charset="0"/>
            </a:endParaRPr>
          </a:p>
          <a:p>
            <a:pPr indent="457200" algn="just" eaLnBrk="0" hangingPunct="0"/>
            <a:r>
              <a:rPr lang="uz-Cyrl-UZ" b="1">
                <a:solidFill>
                  <a:srgbClr val="0000FF"/>
                </a:solidFill>
                <a:ea typeface="Times New Roman" pitchFamily="18" charset="0"/>
                <a:cs typeface="Arial" charset="0"/>
              </a:rPr>
              <a:t>Газли баллонлари газлаштирилган хонада иситиш радиатори ёки печкасига 1 м дан яқин жойлаштириш.</a:t>
            </a:r>
          </a:p>
          <a:p>
            <a:pPr indent="457200" algn="just" eaLnBrk="0" hangingPunct="0"/>
            <a:r>
              <a:rPr lang="uz-Cyrl-UZ" b="1">
                <a:solidFill>
                  <a:srgbClr val="0000FF"/>
                </a:solidFill>
                <a:ea typeface="Times New Roman" pitchFamily="18" charset="0"/>
                <a:cs typeface="Arial" charset="0"/>
              </a:rPr>
              <a:t> Баллонларни қизишдан сақлайдиган тўсиқ ўрнатилган бўлса, баллон билан иситиш асбобининг оралиғи  0.5м гача камайтирилиши мумкин, баллон билан тўсиқнинг оралиғи эса 10см дан кам бўлмаслиги керак. </a:t>
            </a:r>
          </a:p>
          <a:p>
            <a:pPr indent="457200" algn="just" eaLnBrk="0" hangingPunct="0"/>
            <a:r>
              <a:rPr lang="uz-Cyrl-UZ" b="1">
                <a:solidFill>
                  <a:srgbClr val="0000FF"/>
                </a:solidFill>
                <a:ea typeface="Times New Roman" pitchFamily="18" charset="0"/>
                <a:cs typeface="Arial" charset="0"/>
              </a:rPr>
              <a:t>Баллонлар билан ўт ёқиш эшигининг оралиғи 2м дан оз бўлмаслиги лозим. </a:t>
            </a:r>
            <a:endParaRPr lang="ru-RU">
              <a:ea typeface="Times New Roman" pitchFamily="18" charset="0"/>
              <a:cs typeface="Arial" charset="0"/>
            </a:endParaRPr>
          </a:p>
          <a:p>
            <a:pPr indent="457200" algn="just" eaLnBrk="0" hangingPunct="0"/>
            <a:r>
              <a:rPr lang="uz-Cyrl-UZ" b="1">
                <a:solidFill>
                  <a:srgbClr val="0000FF"/>
                </a:solidFill>
                <a:ea typeface="Times New Roman" pitchFamily="18" charset="0"/>
                <a:cs typeface="Arial" charset="0"/>
              </a:rPr>
              <a:t>Хонага ўрнатилган баллонлар алмаштирилаётганда электр ёриткичларни ёқиб-ўчириш, очиқ оловдан, электр иситиш асбоблари ва иситиш печкаларидан фойдаланиш.</a:t>
            </a:r>
          </a:p>
          <a:p>
            <a:pPr indent="457200" algn="just" eaLnBrk="0" hangingPunct="0"/>
            <a:r>
              <a:rPr lang="uz-Cyrl-UZ" b="1">
                <a:solidFill>
                  <a:srgbClr val="0000FF"/>
                </a:solidFill>
                <a:ea typeface="Times New Roman" pitchFamily="18" charset="0"/>
                <a:cs typeface="Arial" charset="0"/>
              </a:rPr>
              <a:t>Баллонларни алмаштириш ишлари билан боғлиқ бўлмаган шахслар борлигида баллонларни алмаштириш.</a:t>
            </a:r>
            <a:endParaRPr lang="uz-Cyrl-UZ">
              <a:ea typeface="Times New Roman" pitchFamily="18" charset="0"/>
              <a:cs typeface="Arial" charset="0"/>
            </a:endParaRPr>
          </a:p>
        </p:txBody>
      </p:sp>
      <p:sp>
        <p:nvSpPr>
          <p:cNvPr id="28674" name="Прямоугольник 4"/>
          <p:cNvSpPr>
            <a:spLocks noChangeArrowheads="1"/>
          </p:cNvSpPr>
          <p:nvPr/>
        </p:nvSpPr>
        <p:spPr bwMode="auto">
          <a:xfrm>
            <a:off x="762000" y="381000"/>
            <a:ext cx="7848600" cy="708025"/>
          </a:xfrm>
          <a:prstGeom prst="rect">
            <a:avLst/>
          </a:prstGeom>
          <a:noFill/>
          <a:ln w="9525">
            <a:noFill/>
            <a:miter lim="800000"/>
            <a:headEnd/>
            <a:tailEnd/>
          </a:ln>
        </p:spPr>
        <p:txBody>
          <a:bodyPr>
            <a:spAutoFit/>
          </a:bodyPr>
          <a:lstStyle/>
          <a:p>
            <a:pPr algn="ctr"/>
            <a:r>
              <a:rPr lang="uz-Cyrl-UZ" sz="2000" b="1">
                <a:solidFill>
                  <a:srgbClr val="FF0000"/>
                </a:solidFill>
                <a:ea typeface="Times New Roman" pitchFamily="18" charset="0"/>
                <a:cs typeface="Arial" charset="0"/>
              </a:rPr>
              <a:t>Турмушда  суюлтирилган газдан фойдаланилаётганда абонентларга қуйидагилар тақиқланади:</a:t>
            </a:r>
            <a:endParaRPr lang="ru-RU" sz="2000">
              <a:latin typeface="Calibri" pitchFamily="34" charset="0"/>
              <a:ea typeface="Times New Roman" pitchFamily="18" charset="0"/>
              <a:cs typeface="Arial"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Заголовок 1"/>
          <p:cNvSpPr>
            <a:spLocks noGrp="1"/>
          </p:cNvSpPr>
          <p:nvPr>
            <p:ph type="title"/>
          </p:nvPr>
        </p:nvSpPr>
        <p:spPr>
          <a:xfrm>
            <a:off x="609600" y="304800"/>
            <a:ext cx="8229600" cy="563563"/>
          </a:xfrm>
        </p:spPr>
        <p:txBody>
          <a:bodyPr/>
          <a:lstStyle/>
          <a:p>
            <a:pPr eaLnBrk="1" hangingPunct="1"/>
            <a:r>
              <a:rPr lang="uz-Cyrl-UZ" sz="2000" b="1">
                <a:solidFill>
                  <a:srgbClr val="C00000"/>
                </a:solidFill>
                <a:latin typeface="Arial" charset="0"/>
                <a:ea typeface="Times New Roman" pitchFamily="18" charset="0"/>
                <a:cs typeface="Arial" charset="0"/>
              </a:rPr>
              <a:t>Газдан заҳарланганда биринчи ёрдам кўрсатиш</a:t>
            </a:r>
            <a:endParaRPr lang="ru-RU" sz="2000" b="1">
              <a:ea typeface="Times New Roman" pitchFamily="18" charset="0"/>
              <a:cs typeface="Arial" charset="0"/>
            </a:endParaRPr>
          </a:p>
        </p:txBody>
      </p:sp>
      <p:sp>
        <p:nvSpPr>
          <p:cNvPr id="29698" name="Rectangle 1"/>
          <p:cNvSpPr>
            <a:spLocks noChangeArrowheads="1"/>
          </p:cNvSpPr>
          <p:nvPr/>
        </p:nvSpPr>
        <p:spPr bwMode="auto">
          <a:xfrm>
            <a:off x="457200" y="990600"/>
            <a:ext cx="8382000" cy="5354638"/>
          </a:xfrm>
          <a:prstGeom prst="rect">
            <a:avLst/>
          </a:prstGeom>
          <a:noFill/>
          <a:ln w="9525">
            <a:noFill/>
            <a:miter lim="800000"/>
            <a:headEnd/>
            <a:tailEnd/>
          </a:ln>
        </p:spPr>
        <p:txBody>
          <a:bodyPr anchor="ctr">
            <a:spAutoFit/>
          </a:bodyPr>
          <a:lstStyle/>
          <a:p>
            <a:pPr indent="449263" algn="just" eaLnBrk="0" hangingPunct="0"/>
            <a:r>
              <a:rPr lang="uz-Cyrl-UZ" b="1">
                <a:solidFill>
                  <a:srgbClr val="0000FF"/>
                </a:solidFill>
                <a:ea typeface="Times New Roman" pitchFamily="18" charset="0"/>
                <a:cs typeface="Arial" charset="0"/>
              </a:rPr>
              <a:t>Газдан енгил ва ўртача заҳарланганда инсон организмида қуйидаги ҳолатлар сезилади:</a:t>
            </a:r>
            <a:endParaRPr lang="ru-RU">
              <a:ea typeface="Times New Roman" pitchFamily="18" charset="0"/>
              <a:cs typeface="Arial" charset="0"/>
            </a:endParaRPr>
          </a:p>
          <a:p>
            <a:pPr indent="449263" algn="just" eaLnBrk="0" hangingPunct="0"/>
            <a:r>
              <a:rPr lang="uz-Cyrl-UZ" b="1">
                <a:solidFill>
                  <a:srgbClr val="0000FF"/>
                </a:solidFill>
                <a:ea typeface="Times New Roman" pitchFamily="18" charset="0"/>
                <a:cs typeface="Arial" charset="0"/>
              </a:rPr>
              <a:t>- бош оғриғи;</a:t>
            </a:r>
            <a:endParaRPr lang="ru-RU">
              <a:ea typeface="Times New Roman" pitchFamily="18" charset="0"/>
              <a:cs typeface="Arial" charset="0"/>
            </a:endParaRPr>
          </a:p>
          <a:p>
            <a:pPr indent="449263" algn="just" eaLnBrk="0" hangingPunct="0"/>
            <a:r>
              <a:rPr lang="uz-Cyrl-UZ" b="1">
                <a:solidFill>
                  <a:srgbClr val="0000FF"/>
                </a:solidFill>
                <a:ea typeface="Times New Roman" pitchFamily="18" charset="0"/>
                <a:cs typeface="Arial" charset="0"/>
              </a:rPr>
              <a:t>- бош айланиши;</a:t>
            </a:r>
            <a:endParaRPr lang="ru-RU">
              <a:ea typeface="Times New Roman" pitchFamily="18" charset="0"/>
              <a:cs typeface="Arial" charset="0"/>
            </a:endParaRPr>
          </a:p>
          <a:p>
            <a:pPr indent="449263" algn="just" eaLnBrk="0" hangingPunct="0"/>
            <a:r>
              <a:rPr lang="uz-Cyrl-UZ" b="1">
                <a:solidFill>
                  <a:srgbClr val="0000FF"/>
                </a:solidFill>
                <a:ea typeface="Times New Roman" pitchFamily="18" charset="0"/>
                <a:cs typeface="Arial" charset="0"/>
              </a:rPr>
              <a:t>- юракни қаттиқ уриши;</a:t>
            </a:r>
            <a:endParaRPr lang="ru-RU">
              <a:ea typeface="Times New Roman" pitchFamily="18" charset="0"/>
              <a:cs typeface="Arial" charset="0"/>
            </a:endParaRPr>
          </a:p>
          <a:p>
            <a:pPr indent="449263" algn="just" eaLnBrk="0" hangingPunct="0"/>
            <a:r>
              <a:rPr lang="uz-Cyrl-UZ" b="1">
                <a:solidFill>
                  <a:srgbClr val="0000FF"/>
                </a:solidFill>
                <a:ea typeface="Times New Roman" pitchFamily="18" charset="0"/>
                <a:cs typeface="Arial" charset="0"/>
              </a:rPr>
              <a:t>- кўнгил айниши;</a:t>
            </a:r>
            <a:endParaRPr lang="ru-RU">
              <a:ea typeface="Times New Roman" pitchFamily="18" charset="0"/>
              <a:cs typeface="Arial" charset="0"/>
            </a:endParaRPr>
          </a:p>
          <a:p>
            <a:pPr indent="449263" algn="just" eaLnBrk="0" hangingPunct="0"/>
            <a:r>
              <a:rPr lang="uz-Cyrl-UZ" b="1">
                <a:solidFill>
                  <a:srgbClr val="0000FF"/>
                </a:solidFill>
                <a:ea typeface="Times New Roman" pitchFamily="18" charset="0"/>
                <a:cs typeface="Arial" charset="0"/>
              </a:rPr>
              <a:t>- қайт қилиш;</a:t>
            </a:r>
            <a:endParaRPr lang="ru-RU">
              <a:ea typeface="Times New Roman" pitchFamily="18" charset="0"/>
              <a:cs typeface="Arial" charset="0"/>
            </a:endParaRPr>
          </a:p>
          <a:p>
            <a:pPr indent="449263" algn="just" eaLnBrk="0" hangingPunct="0"/>
            <a:r>
              <a:rPr lang="uz-Cyrl-UZ" b="1">
                <a:solidFill>
                  <a:srgbClr val="0000FF"/>
                </a:solidFill>
                <a:ea typeface="Times New Roman" pitchFamily="18" charset="0"/>
                <a:cs typeface="Arial" charset="0"/>
              </a:rPr>
              <a:t>- тартибсиз ҳаракатланиш билан ҳушни йўқотиш;</a:t>
            </a:r>
            <a:endParaRPr lang="ru-RU">
              <a:ea typeface="Times New Roman" pitchFamily="18" charset="0"/>
              <a:cs typeface="Arial" charset="0"/>
            </a:endParaRPr>
          </a:p>
          <a:p>
            <a:pPr indent="449263" algn="just" eaLnBrk="0" hangingPunct="0"/>
            <a:r>
              <a:rPr lang="uz-Cyrl-UZ" b="1">
                <a:solidFill>
                  <a:srgbClr val="0000FF"/>
                </a:solidFill>
                <a:ea typeface="Times New Roman" pitchFamily="18" charset="0"/>
                <a:cs typeface="Arial" charset="0"/>
              </a:rPr>
              <a:t>- хушдан кетиш;</a:t>
            </a:r>
            <a:endParaRPr lang="ru-RU">
              <a:ea typeface="Times New Roman" pitchFamily="18" charset="0"/>
              <a:cs typeface="Arial" charset="0"/>
            </a:endParaRPr>
          </a:p>
          <a:p>
            <a:pPr indent="449263" algn="just" eaLnBrk="0" hangingPunct="0"/>
            <a:r>
              <a:rPr lang="uz-Cyrl-UZ" b="1">
                <a:solidFill>
                  <a:srgbClr val="0000FF"/>
                </a:solidFill>
                <a:ea typeface="Times New Roman" pitchFamily="18" charset="0"/>
                <a:cs typeface="Arial" charset="0"/>
              </a:rPr>
              <a:t>Барча ҳолатлардаги оғир заҳарланишларда зудлик билан тез тиббий ёрдам чақириш зарур.</a:t>
            </a:r>
            <a:endParaRPr lang="ru-RU">
              <a:ea typeface="Times New Roman" pitchFamily="18" charset="0"/>
              <a:cs typeface="Arial" charset="0"/>
            </a:endParaRPr>
          </a:p>
          <a:p>
            <a:pPr indent="449263" algn="just" eaLnBrk="0" hangingPunct="0"/>
            <a:r>
              <a:rPr lang="uz-Cyrl-UZ" b="1">
                <a:solidFill>
                  <a:srgbClr val="0000FF"/>
                </a:solidFill>
                <a:ea typeface="Times New Roman" pitchFamily="18" charset="0"/>
                <a:cs typeface="Arial" charset="0"/>
              </a:rPr>
              <a:t>Врач етиб келгунича қуйидагиларни амалга ошириш:</a:t>
            </a:r>
            <a:endParaRPr lang="ru-RU">
              <a:ea typeface="Times New Roman" pitchFamily="18" charset="0"/>
              <a:cs typeface="Arial" charset="0"/>
            </a:endParaRPr>
          </a:p>
          <a:p>
            <a:pPr indent="449263" algn="just" eaLnBrk="0" hangingPunct="0"/>
            <a:r>
              <a:rPr lang="uz-Cyrl-UZ" b="1">
                <a:solidFill>
                  <a:srgbClr val="0000FF"/>
                </a:solidFill>
                <a:ea typeface="Times New Roman" pitchFamily="18" charset="0"/>
                <a:cs typeface="Arial" charset="0"/>
              </a:rPr>
              <a:t>а) зудлик билан жабрланувчини газланган худуддан тоза ҳавога олиб чиқиш керак;</a:t>
            </a:r>
            <a:endParaRPr lang="ru-RU">
              <a:ea typeface="Times New Roman" pitchFamily="18" charset="0"/>
              <a:cs typeface="Arial" charset="0"/>
            </a:endParaRPr>
          </a:p>
          <a:p>
            <a:pPr indent="449263" algn="just" eaLnBrk="0" hangingPunct="0"/>
            <a:r>
              <a:rPr lang="uz-Cyrl-UZ" b="1">
                <a:solidFill>
                  <a:srgbClr val="0000FF"/>
                </a:solidFill>
                <a:ea typeface="Times New Roman" pitchFamily="18" charset="0"/>
                <a:cs typeface="Arial" charset="0"/>
              </a:rPr>
              <a:t>б) жабрланувчини қўл ва оёқларини кўтарилган ҳолатда ётқизиш;</a:t>
            </a:r>
            <a:endParaRPr lang="ru-RU">
              <a:ea typeface="Times New Roman" pitchFamily="18" charset="0"/>
              <a:cs typeface="Arial" charset="0"/>
            </a:endParaRPr>
          </a:p>
          <a:p>
            <a:pPr indent="449263" algn="just" eaLnBrk="0" hangingPunct="0"/>
            <a:r>
              <a:rPr lang="uz-Cyrl-UZ" b="1">
                <a:solidFill>
                  <a:srgbClr val="0000FF"/>
                </a:solidFill>
                <a:ea typeface="Times New Roman" pitchFamily="18" charset="0"/>
                <a:cs typeface="Arial" charset="0"/>
              </a:rPr>
              <a:t>в) жабрланувчини бадани музлаб қолмаслиги учун чоралар қўллаш;</a:t>
            </a:r>
            <a:endParaRPr lang="ru-RU">
              <a:ea typeface="Times New Roman" pitchFamily="18" charset="0"/>
              <a:cs typeface="Arial" charset="0"/>
            </a:endParaRPr>
          </a:p>
          <a:p>
            <a:pPr indent="449263" algn="just" eaLnBrk="0" hangingPunct="0"/>
            <a:r>
              <a:rPr lang="uz-Cyrl-UZ" b="1">
                <a:solidFill>
                  <a:srgbClr val="0000FF"/>
                </a:solidFill>
                <a:ea typeface="Times New Roman" pitchFamily="18" charset="0"/>
                <a:cs typeface="Arial" charset="0"/>
              </a:rPr>
              <a:t>иссиқ кийим-бош ёки одеал билан ўраш, иссиқ суви бўлган грелка ёки шиша билан иситиш;</a:t>
            </a:r>
            <a:endParaRPr lang="ru-RU">
              <a:ea typeface="Times New Roman" pitchFamily="18" charset="0"/>
              <a:cs typeface="Arial"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Прямоугольник 3"/>
          <p:cNvSpPr>
            <a:spLocks noChangeArrowheads="1"/>
          </p:cNvSpPr>
          <p:nvPr/>
        </p:nvSpPr>
        <p:spPr bwMode="auto">
          <a:xfrm>
            <a:off x="381000" y="914400"/>
            <a:ext cx="8382000" cy="5354638"/>
          </a:xfrm>
          <a:prstGeom prst="rect">
            <a:avLst/>
          </a:prstGeom>
          <a:noFill/>
          <a:ln w="9525">
            <a:noFill/>
            <a:miter lim="800000"/>
            <a:headEnd/>
            <a:tailEnd/>
          </a:ln>
        </p:spPr>
        <p:txBody>
          <a:bodyPr>
            <a:spAutoFit/>
          </a:bodyPr>
          <a:lstStyle/>
          <a:p>
            <a:pPr indent="449263" algn="just" eaLnBrk="0" hangingPunct="0"/>
            <a:r>
              <a:rPr lang="uz-Cyrl-UZ" b="1">
                <a:solidFill>
                  <a:srgbClr val="0000FF"/>
                </a:solidFill>
                <a:ea typeface="Times New Roman" pitchFamily="18" charset="0"/>
                <a:cs typeface="Arial" charset="0"/>
              </a:rPr>
              <a:t>г) нафас олишга халақит берувчи барча нарсаларни йиғиштириш (тугмаларни ечиб ёқани очиш, камарни бўшатиш ва бошқалар);</a:t>
            </a:r>
          </a:p>
          <a:p>
            <a:pPr indent="449263" algn="just" eaLnBrk="0" hangingPunct="0"/>
            <a:r>
              <a:rPr lang="uz-Cyrl-UZ" b="1">
                <a:solidFill>
                  <a:srgbClr val="0000FF"/>
                </a:solidFill>
                <a:ea typeface="Times New Roman" pitchFamily="18" charset="0"/>
                <a:cs typeface="Arial" charset="0"/>
              </a:rPr>
              <a:t>д) жабрланувчини  ухлаб қолмаслигини  кузатиб туриш, жабрланувчининг  юргизиш тақиқланади;</a:t>
            </a:r>
            <a:endParaRPr lang="ru-RU">
              <a:ea typeface="Times New Roman" pitchFamily="18" charset="0"/>
              <a:cs typeface="Arial" charset="0"/>
            </a:endParaRPr>
          </a:p>
          <a:p>
            <a:pPr indent="449263" algn="just" eaLnBrk="0" hangingPunct="0"/>
            <a:r>
              <a:rPr lang="uz-Cyrl-UZ" b="1">
                <a:solidFill>
                  <a:srgbClr val="0000FF"/>
                </a:solidFill>
                <a:ea typeface="Times New Roman" pitchFamily="18" charset="0"/>
                <a:cs typeface="Arial" charset="0"/>
              </a:rPr>
              <a:t>е) агар жабрланувчи нафас олмаётган бўлса, унга тоза ҳавода ёки ҳавоси яхши айланадиган хонада суний нафас олдиришни бошлаш лозим;</a:t>
            </a:r>
            <a:endParaRPr lang="ru-RU">
              <a:ea typeface="Times New Roman" pitchFamily="18" charset="0"/>
              <a:cs typeface="Arial" charset="0"/>
            </a:endParaRPr>
          </a:p>
          <a:p>
            <a:pPr indent="449263" algn="just" eaLnBrk="0" hangingPunct="0"/>
            <a:r>
              <a:rPr lang="uz-Cyrl-UZ" b="1">
                <a:solidFill>
                  <a:srgbClr val="0000FF"/>
                </a:solidFill>
                <a:ea typeface="Times New Roman" pitchFamily="18" charset="0"/>
                <a:cs typeface="Arial" charset="0"/>
              </a:rPr>
              <a:t>ж) жабрланувчи қайт қилганда қолган қолдиқларни дока бўлаги билан тозалаб қўйиш;</a:t>
            </a:r>
            <a:endParaRPr lang="ru-RU">
              <a:ea typeface="Times New Roman" pitchFamily="18" charset="0"/>
              <a:cs typeface="Arial" charset="0"/>
            </a:endParaRPr>
          </a:p>
          <a:p>
            <a:pPr indent="449263" algn="just" eaLnBrk="0" hangingPunct="0"/>
            <a:r>
              <a:rPr lang="uz-Cyrl-UZ" b="1">
                <a:solidFill>
                  <a:srgbClr val="0000FF"/>
                </a:solidFill>
                <a:ea typeface="Times New Roman" pitchFamily="18" charset="0"/>
                <a:cs typeface="Arial" charset="0"/>
              </a:rPr>
              <a:t>з) ҳидлаш учун нашатирли спирт бериш;</a:t>
            </a:r>
            <a:endParaRPr lang="ru-RU">
              <a:ea typeface="Times New Roman" pitchFamily="18" charset="0"/>
              <a:cs typeface="Arial" charset="0"/>
            </a:endParaRPr>
          </a:p>
          <a:p>
            <a:pPr indent="449263" algn="just" eaLnBrk="0" hangingPunct="0"/>
            <a:r>
              <a:rPr lang="uz-Cyrl-UZ" b="1">
                <a:solidFill>
                  <a:srgbClr val="0000FF"/>
                </a:solidFill>
                <a:ea typeface="Times New Roman" pitchFamily="18" charset="0"/>
                <a:cs typeface="Arial" charset="0"/>
              </a:rPr>
              <a:t>и) хушига келган вақтда йиқилиб жароҳатланмаслиги учун чоралар қўллаш лозим; </a:t>
            </a:r>
            <a:endParaRPr lang="ru-RU">
              <a:ea typeface="Times New Roman" pitchFamily="18" charset="0"/>
              <a:cs typeface="Arial" charset="0"/>
            </a:endParaRPr>
          </a:p>
          <a:p>
            <a:pPr indent="449263" algn="just" eaLnBrk="0" hangingPunct="0"/>
            <a:r>
              <a:rPr lang="uz-Cyrl-UZ" b="1">
                <a:solidFill>
                  <a:srgbClr val="0000FF"/>
                </a:solidFill>
                <a:ea typeface="Times New Roman" pitchFamily="18" charset="0"/>
                <a:cs typeface="Arial" charset="0"/>
              </a:rPr>
              <a:t>к) агар жабрланувчини ҳолати яхши бўлса, иссиқ чой ёки кофе ичириш  мумкин. Захарланишни барча холларида жабрланувчига кислород ёстиғидан кислород бериш керак; Кислородни нафас олишда очилади, чиқаришда очилмайди, бунда кислород ёстиғини қўл билан аста  босилади. Кислородни беш дақиқа давомида берилади, сўнгра эса 2-3 дақиқага танаффус қилинади, шундан сўнг кислород бериш такрорланади.</a:t>
            </a:r>
            <a:endParaRPr lang="ru-RU">
              <a:ea typeface="Times New Roman" pitchFamily="18" charset="0"/>
              <a:cs typeface="Arial"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5" name="Picture 2" descr="C:\Users\eshankulov\Desktop\gaz01.jpg"/>
          <p:cNvPicPr>
            <a:picLocks noChangeAspect="1" noChangeArrowheads="1"/>
          </p:cNvPicPr>
          <p:nvPr/>
        </p:nvPicPr>
        <p:blipFill>
          <a:blip r:embed="rId2"/>
          <a:srcRect/>
          <a:stretch>
            <a:fillRect/>
          </a:stretch>
        </p:blipFill>
        <p:spPr bwMode="auto">
          <a:xfrm>
            <a:off x="457200" y="304800"/>
            <a:ext cx="8153400" cy="5943600"/>
          </a:xfrm>
          <a:prstGeom prst="rect">
            <a:avLst/>
          </a:prstGeom>
          <a:noFill/>
          <a:ln w="9525">
            <a:noFill/>
            <a:miter lim="800000"/>
            <a:headEnd/>
            <a:tailEnd/>
          </a:ln>
        </p:spPr>
      </p:pic>
      <p:sp>
        <p:nvSpPr>
          <p:cNvPr id="31746" name="Заголовок 1"/>
          <p:cNvSpPr>
            <a:spLocks noGrp="1"/>
          </p:cNvSpPr>
          <p:nvPr>
            <p:ph type="title"/>
          </p:nvPr>
        </p:nvSpPr>
        <p:spPr>
          <a:xfrm>
            <a:off x="838200" y="228600"/>
            <a:ext cx="8001000" cy="762000"/>
          </a:xfrm>
          <a:solidFill>
            <a:schemeClr val="bg1"/>
          </a:solidFill>
        </p:spPr>
        <p:txBody>
          <a:bodyPr/>
          <a:lstStyle/>
          <a:p>
            <a:pPr eaLnBrk="1" hangingPunct="1"/>
            <a:r>
              <a:rPr lang="uz-Cyrl-UZ" b="1">
                <a:solidFill>
                  <a:srgbClr val="002060"/>
                </a:solidFill>
                <a:latin typeface="Arial" charset="0"/>
                <a:cs typeface="Arial" charset="0"/>
              </a:rPr>
              <a:t>Газ ҳидини сезсангиз!</a:t>
            </a:r>
            <a:endParaRPr lang="ru-RU" b="1">
              <a:solidFill>
                <a:srgbClr val="002060"/>
              </a:solidFill>
              <a:latin typeface="Arial" charset="0"/>
              <a:cs typeface="Arial" charset="0"/>
            </a:endParaRPr>
          </a:p>
        </p:txBody>
      </p:sp>
      <p:sp>
        <p:nvSpPr>
          <p:cNvPr id="31747" name="Прямоугольник 4"/>
          <p:cNvSpPr>
            <a:spLocks noChangeArrowheads="1"/>
          </p:cNvSpPr>
          <p:nvPr/>
        </p:nvSpPr>
        <p:spPr bwMode="auto">
          <a:xfrm>
            <a:off x="914400" y="5486400"/>
            <a:ext cx="2971800" cy="1200150"/>
          </a:xfrm>
          <a:prstGeom prst="rect">
            <a:avLst/>
          </a:prstGeom>
          <a:solidFill>
            <a:schemeClr val="bg1"/>
          </a:solidFill>
          <a:ln w="9525">
            <a:noFill/>
            <a:miter lim="800000"/>
            <a:headEnd/>
            <a:tailEnd/>
          </a:ln>
        </p:spPr>
        <p:txBody>
          <a:bodyPr>
            <a:spAutoFit/>
          </a:bodyPr>
          <a:lstStyle/>
          <a:p>
            <a:pPr algn="ctr"/>
            <a:r>
              <a:rPr lang="uz-Cyrl-UZ" sz="3600" b="1">
                <a:solidFill>
                  <a:srgbClr val="00B050"/>
                </a:solidFill>
                <a:cs typeface="Arial" charset="0"/>
              </a:rPr>
              <a:t>Зарур</a:t>
            </a:r>
          </a:p>
          <a:p>
            <a:pPr algn="ctr"/>
            <a:endParaRPr lang="ru-RU" sz="3600">
              <a:solidFill>
                <a:srgbClr val="00B050"/>
              </a:solidFill>
              <a:latin typeface="Calibri" pitchFamily="34" charset="0"/>
            </a:endParaRPr>
          </a:p>
        </p:txBody>
      </p:sp>
      <p:sp>
        <p:nvSpPr>
          <p:cNvPr id="31748" name="Прямоугольник 5"/>
          <p:cNvSpPr>
            <a:spLocks noChangeArrowheads="1"/>
          </p:cNvSpPr>
          <p:nvPr/>
        </p:nvSpPr>
        <p:spPr bwMode="auto">
          <a:xfrm>
            <a:off x="5257800" y="5410200"/>
            <a:ext cx="3886200" cy="1200150"/>
          </a:xfrm>
          <a:prstGeom prst="rect">
            <a:avLst/>
          </a:prstGeom>
          <a:solidFill>
            <a:schemeClr val="bg1"/>
          </a:solidFill>
          <a:ln w="9525">
            <a:noFill/>
            <a:miter lim="800000"/>
            <a:headEnd/>
            <a:tailEnd/>
          </a:ln>
        </p:spPr>
        <p:txBody>
          <a:bodyPr>
            <a:spAutoFit/>
          </a:bodyPr>
          <a:lstStyle/>
          <a:p>
            <a:pPr algn="ctr"/>
            <a:r>
              <a:rPr lang="uz-Cyrl-UZ" sz="3600" b="1">
                <a:solidFill>
                  <a:srgbClr val="FF0000"/>
                </a:solidFill>
                <a:cs typeface="Arial" charset="0"/>
              </a:rPr>
              <a:t>Мумкин эмас</a:t>
            </a:r>
          </a:p>
          <a:p>
            <a:pPr algn="ctr"/>
            <a:endParaRPr lang="ru-RU" sz="3600">
              <a:solidFill>
                <a:srgbClr val="00B050"/>
              </a:solidFill>
              <a:latin typeface="Calibri" pitchFamily="34" charset="0"/>
            </a:endParaRPr>
          </a:p>
        </p:txBody>
      </p:sp>
      <p:sp>
        <p:nvSpPr>
          <p:cNvPr id="31749" name="Прямоугольник 6"/>
          <p:cNvSpPr>
            <a:spLocks noChangeArrowheads="1"/>
          </p:cNvSpPr>
          <p:nvPr/>
        </p:nvSpPr>
        <p:spPr bwMode="auto">
          <a:xfrm>
            <a:off x="2209800" y="2667000"/>
            <a:ext cx="1600200" cy="569913"/>
          </a:xfrm>
          <a:prstGeom prst="rect">
            <a:avLst/>
          </a:prstGeom>
          <a:solidFill>
            <a:schemeClr val="bg1"/>
          </a:solidFill>
          <a:ln w="9525">
            <a:noFill/>
            <a:miter lim="800000"/>
            <a:headEnd/>
            <a:tailEnd/>
          </a:ln>
        </p:spPr>
        <p:txBody>
          <a:bodyPr>
            <a:spAutoFit/>
          </a:bodyPr>
          <a:lstStyle/>
          <a:p>
            <a:r>
              <a:rPr lang="uz-Cyrl-UZ" sz="1600" b="1">
                <a:latin typeface="Times New Roman" pitchFamily="18" charset="0"/>
                <a:cs typeface="Times New Roman" pitchFamily="18" charset="0"/>
              </a:rPr>
              <a:t>Газ </a:t>
            </a:r>
            <a:r>
              <a:rPr lang="uz-Cyrl-UZ" sz="1500" b="1">
                <a:latin typeface="Times New Roman" pitchFamily="18" charset="0"/>
                <a:cs typeface="Times New Roman" pitchFamily="18" charset="0"/>
              </a:rPr>
              <a:t>жиҳозлари </a:t>
            </a:r>
          </a:p>
          <a:p>
            <a:r>
              <a:rPr lang="uz-Cyrl-UZ" sz="1500" b="1">
                <a:latin typeface="Times New Roman" pitchFamily="18" charset="0"/>
                <a:cs typeface="Times New Roman" pitchFamily="18" charset="0"/>
              </a:rPr>
              <a:t>кранини ёпинг</a:t>
            </a:r>
            <a:endParaRPr lang="ru-RU" sz="1500" b="1">
              <a:latin typeface="Times New Roman" pitchFamily="18" charset="0"/>
              <a:cs typeface="Times New Roman" pitchFamily="18" charset="0"/>
            </a:endParaRPr>
          </a:p>
        </p:txBody>
      </p:sp>
      <p:sp>
        <p:nvSpPr>
          <p:cNvPr id="31750" name="Прямоугольник 7"/>
          <p:cNvSpPr>
            <a:spLocks noChangeArrowheads="1"/>
          </p:cNvSpPr>
          <p:nvPr/>
        </p:nvSpPr>
        <p:spPr bwMode="auto">
          <a:xfrm>
            <a:off x="762000" y="2743200"/>
            <a:ext cx="1524000" cy="554038"/>
          </a:xfrm>
          <a:prstGeom prst="rect">
            <a:avLst/>
          </a:prstGeom>
          <a:solidFill>
            <a:schemeClr val="bg1"/>
          </a:solidFill>
          <a:ln w="9525">
            <a:noFill/>
            <a:miter lim="800000"/>
            <a:headEnd/>
            <a:tailEnd/>
          </a:ln>
        </p:spPr>
        <p:txBody>
          <a:bodyPr>
            <a:spAutoFit/>
          </a:bodyPr>
          <a:lstStyle/>
          <a:p>
            <a:pPr algn="ctr"/>
            <a:r>
              <a:rPr lang="uz-Cyrl-UZ" sz="1500" b="1">
                <a:latin typeface="Times New Roman" pitchFamily="18" charset="0"/>
                <a:cs typeface="Times New Roman" pitchFamily="18" charset="0"/>
              </a:rPr>
              <a:t>Ойна ва дарчани очинг</a:t>
            </a:r>
            <a:endParaRPr lang="ru-RU" sz="1500">
              <a:latin typeface="Times New Roman" pitchFamily="18" charset="0"/>
              <a:cs typeface="Times New Roman" pitchFamily="18" charset="0"/>
            </a:endParaRPr>
          </a:p>
        </p:txBody>
      </p:sp>
      <p:sp>
        <p:nvSpPr>
          <p:cNvPr id="31751" name="Прямоугольник 8"/>
          <p:cNvSpPr>
            <a:spLocks noChangeArrowheads="1"/>
          </p:cNvSpPr>
          <p:nvPr/>
        </p:nvSpPr>
        <p:spPr bwMode="auto">
          <a:xfrm>
            <a:off x="2209800" y="2667000"/>
            <a:ext cx="1600200" cy="584200"/>
          </a:xfrm>
          <a:prstGeom prst="rect">
            <a:avLst/>
          </a:prstGeom>
          <a:solidFill>
            <a:schemeClr val="bg1"/>
          </a:solidFill>
          <a:ln w="9525">
            <a:noFill/>
            <a:miter lim="800000"/>
            <a:headEnd/>
            <a:tailEnd/>
          </a:ln>
        </p:spPr>
        <p:txBody>
          <a:bodyPr>
            <a:spAutoFit/>
          </a:bodyPr>
          <a:lstStyle/>
          <a:p>
            <a:r>
              <a:rPr lang="uz-Cyrl-UZ" sz="1600" b="1">
                <a:latin typeface="Times New Roman" pitchFamily="18" charset="0"/>
                <a:cs typeface="Times New Roman" pitchFamily="18" charset="0"/>
              </a:rPr>
              <a:t>Газ жиҳозлари </a:t>
            </a:r>
          </a:p>
          <a:p>
            <a:r>
              <a:rPr lang="uz-Cyrl-UZ" sz="1600" b="1">
                <a:latin typeface="Times New Roman" pitchFamily="18" charset="0"/>
                <a:cs typeface="Times New Roman" pitchFamily="18" charset="0"/>
              </a:rPr>
              <a:t>кранини ёпинг</a:t>
            </a:r>
            <a:endParaRPr lang="ru-RU" sz="1600">
              <a:latin typeface="Times New Roman" pitchFamily="18" charset="0"/>
              <a:cs typeface="Times New Roman" pitchFamily="18" charset="0"/>
            </a:endParaRPr>
          </a:p>
        </p:txBody>
      </p:sp>
      <p:sp>
        <p:nvSpPr>
          <p:cNvPr id="31752" name="Прямоугольник 9"/>
          <p:cNvSpPr>
            <a:spLocks noChangeArrowheads="1"/>
          </p:cNvSpPr>
          <p:nvPr/>
        </p:nvSpPr>
        <p:spPr bwMode="auto">
          <a:xfrm>
            <a:off x="762000" y="4267200"/>
            <a:ext cx="1905000" cy="830263"/>
          </a:xfrm>
          <a:prstGeom prst="rect">
            <a:avLst/>
          </a:prstGeom>
          <a:solidFill>
            <a:schemeClr val="bg1"/>
          </a:solidFill>
          <a:ln w="9525">
            <a:noFill/>
            <a:miter lim="800000"/>
            <a:headEnd/>
            <a:tailEnd/>
          </a:ln>
        </p:spPr>
        <p:txBody>
          <a:bodyPr>
            <a:spAutoFit/>
          </a:bodyPr>
          <a:lstStyle/>
          <a:p>
            <a:r>
              <a:rPr lang="uz-Cyrl-UZ" sz="1600" b="1">
                <a:latin typeface="Times New Roman" pitchFamily="18" charset="0"/>
                <a:cs typeface="Times New Roman" pitchFamily="18" charset="0"/>
              </a:rPr>
              <a:t>Газ жиҳозига кириш кранини  ёпинг</a:t>
            </a:r>
            <a:endParaRPr lang="ru-RU" sz="1600">
              <a:latin typeface="Times New Roman" pitchFamily="18" charset="0"/>
              <a:cs typeface="Times New Roman" pitchFamily="18" charset="0"/>
            </a:endParaRPr>
          </a:p>
        </p:txBody>
      </p:sp>
      <p:sp>
        <p:nvSpPr>
          <p:cNvPr id="31753" name="Прямоугольник 10"/>
          <p:cNvSpPr>
            <a:spLocks noChangeArrowheads="1"/>
          </p:cNvSpPr>
          <p:nvPr/>
        </p:nvSpPr>
        <p:spPr bwMode="auto">
          <a:xfrm>
            <a:off x="2667000" y="4495800"/>
            <a:ext cx="1143000" cy="584200"/>
          </a:xfrm>
          <a:prstGeom prst="rect">
            <a:avLst/>
          </a:prstGeom>
          <a:solidFill>
            <a:schemeClr val="bg1"/>
          </a:solidFill>
          <a:ln w="9525">
            <a:noFill/>
            <a:miter lim="800000"/>
            <a:headEnd/>
            <a:tailEnd/>
          </a:ln>
        </p:spPr>
        <p:txBody>
          <a:bodyPr>
            <a:spAutoFit/>
          </a:bodyPr>
          <a:lstStyle/>
          <a:p>
            <a:pPr algn="ctr"/>
            <a:r>
              <a:rPr lang="uz-Cyrl-UZ" sz="1600" b="1">
                <a:latin typeface="Times New Roman" pitchFamily="18" charset="0"/>
                <a:cs typeface="Times New Roman" pitchFamily="18" charset="0"/>
              </a:rPr>
              <a:t>Винтелни ёпинг</a:t>
            </a:r>
            <a:endParaRPr lang="ru-RU" sz="1600">
              <a:latin typeface="Times New Roman" pitchFamily="18" charset="0"/>
              <a:cs typeface="Times New Roman" pitchFamily="18" charset="0"/>
            </a:endParaRPr>
          </a:p>
        </p:txBody>
      </p:sp>
      <p:sp>
        <p:nvSpPr>
          <p:cNvPr id="31754" name="Прямоугольник 11"/>
          <p:cNvSpPr>
            <a:spLocks noChangeArrowheads="1"/>
          </p:cNvSpPr>
          <p:nvPr/>
        </p:nvSpPr>
        <p:spPr bwMode="auto">
          <a:xfrm>
            <a:off x="5410200" y="2667000"/>
            <a:ext cx="838200" cy="584200"/>
          </a:xfrm>
          <a:prstGeom prst="rect">
            <a:avLst/>
          </a:prstGeom>
          <a:solidFill>
            <a:schemeClr val="bg1"/>
          </a:solidFill>
          <a:ln w="9525">
            <a:noFill/>
            <a:miter lim="800000"/>
            <a:headEnd/>
            <a:tailEnd/>
          </a:ln>
        </p:spPr>
        <p:txBody>
          <a:bodyPr>
            <a:spAutoFit/>
          </a:bodyPr>
          <a:lstStyle/>
          <a:p>
            <a:pPr algn="ctr"/>
            <a:r>
              <a:rPr lang="uz-Cyrl-UZ" sz="1600" b="1">
                <a:latin typeface="Times New Roman" pitchFamily="18" charset="0"/>
                <a:cs typeface="Times New Roman" pitchFamily="18" charset="0"/>
              </a:rPr>
              <a:t>Гугурт ёқиш</a:t>
            </a:r>
            <a:endParaRPr lang="ru-RU" sz="1600">
              <a:latin typeface="Times New Roman" pitchFamily="18" charset="0"/>
              <a:cs typeface="Times New Roman" pitchFamily="18" charset="0"/>
            </a:endParaRPr>
          </a:p>
        </p:txBody>
      </p:sp>
      <p:sp>
        <p:nvSpPr>
          <p:cNvPr id="31755" name="Прямоугольник 12"/>
          <p:cNvSpPr>
            <a:spLocks noChangeArrowheads="1"/>
          </p:cNvSpPr>
          <p:nvPr/>
        </p:nvSpPr>
        <p:spPr bwMode="auto">
          <a:xfrm>
            <a:off x="7239000" y="2667000"/>
            <a:ext cx="990600" cy="338138"/>
          </a:xfrm>
          <a:prstGeom prst="rect">
            <a:avLst/>
          </a:prstGeom>
          <a:solidFill>
            <a:schemeClr val="bg1"/>
          </a:solidFill>
          <a:ln w="9525">
            <a:noFill/>
            <a:miter lim="800000"/>
            <a:headEnd/>
            <a:tailEnd/>
          </a:ln>
        </p:spPr>
        <p:txBody>
          <a:bodyPr>
            <a:spAutoFit/>
          </a:bodyPr>
          <a:lstStyle/>
          <a:p>
            <a:pPr algn="ctr"/>
            <a:r>
              <a:rPr lang="uz-Cyrl-UZ" sz="1600" b="1">
                <a:latin typeface="Times New Roman" pitchFamily="18" charset="0"/>
                <a:cs typeface="Times New Roman" pitchFamily="18" charset="0"/>
              </a:rPr>
              <a:t>Чекиш</a:t>
            </a:r>
            <a:endParaRPr lang="ru-RU" sz="1600">
              <a:latin typeface="Times New Roman" pitchFamily="18" charset="0"/>
              <a:cs typeface="Times New Roman" pitchFamily="18" charset="0"/>
            </a:endParaRPr>
          </a:p>
        </p:txBody>
      </p:sp>
      <p:sp>
        <p:nvSpPr>
          <p:cNvPr id="31756" name="Прямоугольник 13"/>
          <p:cNvSpPr>
            <a:spLocks noChangeArrowheads="1"/>
          </p:cNvSpPr>
          <p:nvPr/>
        </p:nvSpPr>
        <p:spPr bwMode="auto">
          <a:xfrm>
            <a:off x="5867400" y="4114800"/>
            <a:ext cx="1981200" cy="584200"/>
          </a:xfrm>
          <a:prstGeom prst="rect">
            <a:avLst/>
          </a:prstGeom>
          <a:solidFill>
            <a:schemeClr val="bg1"/>
          </a:solidFill>
          <a:ln w="9525">
            <a:noFill/>
            <a:miter lim="800000"/>
            <a:headEnd/>
            <a:tailEnd/>
          </a:ln>
        </p:spPr>
        <p:txBody>
          <a:bodyPr>
            <a:spAutoFit/>
          </a:bodyPr>
          <a:lstStyle/>
          <a:p>
            <a:pPr algn="ctr"/>
            <a:r>
              <a:rPr lang="uz-Cyrl-UZ" sz="1600" b="1">
                <a:latin typeface="Times New Roman" pitchFamily="18" charset="0"/>
                <a:cs typeface="Times New Roman" pitchFamily="18" charset="0"/>
              </a:rPr>
              <a:t>Электр жиҳозини ёқиш ёки ўчириш</a:t>
            </a:r>
            <a:endParaRPr lang="ru-RU" sz="160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Заголовок 1"/>
          <p:cNvSpPr>
            <a:spLocks noGrp="1"/>
          </p:cNvSpPr>
          <p:nvPr>
            <p:ph type="title"/>
          </p:nvPr>
        </p:nvSpPr>
        <p:spPr>
          <a:xfrm>
            <a:off x="1143000" y="228600"/>
            <a:ext cx="6858000" cy="563563"/>
          </a:xfrm>
        </p:spPr>
        <p:txBody>
          <a:bodyPr/>
          <a:lstStyle/>
          <a:p>
            <a:pPr eaLnBrk="1" hangingPunct="1"/>
            <a:br>
              <a:rPr lang="uz-Cyrl-UZ" sz="2200" b="1">
                <a:solidFill>
                  <a:srgbClr val="0000FF"/>
                </a:solidFill>
                <a:latin typeface="Arial" charset="0"/>
                <a:ea typeface="Times New Roman" pitchFamily="18" charset="0"/>
                <a:cs typeface="Arial" charset="0"/>
              </a:rPr>
            </a:br>
            <a:r>
              <a:rPr lang="uz-Cyrl-UZ" sz="2200" b="1">
                <a:solidFill>
                  <a:srgbClr val="0070C0"/>
                </a:solidFill>
                <a:latin typeface="Arial" charset="0"/>
                <a:ea typeface="Times New Roman" pitchFamily="18" charset="0"/>
                <a:cs typeface="Arial" charset="0"/>
              </a:rPr>
              <a:t>Жароҳатлангада қон  кетишини  тўхтатиш</a:t>
            </a:r>
            <a:endParaRPr lang="ru-RU" sz="2200">
              <a:solidFill>
                <a:srgbClr val="0070C0"/>
              </a:solidFill>
              <a:latin typeface="Arial" charset="0"/>
              <a:ea typeface="Times New Roman" pitchFamily="18" charset="0"/>
              <a:cs typeface="Arial" charset="0"/>
            </a:endParaRPr>
          </a:p>
        </p:txBody>
      </p:sp>
      <p:sp>
        <p:nvSpPr>
          <p:cNvPr id="32770" name="Rectangle 1"/>
          <p:cNvSpPr>
            <a:spLocks noChangeArrowheads="1"/>
          </p:cNvSpPr>
          <p:nvPr/>
        </p:nvSpPr>
        <p:spPr bwMode="auto">
          <a:xfrm>
            <a:off x="533400" y="990600"/>
            <a:ext cx="8153400" cy="5754688"/>
          </a:xfrm>
          <a:prstGeom prst="rect">
            <a:avLst/>
          </a:prstGeom>
          <a:noFill/>
          <a:ln w="9525">
            <a:noFill/>
            <a:miter lim="800000"/>
            <a:headEnd/>
            <a:tailEnd/>
          </a:ln>
        </p:spPr>
        <p:txBody>
          <a:bodyPr anchor="ctr">
            <a:spAutoFit/>
          </a:bodyPr>
          <a:lstStyle/>
          <a:p>
            <a:pPr algn="just"/>
            <a:r>
              <a:rPr lang="uz-Cyrl-UZ" sz="1600" b="1">
                <a:solidFill>
                  <a:srgbClr val="0000FF"/>
                </a:solidFill>
                <a:ea typeface="Times New Roman" pitchFamily="18" charset="0"/>
                <a:cs typeface="Arial" charset="0"/>
              </a:rPr>
              <a:t>	Кўп қон кетиши жабрланувчини ҳаёти учун катта хавф туғдиради ва уни (шок) жонсизланиш ҳолатига келтириш мумкин. Шунинг учун жабрланувчига тўғри ва зудлик билан биринчи ёрдам кўрсатиш жуда муҳимдир.</a:t>
            </a:r>
          </a:p>
          <a:p>
            <a:pPr algn="just"/>
            <a:r>
              <a:rPr lang="uz-Cyrl-UZ" sz="1600" b="1">
                <a:solidFill>
                  <a:srgbClr val="0000FF"/>
                </a:solidFill>
                <a:ea typeface="Times New Roman" pitchFamily="18" charset="0"/>
                <a:cs typeface="Arial" charset="0"/>
              </a:rPr>
              <a:t>	Капилярлар орасидан қон кетиши - бу кўринишдаги ҳолатларда жабрланувчини хаёти учун катта хавф туғдирмайди. Жароҳатланган жойни атрофига йод суртиб. Бир неча қават зарарсизлантирилган дока билан боғлаш лозим. Агар қўлтик остида жарохатланиш содир бўлганда зарарсизлантирилган дока ўрнига тоза дастрўмолдан фойдаланиш мумкин. Капиляр орасидан қон кетиши осонлик билан тўхтатиш мумкин.</a:t>
            </a:r>
            <a:endParaRPr lang="ru-RU" sz="1600" b="1">
              <a:solidFill>
                <a:srgbClr val="0000FF"/>
              </a:solidFill>
              <a:ea typeface="Times New Roman" pitchFamily="18" charset="0"/>
              <a:cs typeface="Arial" charset="0"/>
            </a:endParaRPr>
          </a:p>
          <a:p>
            <a:pPr algn="just"/>
            <a:r>
              <a:rPr lang="uz-Cyrl-UZ" sz="1600" b="1">
                <a:solidFill>
                  <a:srgbClr val="0000FF"/>
                </a:solidFill>
                <a:ea typeface="Times New Roman" pitchFamily="18" charset="0"/>
                <a:cs typeface="Arial" charset="0"/>
              </a:rPr>
              <a:t>	Венадан кон кетиши- бў кўринишдаги ҳолатларда қон оқаётган жойга боғлов қўйиб тўхтатиш лозим. Боғлов материали ўрнида зарарсизлантирилган дока ёки тоза докани жароҳатланган жой устидан бир неча қават айлантириб маҳкамлаб боғланади. Артериядан қон кетиши - бу кўринишдаги холатларда жароҳатланган жойдан тўқ қизил рангда пульс оқимида содир бўлади. Бу кўриниш жабрланувчини хаётига катта хавф солади ва уни тезда қонсизланиш холатига туширади. Бунинг учун энг яхшиси артерияни қисиб туриш керак. Бунда жарохатланган жойнинг юқори қисмидаги юмшоқ тўқималар бармоқ билан қаттиқ қисилади. Артерияни қисишни жгутни тайёрлаб боғлагунча давом эттирилади. Тирсакдан жароҳатланганда энг яхшиси стандарт жгутлар қўйилади, у эластик резина найчали, учида занжир ва илгак маҳкамланган бўлади.</a:t>
            </a:r>
            <a:endParaRPr lang="ru-RU" sz="1600" b="1">
              <a:solidFill>
                <a:srgbClr val="0000FF"/>
              </a:solidFill>
              <a:ea typeface="Times New Roman" pitchFamily="18" charset="0"/>
              <a:cs typeface="Arial" charset="0"/>
            </a:endParaRPr>
          </a:p>
          <a:p>
            <a:pPr algn="just"/>
            <a:endParaRPr lang="uz-Cyrl-UZ" sz="1600">
              <a:ea typeface="Times New Roman" pitchFamily="18" charset="0"/>
              <a:cs typeface="Arial"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3" name="Рисунок 3" descr="3.jpg"/>
          <p:cNvPicPr>
            <a:picLocks noChangeAspect="1" noChangeArrowheads="1"/>
          </p:cNvPicPr>
          <p:nvPr/>
        </p:nvPicPr>
        <p:blipFill>
          <a:blip r:embed="rId2"/>
          <a:srcRect/>
          <a:stretch>
            <a:fillRect/>
          </a:stretch>
        </p:blipFill>
        <p:spPr bwMode="auto">
          <a:xfrm>
            <a:off x="838200" y="228600"/>
            <a:ext cx="3048000" cy="2057400"/>
          </a:xfrm>
          <a:prstGeom prst="rect">
            <a:avLst/>
          </a:prstGeom>
          <a:noFill/>
          <a:ln w="9525">
            <a:noFill/>
            <a:miter lim="800000"/>
            <a:headEnd/>
            <a:tailEnd/>
          </a:ln>
        </p:spPr>
      </p:pic>
      <p:sp>
        <p:nvSpPr>
          <p:cNvPr id="33794" name="Прямоугольник 7"/>
          <p:cNvSpPr>
            <a:spLocks noChangeArrowheads="1"/>
          </p:cNvSpPr>
          <p:nvPr/>
        </p:nvSpPr>
        <p:spPr bwMode="auto">
          <a:xfrm>
            <a:off x="228600" y="2667000"/>
            <a:ext cx="8686800" cy="4062413"/>
          </a:xfrm>
          <a:prstGeom prst="rect">
            <a:avLst/>
          </a:prstGeom>
          <a:noFill/>
          <a:ln w="9525">
            <a:noFill/>
            <a:miter lim="800000"/>
            <a:headEnd/>
            <a:tailEnd/>
          </a:ln>
        </p:spPr>
        <p:txBody>
          <a:bodyPr>
            <a:spAutoFit/>
          </a:bodyPr>
          <a:lstStyle/>
          <a:p>
            <a:pPr algn="just"/>
            <a:r>
              <a:rPr lang="uz-Cyrl-UZ" b="1">
                <a:cs typeface="Arial" charset="0"/>
              </a:rPr>
              <a:t>         </a:t>
            </a:r>
            <a:r>
              <a:rPr lang="uz-Cyrl-UZ" sz="1500" b="1">
                <a:solidFill>
                  <a:srgbClr val="0000FF"/>
                </a:solidFill>
                <a:ea typeface="Times New Roman" pitchFamily="18" charset="0"/>
                <a:cs typeface="Arial" charset="0"/>
              </a:rPr>
              <a:t>Жгутни  қаттиқ  тортиб  боғлаш  тўқималарни жонсизланишига олиб келади. Жгут остига, жгутни қайси вақтда қўйилганлиги кайд этилган ёзув қўйилиши керак (мисол учун 30 дақиқа, 1,5 соат). Жабрланувчини яқин орадаги тиббиёт муассасига олиб бораётганда, шу вақтни билиш керакки, қўйилган жгутни 2 соатгача ушлаб туриш мумкин. Зарурат юзасидан жгутни узоқ қолдиришга тўғри келганда, жарохатланган жойни юқори қисмини бармоқ билан қисиб, жгутни 10-15 дақиқага ечиш мумкин, сўнгра уни қайтадан  олдинги жойни юқорироқ қисмига қўйилади. </a:t>
            </a:r>
          </a:p>
          <a:p>
            <a:pPr algn="just"/>
            <a:r>
              <a:rPr lang="uz-Cyrl-UZ" sz="1500" b="1">
                <a:solidFill>
                  <a:srgbClr val="0000FF"/>
                </a:solidFill>
                <a:ea typeface="Times New Roman" pitchFamily="18" charset="0"/>
                <a:cs typeface="Arial" charset="0"/>
              </a:rPr>
              <a:t>          Агар жгут  ностандарт бўлса, боғлов воситаси ўрнида бурама (закрутка)дан фойдаланиш мумкин. </a:t>
            </a:r>
          </a:p>
          <a:p>
            <a:pPr algn="just"/>
            <a:r>
              <a:rPr lang="uz-Cyrl-UZ" sz="1500" b="1">
                <a:solidFill>
                  <a:srgbClr val="0000FF"/>
                </a:solidFill>
                <a:cs typeface="Arial" charset="0"/>
              </a:rPr>
              <a:t>	</a:t>
            </a:r>
            <a:r>
              <a:rPr lang="uz-Cyrl-UZ" sz="1500" b="1">
                <a:solidFill>
                  <a:srgbClr val="0000FF"/>
                </a:solidFill>
                <a:cs typeface="Times New Roman" pitchFamily="18" charset="0"/>
              </a:rPr>
              <a:t>Ички қон  кетиши  -  бундай ҳолатларда  жабрланувчига  ва  биринчи  ёрдам кўрсатувчига  катта  қийинчиликлар  туғдиради,  шунинг  учун  уни  тўхтатишни имконияти бўлмайди. Бу вақтда зудлик билан тез тиббий ёрдамни чақириш зарур, беморни ётқизиш ёки ярим ўтирган ҳолатда тўлиқ осойишталикни таъминлаш, шунингдек қон кетаётган жойни устига муз солинган селофан ҳалтага ёки муздек сувли шиша идиш қўйиш лозим. Агар содир бўлган бахтсиз ходиса шахар ёки туман марказларидан узоқда содир бўлса, жабрланувчини зудлик билан даволаш муассасига олиб бориш зарур.</a:t>
            </a:r>
            <a:endParaRPr lang="ru-RU" sz="1600" b="1">
              <a:solidFill>
                <a:srgbClr val="0000FF"/>
              </a:solidFill>
              <a:cs typeface="Times New Roman" pitchFamily="18" charset="0"/>
            </a:endParaRPr>
          </a:p>
        </p:txBody>
      </p:sp>
      <p:sp>
        <p:nvSpPr>
          <p:cNvPr id="33795" name="Прямоугольник 9"/>
          <p:cNvSpPr>
            <a:spLocks noChangeArrowheads="1"/>
          </p:cNvSpPr>
          <p:nvPr/>
        </p:nvSpPr>
        <p:spPr bwMode="auto">
          <a:xfrm>
            <a:off x="3962400" y="304800"/>
            <a:ext cx="4876800" cy="2400300"/>
          </a:xfrm>
          <a:prstGeom prst="rect">
            <a:avLst/>
          </a:prstGeom>
          <a:noFill/>
          <a:ln w="9525">
            <a:noFill/>
            <a:miter lim="800000"/>
            <a:headEnd/>
            <a:tailEnd/>
          </a:ln>
        </p:spPr>
        <p:txBody>
          <a:bodyPr>
            <a:spAutoFit/>
          </a:bodyPr>
          <a:lstStyle/>
          <a:p>
            <a:pPr algn="just"/>
            <a:r>
              <a:rPr lang="uz-Cyrl-UZ" sz="1500" b="1">
                <a:solidFill>
                  <a:srgbClr val="0000FF"/>
                </a:solidFill>
                <a:ea typeface="Times New Roman" pitchFamily="18" charset="0"/>
                <a:cs typeface="Arial" charset="0"/>
              </a:rPr>
              <a:t>            Жгутни қон оқаётган жойни юқори томонига қўйилади. Терида жгутни асорати қолмаслиги учун уни тагидан бир неча қават материал қўйилиши керак. Жгутни айлантиришни бир-бирига яқин холатда бажариш лозим. Биринчи ўрамни енгиллик билан давом эттирилади. Қон тўхтатилгунича жгутни учини махкамланади ва жгут кўйилган жойнинг пастки қисмидаги  пульсни  аниқланади. </a:t>
            </a:r>
            <a:endParaRPr lang="ru-RU" sz="1500" b="1">
              <a:solidFill>
                <a:srgbClr val="0000FF"/>
              </a:solidFill>
              <a:ea typeface="Times New Roman" pitchFamily="18" charset="0"/>
              <a:cs typeface="Arial" charset="0"/>
            </a:endParaRPr>
          </a:p>
        </p:txBody>
      </p:sp>
      <p:pic>
        <p:nvPicPr>
          <p:cNvPr id="33796" name="Рисунок 10" descr="Как остановить кровотечение"/>
          <p:cNvPicPr>
            <a:picLocks noChangeAspect="1" noChangeArrowheads="1"/>
          </p:cNvPicPr>
          <p:nvPr/>
        </p:nvPicPr>
        <p:blipFill>
          <a:blip r:embed="rId3">
            <a:lum contrast="10000"/>
          </a:blip>
          <a:srcRect t="6270" b="4703"/>
          <a:stretch>
            <a:fillRect/>
          </a:stretch>
        </p:blipFill>
        <p:spPr bwMode="auto">
          <a:xfrm>
            <a:off x="228600" y="1219200"/>
            <a:ext cx="1233488" cy="137160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Заголовок 1"/>
          <p:cNvSpPr>
            <a:spLocks noGrp="1"/>
          </p:cNvSpPr>
          <p:nvPr>
            <p:ph type="title"/>
          </p:nvPr>
        </p:nvSpPr>
        <p:spPr>
          <a:xfrm>
            <a:off x="533400" y="228600"/>
            <a:ext cx="8229600" cy="457200"/>
          </a:xfrm>
        </p:spPr>
        <p:txBody>
          <a:bodyPr/>
          <a:lstStyle/>
          <a:p>
            <a:pPr eaLnBrk="1" hangingPunct="1"/>
            <a:r>
              <a:rPr lang="uz-Cyrl-UZ" sz="2000" b="1">
                <a:solidFill>
                  <a:srgbClr val="401B5B"/>
                </a:solidFill>
                <a:latin typeface="Arial" charset="0"/>
                <a:cs typeface="Arial" charset="0"/>
              </a:rPr>
              <a:t>Куйганда биринчи ёрдам кўрсатиш</a:t>
            </a:r>
            <a:endParaRPr lang="ru-RU" sz="2000" b="1">
              <a:solidFill>
                <a:srgbClr val="401B5B"/>
              </a:solidFill>
              <a:latin typeface="Arial" charset="0"/>
              <a:cs typeface="Arial" charset="0"/>
            </a:endParaRPr>
          </a:p>
        </p:txBody>
      </p:sp>
      <p:sp>
        <p:nvSpPr>
          <p:cNvPr id="34818" name="Rectangle 1"/>
          <p:cNvSpPr>
            <a:spLocks noChangeArrowheads="1"/>
          </p:cNvSpPr>
          <p:nvPr/>
        </p:nvSpPr>
        <p:spPr bwMode="auto">
          <a:xfrm>
            <a:off x="152400" y="685800"/>
            <a:ext cx="8686800" cy="6061075"/>
          </a:xfrm>
          <a:prstGeom prst="rect">
            <a:avLst/>
          </a:prstGeom>
          <a:noFill/>
          <a:ln w="9525">
            <a:noFill/>
            <a:miter lim="800000"/>
            <a:headEnd/>
            <a:tailEnd/>
          </a:ln>
        </p:spPr>
        <p:txBody>
          <a:bodyPr anchor="ctr">
            <a:spAutoFit/>
          </a:bodyPr>
          <a:lstStyle/>
          <a:p>
            <a:pPr algn="just"/>
            <a:r>
              <a:rPr lang="uz-Cyrl-UZ" sz="1600" b="1">
                <a:solidFill>
                  <a:srgbClr val="0000FF"/>
                </a:solidFill>
                <a:ea typeface="Times New Roman" pitchFamily="18" charset="0"/>
                <a:cs typeface="Arial" charset="0"/>
              </a:rPr>
              <a:t>	</a:t>
            </a:r>
            <a:r>
              <a:rPr lang="uz-Cyrl-UZ" b="1">
                <a:solidFill>
                  <a:srgbClr val="0000FF"/>
                </a:solidFill>
                <a:ea typeface="Times New Roman" pitchFamily="18" charset="0"/>
                <a:cs typeface="Arial" charset="0"/>
              </a:rPr>
              <a:t>Куйиш қуйидаги кўринишларда бўлади:</a:t>
            </a:r>
            <a:endParaRPr lang="ru-RU" b="1">
              <a:solidFill>
                <a:srgbClr val="0000FF"/>
              </a:solidFill>
              <a:ea typeface="Times New Roman" pitchFamily="18" charset="0"/>
              <a:cs typeface="Arial" charset="0"/>
            </a:endParaRPr>
          </a:p>
          <a:p>
            <a:pPr algn="just" eaLnBrk="0" hangingPunct="0"/>
            <a:r>
              <a:rPr lang="uz-Cyrl-UZ" b="1">
                <a:solidFill>
                  <a:srgbClr val="0000FF"/>
                </a:solidFill>
                <a:ea typeface="Times New Roman" pitchFamily="18" charset="0"/>
                <a:cs typeface="Arial" charset="0"/>
              </a:rPr>
              <a:t>а) термик куйиш;</a:t>
            </a:r>
            <a:endParaRPr lang="ru-RU" b="1">
              <a:solidFill>
                <a:srgbClr val="0000FF"/>
              </a:solidFill>
              <a:ea typeface="Times New Roman" pitchFamily="18" charset="0"/>
              <a:cs typeface="Arial" charset="0"/>
            </a:endParaRPr>
          </a:p>
          <a:p>
            <a:pPr algn="just" eaLnBrk="0" hangingPunct="0"/>
            <a:r>
              <a:rPr lang="uz-Cyrl-UZ" b="1">
                <a:solidFill>
                  <a:srgbClr val="0000FF"/>
                </a:solidFill>
                <a:ea typeface="Times New Roman" pitchFamily="18" charset="0"/>
                <a:cs typeface="Arial" charset="0"/>
              </a:rPr>
              <a:t>б) кимёвий куйиш;</a:t>
            </a:r>
            <a:endParaRPr lang="ru-RU" b="1">
              <a:solidFill>
                <a:srgbClr val="0000FF"/>
              </a:solidFill>
              <a:ea typeface="Times New Roman" pitchFamily="18" charset="0"/>
              <a:cs typeface="Arial" charset="0"/>
            </a:endParaRPr>
          </a:p>
          <a:p>
            <a:pPr algn="just" eaLnBrk="0" hangingPunct="0"/>
            <a:r>
              <a:rPr lang="uz-Cyrl-UZ" b="1">
                <a:solidFill>
                  <a:srgbClr val="0000FF"/>
                </a:solidFill>
                <a:ea typeface="Times New Roman" pitchFamily="18" charset="0"/>
                <a:cs typeface="Arial" charset="0"/>
              </a:rPr>
              <a:t>в) электр ёйидан куйиш;</a:t>
            </a:r>
            <a:endParaRPr lang="ru-RU" b="1">
              <a:solidFill>
                <a:srgbClr val="0000FF"/>
              </a:solidFill>
              <a:ea typeface="Times New Roman" pitchFamily="18" charset="0"/>
              <a:cs typeface="Arial" charset="0"/>
            </a:endParaRPr>
          </a:p>
          <a:p>
            <a:pPr algn="just" eaLnBrk="0" hangingPunct="0"/>
            <a:r>
              <a:rPr lang="uz-Cyrl-UZ" b="1">
                <a:solidFill>
                  <a:srgbClr val="0000FF"/>
                </a:solidFill>
                <a:ea typeface="Times New Roman" pitchFamily="18" charset="0"/>
                <a:cs typeface="Arial" charset="0"/>
              </a:rPr>
              <a:t>	Танани юза қисмида 12 фоизгача ташкил этганда ва танани юзасидаги чуқур куйиш 6 фоизгача бўлганда бўндай ҳолатлар унчалик хавф туғдирмайди.</a:t>
            </a:r>
          </a:p>
          <a:p>
            <a:pPr algn="just" eaLnBrk="0" hangingPunct="0"/>
            <a:r>
              <a:rPr lang="uz-Cyrl-UZ" b="1">
                <a:solidFill>
                  <a:srgbClr val="0000FF"/>
                </a:solidFill>
                <a:ea typeface="Times New Roman" pitchFamily="18" charset="0"/>
                <a:cs typeface="Arial" charset="0"/>
              </a:rPr>
              <a:t> 	Агар тананинг юзасидаги куйган жой катта миқдорни ташкил этса кўнгилсиз ҳолатлар содир бўлади. Куйиш 4 даражага бўлинади.</a:t>
            </a:r>
            <a:endParaRPr lang="ru-RU" b="1">
              <a:solidFill>
                <a:srgbClr val="0000FF"/>
              </a:solidFill>
              <a:ea typeface="Times New Roman" pitchFamily="18" charset="0"/>
              <a:cs typeface="Arial" charset="0"/>
            </a:endParaRPr>
          </a:p>
          <a:p>
            <a:pPr algn="just" eaLnBrk="0" hangingPunct="0"/>
            <a:r>
              <a:rPr lang="uz-Cyrl-UZ" b="1">
                <a:solidFill>
                  <a:srgbClr val="0000FF"/>
                </a:solidFill>
                <a:ea typeface="Times New Roman" pitchFamily="18" charset="0"/>
                <a:cs typeface="Arial" charset="0"/>
              </a:rPr>
              <a:t>         Биринчи ва иккинчи даражали куйишда танани тери қисмининг юпқа қаватида қизариш ҳосил бўлади;</a:t>
            </a:r>
            <a:endParaRPr lang="ru-RU" b="1">
              <a:solidFill>
                <a:srgbClr val="0000FF"/>
              </a:solidFill>
              <a:ea typeface="Times New Roman" pitchFamily="18" charset="0"/>
              <a:cs typeface="Arial" charset="0"/>
            </a:endParaRPr>
          </a:p>
          <a:p>
            <a:pPr algn="just" eaLnBrk="0" hangingPunct="0"/>
            <a:r>
              <a:rPr lang="uz-Cyrl-UZ" b="1">
                <a:solidFill>
                  <a:srgbClr val="0000FF"/>
                </a:solidFill>
                <a:ea typeface="Times New Roman" pitchFamily="18" charset="0"/>
                <a:cs typeface="Arial" charset="0"/>
              </a:rPr>
              <a:t>         Учинчи даражали куйишда - терида қорамтир кўриниш ҳосил бўлади.</a:t>
            </a:r>
            <a:endParaRPr lang="ru-RU" b="1">
              <a:solidFill>
                <a:srgbClr val="0000FF"/>
              </a:solidFill>
              <a:ea typeface="Times New Roman" pitchFamily="18" charset="0"/>
              <a:cs typeface="Arial" charset="0"/>
            </a:endParaRPr>
          </a:p>
          <a:p>
            <a:pPr algn="just" eaLnBrk="0" hangingPunct="0"/>
            <a:r>
              <a:rPr lang="uz-Cyrl-UZ" b="1">
                <a:solidFill>
                  <a:srgbClr val="0000FF"/>
                </a:solidFill>
                <a:ea typeface="Times New Roman" pitchFamily="18" charset="0"/>
                <a:cs typeface="Arial" charset="0"/>
              </a:rPr>
              <a:t>        Тўртинчи даражали куйишда - тери ва тери остидаги тўқималар ўралади. </a:t>
            </a:r>
            <a:endParaRPr lang="ru-RU" b="1">
              <a:solidFill>
                <a:srgbClr val="0000FF"/>
              </a:solidFill>
              <a:ea typeface="Times New Roman" pitchFamily="18" charset="0"/>
              <a:cs typeface="Arial" charset="0"/>
            </a:endParaRPr>
          </a:p>
          <a:p>
            <a:pPr algn="just" eaLnBrk="0" hangingPunct="0"/>
            <a:r>
              <a:rPr lang="uz-Cyrl-UZ" b="1">
                <a:solidFill>
                  <a:srgbClr val="0000FF"/>
                </a:solidFill>
                <a:ea typeface="Times New Roman" pitchFamily="18" charset="0"/>
                <a:cs typeface="Arial" charset="0"/>
              </a:rPr>
              <a:t>         Кийими ёнаётган одамни югуриши мумкин эмас. Уни тўхтатиш чораларини кўриш ва алангани кучайишига йўл қўймаслик лозим. Аланга олаётган кийимларни ечиб ёки йиртиб ташлаб сув билан ўчириш керак. Шундан сўнг қолган матоларни йиғиштириб олиш, ва ҳосил бўлган пуфакчаларни ҳеч қачон тешиб очмаслик, чунки у жойга микроб тушиб захарлаши мумкин.</a:t>
            </a:r>
            <a:endParaRPr lang="ru-RU" b="1">
              <a:solidFill>
                <a:srgbClr val="0000FF"/>
              </a:solidFill>
              <a:ea typeface="Times New Roman" pitchFamily="18" charset="0"/>
              <a:cs typeface="Arial"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1066800" y="381000"/>
            <a:ext cx="7086600" cy="400050"/>
          </a:xfrm>
          <a:prstGeom prst="rect">
            <a:avLst/>
          </a:prstGeom>
        </p:spPr>
        <p:txBody>
          <a:bodyPr>
            <a:spAutoFit/>
          </a:bodyPr>
          <a:lstStyle/>
          <a:p>
            <a:pPr algn="ctr" fontAlgn="auto">
              <a:spcBef>
                <a:spcPts val="0"/>
              </a:spcBef>
              <a:spcAft>
                <a:spcPts val="0"/>
              </a:spcAft>
              <a:defRPr/>
            </a:pPr>
            <a:r>
              <a:rPr lang="uz-Cyrl-UZ" sz="2000" b="1" dirty="0">
                <a:solidFill>
                  <a:srgbClr val="401B5B"/>
                </a:solidFill>
                <a:latin typeface="Arial" pitchFamily="34" charset="0"/>
                <a:ea typeface="+mj-ea"/>
                <a:cs typeface="Arial" pitchFamily="34" charset="0"/>
              </a:rPr>
              <a:t>Куйганда пуфакчалар хосил бўлмаган холларда</a:t>
            </a:r>
            <a:endParaRPr lang="ru-RU" sz="2000" b="1" dirty="0">
              <a:solidFill>
                <a:srgbClr val="401B5B"/>
              </a:solidFill>
              <a:latin typeface="Arial" pitchFamily="34" charset="0"/>
              <a:ea typeface="+mj-ea"/>
              <a:cs typeface="Arial" pitchFamily="34" charset="0"/>
            </a:endParaRPr>
          </a:p>
        </p:txBody>
      </p:sp>
      <p:pic>
        <p:nvPicPr>
          <p:cNvPr id="35842" name="Рисунок 7" descr="Подставьте под струю холодной воды на 10-15 минут"/>
          <p:cNvPicPr>
            <a:picLocks noChangeAspect="1" noChangeArrowheads="1"/>
          </p:cNvPicPr>
          <p:nvPr/>
        </p:nvPicPr>
        <p:blipFill>
          <a:blip r:embed="rId2"/>
          <a:srcRect/>
          <a:stretch>
            <a:fillRect/>
          </a:stretch>
        </p:blipFill>
        <p:spPr bwMode="auto">
          <a:xfrm>
            <a:off x="914400" y="1143000"/>
            <a:ext cx="1241425" cy="1377950"/>
          </a:xfrm>
          <a:prstGeom prst="rect">
            <a:avLst/>
          </a:prstGeom>
          <a:noFill/>
          <a:ln w="9525">
            <a:noFill/>
            <a:miter lim="800000"/>
            <a:headEnd/>
            <a:tailEnd/>
          </a:ln>
        </p:spPr>
      </p:pic>
      <p:sp>
        <p:nvSpPr>
          <p:cNvPr id="35843" name="Прямоугольник 8"/>
          <p:cNvSpPr>
            <a:spLocks noChangeArrowheads="1"/>
          </p:cNvSpPr>
          <p:nvPr/>
        </p:nvSpPr>
        <p:spPr bwMode="auto">
          <a:xfrm>
            <a:off x="2362200" y="1295400"/>
            <a:ext cx="1828800" cy="1077913"/>
          </a:xfrm>
          <a:prstGeom prst="rect">
            <a:avLst/>
          </a:prstGeom>
          <a:noFill/>
          <a:ln w="9525">
            <a:noFill/>
            <a:miter lim="800000"/>
            <a:headEnd/>
            <a:tailEnd/>
          </a:ln>
        </p:spPr>
        <p:txBody>
          <a:bodyPr>
            <a:spAutoFit/>
          </a:bodyPr>
          <a:lstStyle/>
          <a:p>
            <a:pPr algn="just"/>
            <a:r>
              <a:rPr lang="uz-Cyrl-UZ" sz="1600">
                <a:latin typeface="Times New Roman" pitchFamily="18" charset="0"/>
                <a:cs typeface="Times New Roman" pitchFamily="18" charset="0"/>
              </a:rPr>
              <a:t>Куйган жойни совуқ сув оқаётган жойга 10-15 минут тутиш керак.</a:t>
            </a:r>
            <a:endParaRPr lang="ru-RU" sz="1600">
              <a:latin typeface="Times New Roman" pitchFamily="18" charset="0"/>
              <a:cs typeface="Times New Roman" pitchFamily="18" charset="0"/>
            </a:endParaRPr>
          </a:p>
        </p:txBody>
      </p:sp>
      <p:pic>
        <p:nvPicPr>
          <p:cNvPr id="35844" name="Рисунок 9" descr="Приложите холод"/>
          <p:cNvPicPr>
            <a:picLocks noChangeAspect="1" noChangeArrowheads="1"/>
          </p:cNvPicPr>
          <p:nvPr/>
        </p:nvPicPr>
        <p:blipFill>
          <a:blip r:embed="rId3"/>
          <a:srcRect/>
          <a:stretch>
            <a:fillRect/>
          </a:stretch>
        </p:blipFill>
        <p:spPr bwMode="auto">
          <a:xfrm>
            <a:off x="4800600" y="1295400"/>
            <a:ext cx="1255713" cy="1133475"/>
          </a:xfrm>
          <a:prstGeom prst="rect">
            <a:avLst/>
          </a:prstGeom>
          <a:noFill/>
          <a:ln w="9525">
            <a:noFill/>
            <a:miter lim="800000"/>
            <a:headEnd/>
            <a:tailEnd/>
          </a:ln>
        </p:spPr>
      </p:pic>
      <p:sp>
        <p:nvSpPr>
          <p:cNvPr id="35845" name="Прямоугольник 10"/>
          <p:cNvSpPr>
            <a:spLocks noChangeArrowheads="1"/>
          </p:cNvSpPr>
          <p:nvPr/>
        </p:nvSpPr>
        <p:spPr bwMode="auto">
          <a:xfrm>
            <a:off x="6248400" y="1295400"/>
            <a:ext cx="2133600" cy="830263"/>
          </a:xfrm>
          <a:prstGeom prst="rect">
            <a:avLst/>
          </a:prstGeom>
          <a:noFill/>
          <a:ln w="9525">
            <a:noFill/>
            <a:miter lim="800000"/>
            <a:headEnd/>
            <a:tailEnd/>
          </a:ln>
        </p:spPr>
        <p:txBody>
          <a:bodyPr>
            <a:spAutoFit/>
          </a:bodyPr>
          <a:lstStyle/>
          <a:p>
            <a:pPr algn="just"/>
            <a:r>
              <a:rPr lang="uz-Cyrl-UZ" sz="1600">
                <a:latin typeface="Times New Roman" pitchFamily="18" charset="0"/>
                <a:cs typeface="Times New Roman" pitchFamily="18" charset="0"/>
              </a:rPr>
              <a:t>Куйган жойга совуқни 20-30 минут тутиб туриш керак</a:t>
            </a:r>
            <a:endParaRPr lang="ru-RU" sz="1600">
              <a:latin typeface="Times New Roman" pitchFamily="18" charset="0"/>
              <a:cs typeface="Times New Roman" pitchFamily="18" charset="0"/>
            </a:endParaRPr>
          </a:p>
        </p:txBody>
      </p:sp>
      <p:sp>
        <p:nvSpPr>
          <p:cNvPr id="35846" name="Прямоугольник 11"/>
          <p:cNvSpPr>
            <a:spLocks noChangeArrowheads="1"/>
          </p:cNvSpPr>
          <p:nvPr/>
        </p:nvSpPr>
        <p:spPr bwMode="auto">
          <a:xfrm>
            <a:off x="2209800" y="2590800"/>
            <a:ext cx="6096000" cy="369888"/>
          </a:xfrm>
          <a:prstGeom prst="rect">
            <a:avLst/>
          </a:prstGeom>
          <a:noFill/>
          <a:ln w="9525">
            <a:noFill/>
            <a:miter lim="800000"/>
            <a:headEnd/>
            <a:tailEnd/>
          </a:ln>
        </p:spPr>
        <p:txBody>
          <a:bodyPr>
            <a:spAutoFit/>
          </a:bodyPr>
          <a:lstStyle/>
          <a:p>
            <a:r>
              <a:rPr lang="uz-Cyrl-UZ" b="1">
                <a:solidFill>
                  <a:srgbClr val="FF0000"/>
                </a:solidFill>
                <a:cs typeface="Arial" charset="0"/>
              </a:rPr>
              <a:t>Куйган жойга мой ва ёғлар суртиш мумкин эмас!</a:t>
            </a:r>
            <a:endParaRPr lang="ru-RU">
              <a:cs typeface="Arial" charset="0"/>
            </a:endParaRPr>
          </a:p>
        </p:txBody>
      </p:sp>
      <p:sp>
        <p:nvSpPr>
          <p:cNvPr id="35847" name="Прямоугольник 12"/>
          <p:cNvSpPr>
            <a:spLocks noChangeArrowheads="1"/>
          </p:cNvSpPr>
          <p:nvPr/>
        </p:nvSpPr>
        <p:spPr bwMode="auto">
          <a:xfrm>
            <a:off x="2368550" y="3244850"/>
            <a:ext cx="5233988" cy="368300"/>
          </a:xfrm>
          <a:prstGeom prst="rect">
            <a:avLst/>
          </a:prstGeom>
          <a:noFill/>
          <a:ln w="9525">
            <a:noFill/>
            <a:miter lim="800000"/>
            <a:headEnd/>
            <a:tailEnd/>
          </a:ln>
        </p:spPr>
        <p:txBody>
          <a:bodyPr wrap="none">
            <a:spAutoFit/>
          </a:bodyPr>
          <a:lstStyle/>
          <a:p>
            <a:r>
              <a:rPr lang="uz-Cyrl-UZ" b="1" i="1">
                <a:solidFill>
                  <a:srgbClr val="0070C0"/>
                </a:solidFill>
                <a:cs typeface="Arial" charset="0"/>
              </a:rPr>
              <a:t>Куйиш оқибатида тери қорайиб кетганда:</a:t>
            </a:r>
            <a:endParaRPr lang="ru-RU" i="1">
              <a:solidFill>
                <a:srgbClr val="0070C0"/>
              </a:solidFill>
              <a:cs typeface="Arial" charset="0"/>
            </a:endParaRPr>
          </a:p>
        </p:txBody>
      </p:sp>
      <p:pic>
        <p:nvPicPr>
          <p:cNvPr id="35848" name="Рисунок 13" descr="Накрыть сухой чистой тканью"/>
          <p:cNvPicPr>
            <a:picLocks noChangeAspect="1" noChangeArrowheads="1"/>
          </p:cNvPicPr>
          <p:nvPr/>
        </p:nvPicPr>
        <p:blipFill>
          <a:blip r:embed="rId4"/>
          <a:srcRect/>
          <a:stretch>
            <a:fillRect/>
          </a:stretch>
        </p:blipFill>
        <p:spPr bwMode="auto">
          <a:xfrm>
            <a:off x="914400" y="3657600"/>
            <a:ext cx="1570038" cy="1296988"/>
          </a:xfrm>
          <a:prstGeom prst="rect">
            <a:avLst/>
          </a:prstGeom>
          <a:noFill/>
          <a:ln w="9525">
            <a:noFill/>
            <a:miter lim="800000"/>
            <a:headEnd/>
            <a:tailEnd/>
          </a:ln>
        </p:spPr>
      </p:pic>
      <p:sp>
        <p:nvSpPr>
          <p:cNvPr id="35849" name="Rectangle 3"/>
          <p:cNvSpPr>
            <a:spLocks noChangeArrowheads="1"/>
          </p:cNvSpPr>
          <p:nvPr/>
        </p:nvSpPr>
        <p:spPr bwMode="auto">
          <a:xfrm>
            <a:off x="2438400" y="4114800"/>
            <a:ext cx="2362200" cy="584200"/>
          </a:xfrm>
          <a:prstGeom prst="rect">
            <a:avLst/>
          </a:prstGeom>
          <a:noFill/>
          <a:ln w="9525">
            <a:noFill/>
            <a:miter lim="800000"/>
            <a:headEnd/>
            <a:tailEnd/>
          </a:ln>
        </p:spPr>
        <p:txBody>
          <a:bodyPr anchor="ctr">
            <a:spAutoFit/>
          </a:bodyPr>
          <a:lstStyle/>
          <a:p>
            <a:r>
              <a:rPr lang="uz-Cyrl-UZ" sz="1600">
                <a:latin typeface="Times New Roman" pitchFamily="18" charset="0"/>
                <a:cs typeface="Times New Roman" pitchFamily="18" charset="0"/>
              </a:rPr>
              <a:t>Куйган жойни тоза</a:t>
            </a:r>
          </a:p>
          <a:p>
            <a:r>
              <a:rPr lang="uz-Cyrl-UZ" sz="1600">
                <a:latin typeface="Times New Roman" pitchFamily="18" charset="0"/>
                <a:cs typeface="Times New Roman" pitchFamily="18" charset="0"/>
              </a:rPr>
              <a:t> мато билан ёпиш лозим.</a:t>
            </a:r>
            <a:r>
              <a:rPr lang="ru-RU" sz="1600">
                <a:latin typeface="Times New Roman" pitchFamily="18" charset="0"/>
                <a:cs typeface="Times New Roman" pitchFamily="18" charset="0"/>
              </a:rPr>
              <a:t> </a:t>
            </a:r>
          </a:p>
        </p:txBody>
      </p:sp>
      <p:pic>
        <p:nvPicPr>
          <p:cNvPr id="35850" name="Рисунок 15" descr="Поверх сухой ткани приложить холод"/>
          <p:cNvPicPr>
            <a:picLocks noChangeAspect="1" noChangeArrowheads="1"/>
          </p:cNvPicPr>
          <p:nvPr/>
        </p:nvPicPr>
        <p:blipFill>
          <a:blip r:embed="rId5"/>
          <a:srcRect/>
          <a:stretch>
            <a:fillRect/>
          </a:stretch>
        </p:blipFill>
        <p:spPr bwMode="auto">
          <a:xfrm>
            <a:off x="4724400" y="3733800"/>
            <a:ext cx="1501775" cy="1377950"/>
          </a:xfrm>
          <a:prstGeom prst="rect">
            <a:avLst/>
          </a:prstGeom>
          <a:noFill/>
          <a:ln w="9525">
            <a:noFill/>
            <a:miter lim="800000"/>
            <a:headEnd/>
            <a:tailEnd/>
          </a:ln>
        </p:spPr>
      </p:pic>
      <p:sp>
        <p:nvSpPr>
          <p:cNvPr id="35851" name="Rectangle 4"/>
          <p:cNvSpPr>
            <a:spLocks noChangeArrowheads="1"/>
          </p:cNvSpPr>
          <p:nvPr/>
        </p:nvSpPr>
        <p:spPr bwMode="auto">
          <a:xfrm>
            <a:off x="6324600" y="4038600"/>
            <a:ext cx="2514600" cy="584200"/>
          </a:xfrm>
          <a:prstGeom prst="rect">
            <a:avLst/>
          </a:prstGeom>
          <a:noFill/>
          <a:ln w="9525">
            <a:noFill/>
            <a:miter lim="800000"/>
            <a:headEnd/>
            <a:tailEnd/>
          </a:ln>
        </p:spPr>
        <p:txBody>
          <a:bodyPr anchor="ctr">
            <a:spAutoFit/>
          </a:bodyPr>
          <a:lstStyle/>
          <a:p>
            <a:r>
              <a:rPr lang="uz-Cyrl-UZ" sz="1600">
                <a:latin typeface="Times New Roman" pitchFamily="18" charset="0"/>
                <a:cs typeface="Times New Roman" pitchFamily="18" charset="0"/>
              </a:rPr>
              <a:t>Тоза мато устидан совуқни</a:t>
            </a:r>
          </a:p>
          <a:p>
            <a:pPr eaLnBrk="0" hangingPunct="0"/>
            <a:r>
              <a:rPr lang="uz-Cyrl-UZ" sz="1600">
                <a:latin typeface="Times New Roman" pitchFamily="18" charset="0"/>
                <a:cs typeface="Times New Roman" pitchFamily="18" charset="0"/>
              </a:rPr>
              <a:t>тутиб туриш керак</a:t>
            </a:r>
            <a:r>
              <a:rPr lang="ru-RU" sz="1600">
                <a:latin typeface="Times New Roman" pitchFamily="18" charset="0"/>
                <a:cs typeface="Times New Roman" pitchFamily="18" charset="0"/>
              </a:rPr>
              <a:t> </a:t>
            </a:r>
          </a:p>
        </p:txBody>
      </p:sp>
      <p:sp>
        <p:nvSpPr>
          <p:cNvPr id="35852" name="Прямоугольник 17"/>
          <p:cNvSpPr>
            <a:spLocks noChangeArrowheads="1"/>
          </p:cNvSpPr>
          <p:nvPr/>
        </p:nvSpPr>
        <p:spPr bwMode="auto">
          <a:xfrm>
            <a:off x="914400" y="5105400"/>
            <a:ext cx="7848600" cy="369888"/>
          </a:xfrm>
          <a:prstGeom prst="rect">
            <a:avLst/>
          </a:prstGeom>
          <a:noFill/>
          <a:ln w="9525">
            <a:noFill/>
            <a:miter lim="800000"/>
            <a:headEnd/>
            <a:tailEnd/>
          </a:ln>
        </p:spPr>
        <p:txBody>
          <a:bodyPr>
            <a:spAutoFit/>
          </a:bodyPr>
          <a:lstStyle/>
          <a:p>
            <a:r>
              <a:rPr lang="uz-Cyrl-UZ" b="1">
                <a:solidFill>
                  <a:srgbClr val="FF0000"/>
                </a:solidFill>
                <a:cs typeface="Arial" charset="0"/>
              </a:rPr>
              <a:t>Бундай куйганда сув билан ювиш, бинт билан ўраш мумкин эмас!</a:t>
            </a:r>
            <a:endParaRPr lang="ru-RU" b="1">
              <a:solidFill>
                <a:srgbClr val="FF0000"/>
              </a:solidFill>
              <a:cs typeface="Arial"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Заголовок 1"/>
          <p:cNvSpPr>
            <a:spLocks noGrp="1"/>
          </p:cNvSpPr>
          <p:nvPr>
            <p:ph type="title"/>
          </p:nvPr>
        </p:nvSpPr>
        <p:spPr>
          <a:xfrm>
            <a:off x="457200" y="228600"/>
            <a:ext cx="8229600" cy="487363"/>
          </a:xfrm>
        </p:spPr>
        <p:txBody>
          <a:bodyPr/>
          <a:lstStyle/>
          <a:p>
            <a:pPr eaLnBrk="1" hangingPunct="1"/>
            <a:r>
              <a:rPr lang="uz-Cyrl-UZ" sz="2400" b="1">
                <a:solidFill>
                  <a:srgbClr val="163C46"/>
                </a:solidFill>
                <a:latin typeface="Arial" charset="0"/>
                <a:ea typeface="Times New Roman" pitchFamily="18" charset="0"/>
                <a:cs typeface="Arial" charset="0"/>
              </a:rPr>
              <a:t>Кимёвий ва электр токи таъсиридан куйиш</a:t>
            </a:r>
            <a:endParaRPr lang="ru-RU" sz="2400">
              <a:solidFill>
                <a:srgbClr val="163C46"/>
              </a:solidFill>
              <a:ea typeface="Times New Roman" pitchFamily="18" charset="0"/>
              <a:cs typeface="Arial" charset="0"/>
            </a:endParaRPr>
          </a:p>
        </p:txBody>
      </p:sp>
      <p:sp>
        <p:nvSpPr>
          <p:cNvPr id="36866" name="Rectangle 1"/>
          <p:cNvSpPr>
            <a:spLocks noChangeArrowheads="1"/>
          </p:cNvSpPr>
          <p:nvPr/>
        </p:nvSpPr>
        <p:spPr bwMode="auto">
          <a:xfrm>
            <a:off x="228600" y="3810000"/>
            <a:ext cx="8686800" cy="2586038"/>
          </a:xfrm>
          <a:prstGeom prst="rect">
            <a:avLst/>
          </a:prstGeom>
          <a:noFill/>
          <a:ln w="9525">
            <a:noFill/>
            <a:miter lim="800000"/>
            <a:headEnd/>
            <a:tailEnd/>
          </a:ln>
        </p:spPr>
        <p:txBody>
          <a:bodyPr anchor="ctr">
            <a:spAutoFit/>
          </a:bodyPr>
          <a:lstStyle/>
          <a:p>
            <a:pPr indent="449263" algn="just"/>
            <a:r>
              <a:rPr lang="uz-Cyrl-UZ" b="1">
                <a:solidFill>
                  <a:srgbClr val="0000FF"/>
                </a:solidFill>
                <a:ea typeface="Times New Roman" pitchFamily="18" charset="0"/>
                <a:cs typeface="Arial" charset="0"/>
              </a:rPr>
              <a:t>Кимёвий моддалардан куйган вақтда биринчи ёрдам кўрсатилгандан сўнг, жабрланувчини даволаш муассасига олиб бориш зарур.</a:t>
            </a:r>
            <a:endParaRPr lang="ru-RU">
              <a:ea typeface="Times New Roman" pitchFamily="18" charset="0"/>
              <a:cs typeface="Arial" charset="0"/>
            </a:endParaRPr>
          </a:p>
          <a:p>
            <a:pPr indent="449263" algn="just" eaLnBrk="0" hangingPunct="0"/>
            <a:r>
              <a:rPr lang="uz-Cyrl-UZ" b="1">
                <a:solidFill>
                  <a:srgbClr val="0000FF"/>
                </a:solidFill>
                <a:ea typeface="Times New Roman" pitchFamily="18" charset="0"/>
                <a:cs typeface="Arial" charset="0"/>
              </a:rPr>
              <a:t>Электр токи таъсиридан куйиш - инсон танаси орқали электр токини ўтиши натижасида ҳосил бўлган исссиқликдан содир бўлади.</a:t>
            </a:r>
            <a:endParaRPr lang="ru-RU">
              <a:ea typeface="Times New Roman" pitchFamily="18" charset="0"/>
              <a:cs typeface="Arial" charset="0"/>
            </a:endParaRPr>
          </a:p>
          <a:p>
            <a:pPr indent="449263" algn="just" eaLnBrk="0" hangingPunct="0"/>
            <a:r>
              <a:rPr lang="uz-Cyrl-UZ" b="1">
                <a:solidFill>
                  <a:srgbClr val="0000FF"/>
                </a:solidFill>
                <a:ea typeface="Times New Roman" pitchFamily="18" charset="0"/>
                <a:cs typeface="Arial" charset="0"/>
              </a:rPr>
              <a:t>Бу вақтда биринчи навбатда жабрланувчини электр токи  таъсиридан озод этиш зарур.</a:t>
            </a:r>
          </a:p>
          <a:p>
            <a:pPr indent="449263" algn="just" eaLnBrk="0" hangingPunct="0"/>
            <a:r>
              <a:rPr lang="uz-Cyrl-UZ" b="1">
                <a:solidFill>
                  <a:srgbClr val="0000FF"/>
                </a:solidFill>
                <a:ea typeface="Times New Roman" pitchFamily="18" charset="0"/>
                <a:cs typeface="Arial" charset="0"/>
              </a:rPr>
              <a:t> Агар жабрланувчини нафас олиш ёки юрак фаолияти тўхташ ҳоллари содир бўлса, зудлик билан сунъий нафас олдириш ва юракни уқалашга киришиш керак.</a:t>
            </a:r>
            <a:endParaRPr lang="uz-Cyrl-UZ">
              <a:ea typeface="Times New Roman" pitchFamily="18" charset="0"/>
              <a:cs typeface="Arial" charset="0"/>
            </a:endParaRPr>
          </a:p>
        </p:txBody>
      </p:sp>
      <p:pic>
        <p:nvPicPr>
          <p:cNvPr id="36867" name="Picture 2" descr="C:\Users\eshankulov\Desktop\stepeni-ozogov3.jpg"/>
          <p:cNvPicPr>
            <a:picLocks noChangeAspect="1" noChangeArrowheads="1"/>
          </p:cNvPicPr>
          <p:nvPr/>
        </p:nvPicPr>
        <p:blipFill>
          <a:blip r:embed="rId2"/>
          <a:srcRect/>
          <a:stretch>
            <a:fillRect/>
          </a:stretch>
        </p:blipFill>
        <p:spPr bwMode="auto">
          <a:xfrm>
            <a:off x="304800" y="990600"/>
            <a:ext cx="3276600" cy="2590800"/>
          </a:xfrm>
          <a:prstGeom prst="rect">
            <a:avLst/>
          </a:prstGeom>
          <a:noFill/>
          <a:ln w="9525">
            <a:noFill/>
            <a:miter lim="800000"/>
            <a:headEnd/>
            <a:tailEnd/>
          </a:ln>
        </p:spPr>
      </p:pic>
      <p:sp>
        <p:nvSpPr>
          <p:cNvPr id="36868" name="Прямоугольник 5"/>
          <p:cNvSpPr>
            <a:spLocks noChangeArrowheads="1"/>
          </p:cNvSpPr>
          <p:nvPr/>
        </p:nvSpPr>
        <p:spPr bwMode="auto">
          <a:xfrm>
            <a:off x="3429000" y="762000"/>
            <a:ext cx="5486400" cy="3140075"/>
          </a:xfrm>
          <a:prstGeom prst="rect">
            <a:avLst/>
          </a:prstGeom>
          <a:noFill/>
          <a:ln w="9525">
            <a:noFill/>
            <a:miter lim="800000"/>
            <a:headEnd/>
            <a:tailEnd/>
          </a:ln>
        </p:spPr>
        <p:txBody>
          <a:bodyPr>
            <a:spAutoFit/>
          </a:bodyPr>
          <a:lstStyle/>
          <a:p>
            <a:pPr algn="just"/>
            <a:r>
              <a:rPr lang="uz-Cyrl-UZ" b="1">
                <a:solidFill>
                  <a:srgbClr val="0000FF"/>
                </a:solidFill>
                <a:ea typeface="Times New Roman" pitchFamily="18" charset="0"/>
                <a:cs typeface="Arial" charset="0"/>
              </a:rPr>
              <a:t>      Кимёвий  куйиш  -. ишқор  (кислота)  эритмалари  таъсири натижасида терида жарохатлашиш содир бўлиши. Бу вақтда жабрланувчини кийимларини ечиб ташлаш лозим. Ёрдам берувчи киши ишқор (кислота) қолдиғидан куйиб қолмасликка эҳтиёт чорасини кўриш керак. Шундан сўнг               25-30 дақиқа давомида жарохатланган юзани муздек сув оқимида ювиш керак. Сўнг зарарланган жойни ичимлик содаси эритмасида тозалаш лозим.</a:t>
            </a:r>
            <a:endParaRPr lang="ru-RU">
              <a:latin typeface="Calibri" pitchFamily="34" charset="0"/>
              <a:ea typeface="Times New Roman" pitchFamily="18" charset="0"/>
              <a:cs typeface="Arial"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Заголовок 1"/>
          <p:cNvSpPr>
            <a:spLocks noGrp="1"/>
          </p:cNvSpPr>
          <p:nvPr>
            <p:ph type="title"/>
          </p:nvPr>
        </p:nvSpPr>
        <p:spPr>
          <a:xfrm>
            <a:off x="457200" y="274638"/>
            <a:ext cx="8229600" cy="487362"/>
          </a:xfrm>
        </p:spPr>
        <p:txBody>
          <a:bodyPr/>
          <a:lstStyle/>
          <a:p>
            <a:pPr eaLnBrk="1" hangingPunct="1"/>
            <a:r>
              <a:rPr lang="uz-Cyrl-UZ" sz="2400" b="1">
                <a:solidFill>
                  <a:srgbClr val="163C46"/>
                </a:solidFill>
                <a:latin typeface="Arial" charset="0"/>
                <a:ea typeface="Times New Roman" pitchFamily="18" charset="0"/>
                <a:cs typeface="Arial" charset="0"/>
              </a:rPr>
              <a:t>Сунъий нафас бериш усуллари</a:t>
            </a:r>
            <a:endParaRPr lang="ru-RU" sz="2400" b="1">
              <a:solidFill>
                <a:srgbClr val="163C46"/>
              </a:solidFill>
              <a:latin typeface="Arial" charset="0"/>
              <a:ea typeface="Times New Roman" pitchFamily="18" charset="0"/>
              <a:cs typeface="Arial" charset="0"/>
            </a:endParaRPr>
          </a:p>
        </p:txBody>
      </p:sp>
      <p:sp>
        <p:nvSpPr>
          <p:cNvPr id="37890" name="Rectangle 1"/>
          <p:cNvSpPr>
            <a:spLocks noChangeArrowheads="1"/>
          </p:cNvSpPr>
          <p:nvPr/>
        </p:nvSpPr>
        <p:spPr bwMode="auto">
          <a:xfrm>
            <a:off x="457200" y="990600"/>
            <a:ext cx="8534400" cy="1138238"/>
          </a:xfrm>
          <a:prstGeom prst="rect">
            <a:avLst/>
          </a:prstGeom>
          <a:noFill/>
          <a:ln w="9525">
            <a:noFill/>
            <a:miter lim="800000"/>
            <a:headEnd/>
            <a:tailEnd/>
          </a:ln>
        </p:spPr>
        <p:txBody>
          <a:bodyPr anchor="ctr">
            <a:spAutoFit/>
          </a:bodyPr>
          <a:lstStyle/>
          <a:p>
            <a:pPr algn="just"/>
            <a:r>
              <a:rPr lang="uz-Cyrl-UZ" sz="1700" b="1">
                <a:solidFill>
                  <a:srgbClr val="0000FF"/>
                </a:solidFill>
                <a:ea typeface="Times New Roman" pitchFamily="18" charset="0"/>
                <a:cs typeface="Arial" charset="0"/>
              </a:rPr>
              <a:t>       Сунъий нафас олдириш, жабрланувчи нафас олиши тўхтаганда, қуйидаги холатларда – сувга чўкканда, электр таки ёки яшин урганда амалга оширилади. Уни икки усулда амалга ошириш мумкин.</a:t>
            </a:r>
            <a:endParaRPr lang="ru-RU" sz="1700" b="1">
              <a:solidFill>
                <a:srgbClr val="0000FF"/>
              </a:solidFill>
              <a:ea typeface="Times New Roman" pitchFamily="18" charset="0"/>
              <a:cs typeface="Arial" charset="0"/>
            </a:endParaRPr>
          </a:p>
          <a:p>
            <a:pPr algn="just" eaLnBrk="0" hangingPunct="0"/>
            <a:r>
              <a:rPr lang="uz-Cyrl-UZ" sz="1700" b="1">
                <a:solidFill>
                  <a:srgbClr val="0000FF"/>
                </a:solidFill>
                <a:ea typeface="Times New Roman" pitchFamily="18" charset="0"/>
                <a:cs typeface="Arial" charset="0"/>
              </a:rPr>
              <a:t>а) оғиздан-оғизга;  б) оғиздан-бурунга.</a:t>
            </a:r>
            <a:endParaRPr lang="ru-RU" sz="1700" b="1">
              <a:solidFill>
                <a:srgbClr val="0000FF"/>
              </a:solidFill>
              <a:ea typeface="Times New Roman" pitchFamily="18" charset="0"/>
              <a:cs typeface="Arial" charset="0"/>
            </a:endParaRPr>
          </a:p>
        </p:txBody>
      </p:sp>
      <p:pic>
        <p:nvPicPr>
          <p:cNvPr id="37891" name="Рисунок 4" descr="http://works.tarefer.ru/9/100235/pics/image001.jpg"/>
          <p:cNvPicPr>
            <a:picLocks noChangeAspect="1" noChangeArrowheads="1"/>
          </p:cNvPicPr>
          <p:nvPr/>
        </p:nvPicPr>
        <p:blipFill>
          <a:blip r:embed="rId2"/>
          <a:srcRect/>
          <a:stretch>
            <a:fillRect/>
          </a:stretch>
        </p:blipFill>
        <p:spPr bwMode="auto">
          <a:xfrm>
            <a:off x="838200" y="2133600"/>
            <a:ext cx="3352800" cy="1752600"/>
          </a:xfrm>
          <a:prstGeom prst="rect">
            <a:avLst/>
          </a:prstGeom>
          <a:noFill/>
          <a:ln w="9525">
            <a:noFill/>
            <a:miter lim="800000"/>
            <a:headEnd/>
            <a:tailEnd/>
          </a:ln>
        </p:spPr>
      </p:pic>
      <p:sp>
        <p:nvSpPr>
          <p:cNvPr id="37892" name="Прямоугольник 5"/>
          <p:cNvSpPr>
            <a:spLocks noChangeArrowheads="1"/>
          </p:cNvSpPr>
          <p:nvPr/>
        </p:nvSpPr>
        <p:spPr bwMode="auto">
          <a:xfrm>
            <a:off x="533400" y="3962400"/>
            <a:ext cx="8229600" cy="2770188"/>
          </a:xfrm>
          <a:prstGeom prst="rect">
            <a:avLst/>
          </a:prstGeom>
          <a:noFill/>
          <a:ln w="9525">
            <a:noFill/>
            <a:miter lim="800000"/>
            <a:headEnd/>
            <a:tailEnd/>
          </a:ln>
        </p:spPr>
        <p:txBody>
          <a:bodyPr>
            <a:spAutoFit/>
          </a:bodyPr>
          <a:lstStyle/>
          <a:p>
            <a:pPr algn="just" eaLnBrk="0" hangingPunct="0"/>
            <a:r>
              <a:rPr lang="uz-Cyrl-UZ" b="1">
                <a:solidFill>
                  <a:srgbClr val="0000FF"/>
                </a:solidFill>
                <a:ea typeface="Times New Roman" pitchFamily="18" charset="0"/>
                <a:cs typeface="Arial" charset="0"/>
              </a:rPr>
              <a:t>        </a:t>
            </a:r>
            <a:r>
              <a:rPr lang="uz-Cyrl-UZ" b="1">
                <a:solidFill>
                  <a:srgbClr val="FF0000"/>
                </a:solidFill>
                <a:ea typeface="Times New Roman" pitchFamily="18" charset="0"/>
                <a:cs typeface="Arial" charset="0"/>
              </a:rPr>
              <a:t>Энг кўп қўлланадиган суъний нафас олдириш усули “оғиздан-оғизга”  усулидир.</a:t>
            </a:r>
          </a:p>
          <a:p>
            <a:pPr algn="just"/>
            <a:r>
              <a:rPr lang="uz-Cyrl-UZ" b="1">
                <a:solidFill>
                  <a:srgbClr val="0000FF"/>
                </a:solidFill>
                <a:ea typeface="Times New Roman" pitchFamily="18" charset="0"/>
                <a:cs typeface="Arial" charset="0"/>
              </a:rPr>
              <a:t>          </a:t>
            </a:r>
            <a:r>
              <a:rPr lang="uz-Cyrl-UZ" sz="1700" b="1">
                <a:solidFill>
                  <a:srgbClr val="0000FF"/>
                </a:solidFill>
                <a:ea typeface="Times New Roman" pitchFamily="18" charset="0"/>
                <a:cs typeface="Arial" charset="0"/>
              </a:rPr>
              <a:t>Жабрланувчини елкасини остига бирорта юмшоқ буюм (ёстиқ, куртка ва шу кабилар) қўйилади ва бошини пасайтирилади. Берилаётган хаво нафас йўлига тушиш учун бурунни бармоқ билан қисилади. Оғизни рўмолча ёки дока бўлаги билан беркитилади, лаб билан махкам қисиб         1 марта пуфланади. Ундай холатда жабрланувчини ўпкаси кенгайиб нафас олади. Қачонки хаво пудаш тўхтатилганда кўкрак қафаси тушади нафас чиқаради, бир вақтни ўзида юрак 3-4 марта массаж қилинади.</a:t>
            </a:r>
            <a:endParaRPr lang="ru-RU" sz="1700" b="1">
              <a:solidFill>
                <a:srgbClr val="0000FF"/>
              </a:solidFill>
              <a:ea typeface="Times New Roman" pitchFamily="18" charset="0"/>
              <a:cs typeface="Arial" charset="0"/>
            </a:endParaRPr>
          </a:p>
          <a:p>
            <a:pPr algn="just"/>
            <a:endParaRPr lang="ru-RU" b="1">
              <a:solidFill>
                <a:srgbClr val="0000FF"/>
              </a:solidFill>
              <a:ea typeface="Times New Roman" pitchFamily="18" charset="0"/>
              <a:cs typeface="Arial" charset="0"/>
            </a:endParaRPr>
          </a:p>
        </p:txBody>
      </p:sp>
      <p:pic>
        <p:nvPicPr>
          <p:cNvPr id="37893" name="Рисунок 6" descr="4.jpg"/>
          <p:cNvPicPr>
            <a:picLocks noChangeAspect="1" noChangeArrowheads="1"/>
          </p:cNvPicPr>
          <p:nvPr/>
        </p:nvPicPr>
        <p:blipFill>
          <a:blip r:embed="rId3"/>
          <a:srcRect t="19431"/>
          <a:stretch>
            <a:fillRect/>
          </a:stretch>
        </p:blipFill>
        <p:spPr bwMode="auto">
          <a:xfrm>
            <a:off x="4191000" y="1905000"/>
            <a:ext cx="3733800" cy="1614488"/>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Заголовок 1"/>
          <p:cNvSpPr>
            <a:spLocks noGrp="1"/>
          </p:cNvSpPr>
          <p:nvPr>
            <p:ph type="title"/>
          </p:nvPr>
        </p:nvSpPr>
        <p:spPr>
          <a:xfrm>
            <a:off x="457200" y="274638"/>
            <a:ext cx="8229600" cy="487362"/>
          </a:xfrm>
        </p:spPr>
        <p:txBody>
          <a:bodyPr/>
          <a:lstStyle/>
          <a:p>
            <a:pPr eaLnBrk="1" hangingPunct="1"/>
            <a:r>
              <a:rPr lang="uz-Cyrl-UZ" sz="2400" b="1">
                <a:solidFill>
                  <a:srgbClr val="163C46"/>
                </a:solidFill>
                <a:latin typeface="Arial" charset="0"/>
                <a:ea typeface="Times New Roman" pitchFamily="18" charset="0"/>
                <a:cs typeface="Arial" charset="0"/>
              </a:rPr>
              <a:t>Жабрланувчини кўчириш ва ташиш</a:t>
            </a:r>
            <a:endParaRPr lang="ru-RU" sz="2400" b="1">
              <a:solidFill>
                <a:srgbClr val="163C46"/>
              </a:solidFill>
              <a:latin typeface="Arial" charset="0"/>
              <a:ea typeface="Times New Roman" pitchFamily="18" charset="0"/>
              <a:cs typeface="Arial" charset="0"/>
            </a:endParaRPr>
          </a:p>
        </p:txBody>
      </p:sp>
      <p:sp>
        <p:nvSpPr>
          <p:cNvPr id="38914" name="Rectangle 1"/>
          <p:cNvSpPr>
            <a:spLocks noChangeArrowheads="1"/>
          </p:cNvSpPr>
          <p:nvPr/>
        </p:nvSpPr>
        <p:spPr bwMode="auto">
          <a:xfrm>
            <a:off x="3810000" y="1143000"/>
            <a:ext cx="5181600" cy="2708275"/>
          </a:xfrm>
          <a:prstGeom prst="rect">
            <a:avLst/>
          </a:prstGeom>
          <a:noFill/>
          <a:ln w="9525">
            <a:noFill/>
            <a:miter lim="800000"/>
            <a:headEnd/>
            <a:tailEnd/>
          </a:ln>
        </p:spPr>
        <p:txBody>
          <a:bodyPr anchor="ctr">
            <a:spAutoFit/>
          </a:bodyPr>
          <a:lstStyle/>
          <a:p>
            <a:pPr indent="449263" algn="just"/>
            <a:r>
              <a:rPr lang="uz-Cyrl-UZ" sz="1700" b="1">
                <a:solidFill>
                  <a:srgbClr val="0000FF"/>
                </a:solidFill>
                <a:ea typeface="Times New Roman" pitchFamily="18" charset="0"/>
                <a:cs typeface="Arial" charset="0"/>
              </a:rPr>
              <a:t>Жабрланувчини кўтарганда, кўчирганда ва ташишда (транспорт воситасида) уни оғритмаслик ва безовта қилмаслик керак. Жабрланувчини замбил (носилка)ларда кўчириш керак. Бунинг учун уни ердан ёки полдан бироз кўтариб, тагига замбилни киритиш керак. Бу, айниқса умуртқа синганда муҳим ҳисобланади. </a:t>
            </a:r>
          </a:p>
          <a:p>
            <a:pPr indent="449263" algn="just"/>
            <a:r>
              <a:rPr lang="uz-Cyrl-UZ" sz="1700" b="1">
                <a:solidFill>
                  <a:srgbClr val="0000FF"/>
                </a:solidFill>
                <a:ea typeface="Times New Roman" pitchFamily="18" charset="0"/>
                <a:cs typeface="Arial" charset="0"/>
              </a:rPr>
              <a:t>Шундай ҳолларда, кимдир синган жойни ушлаб ҳам туриши керак.</a:t>
            </a:r>
          </a:p>
        </p:txBody>
      </p:sp>
      <p:pic>
        <p:nvPicPr>
          <p:cNvPr id="38915" name="Рисунок 4" descr="0006-007-Pervaja-pomosch-pri-travme-pozvonochnika.jpg"/>
          <p:cNvPicPr>
            <a:picLocks noChangeAspect="1" noChangeArrowheads="1"/>
          </p:cNvPicPr>
          <p:nvPr/>
        </p:nvPicPr>
        <p:blipFill>
          <a:blip r:embed="rId2">
            <a:lum bright="-10000" contrast="40000"/>
          </a:blip>
          <a:srcRect/>
          <a:stretch>
            <a:fillRect/>
          </a:stretch>
        </p:blipFill>
        <p:spPr bwMode="auto">
          <a:xfrm>
            <a:off x="533400" y="1066800"/>
            <a:ext cx="3200400" cy="2819400"/>
          </a:xfrm>
          <a:prstGeom prst="rect">
            <a:avLst/>
          </a:prstGeom>
          <a:noFill/>
          <a:ln w="9525">
            <a:noFill/>
            <a:miter lim="800000"/>
            <a:headEnd/>
            <a:tailEnd/>
          </a:ln>
        </p:spPr>
      </p:pic>
      <p:sp>
        <p:nvSpPr>
          <p:cNvPr id="38916" name="Прямоугольник 5"/>
          <p:cNvSpPr>
            <a:spLocks noChangeArrowheads="1"/>
          </p:cNvSpPr>
          <p:nvPr/>
        </p:nvSpPr>
        <p:spPr bwMode="auto">
          <a:xfrm>
            <a:off x="381000" y="3810000"/>
            <a:ext cx="8534400" cy="2185988"/>
          </a:xfrm>
          <a:prstGeom prst="rect">
            <a:avLst/>
          </a:prstGeom>
          <a:noFill/>
          <a:ln w="9525">
            <a:noFill/>
            <a:miter lim="800000"/>
            <a:headEnd/>
            <a:tailEnd/>
          </a:ln>
        </p:spPr>
        <p:txBody>
          <a:bodyPr>
            <a:spAutoFit/>
          </a:bodyPr>
          <a:lstStyle/>
          <a:p>
            <a:pPr algn="just"/>
            <a:r>
              <a:rPr lang="uz-Cyrl-UZ" sz="1700" b="1">
                <a:solidFill>
                  <a:srgbClr val="0000FF"/>
                </a:solidFill>
                <a:ea typeface="Times New Roman" pitchFamily="18" charset="0"/>
                <a:cs typeface="Arial" charset="0"/>
              </a:rPr>
              <a:t>	Умуртқа синганда, агар замбил юмшоқ бўлса, шунингдек пастки жағ синганда, жабрланувчини нафас олиши қийинлашиб қолса, уни юзи билан пастга қаратиб ётқизиш керак. Жабрланувчини замбилдан туширишни, уни замбилга кўтариб ётқизиш каби усулларини бажаришни билиш керак. Оғир жабрланганни ташишда, мумкин қадар уни ўша замбилда тагига юмшоқ нарса (сомон ёки хашак) тўшаб, машина ёки аравага аста - секин қўйиш керак. Жабрланувчини силкитмасдан, эҳтиёт қилиб бориш керак. Жабрланувчиларни ташиш усуллари юқоридаги расмларда кўрсатилган</a:t>
            </a:r>
            <a:endParaRPr lang="ru-RU" sz="1700" b="1">
              <a:solidFill>
                <a:srgbClr val="0000FF"/>
              </a:solidFill>
              <a:ea typeface="Times New Roman" pitchFamily="18" charset="0"/>
              <a:cs typeface="Arial"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7" name="Picture 2" descr="C:\Users\eshankulov\Desktop\img10.jpg"/>
          <p:cNvPicPr>
            <a:picLocks noChangeAspect="1" noChangeArrowheads="1"/>
          </p:cNvPicPr>
          <p:nvPr/>
        </p:nvPicPr>
        <p:blipFill>
          <a:blip r:embed="rId2"/>
          <a:srcRect/>
          <a:stretch>
            <a:fillRect/>
          </a:stretch>
        </p:blipFill>
        <p:spPr bwMode="auto">
          <a:xfrm>
            <a:off x="381000" y="533400"/>
            <a:ext cx="8229600" cy="6324600"/>
          </a:xfrm>
          <a:prstGeom prst="rect">
            <a:avLst/>
          </a:prstGeom>
          <a:noFill/>
          <a:ln w="9525">
            <a:noFill/>
            <a:miter lim="800000"/>
            <a:headEnd/>
            <a:tailEnd/>
          </a:ln>
        </p:spPr>
      </p:pic>
      <p:sp>
        <p:nvSpPr>
          <p:cNvPr id="39938" name="Заголовок 1"/>
          <p:cNvSpPr txBox="1">
            <a:spLocks/>
          </p:cNvSpPr>
          <p:nvPr/>
        </p:nvSpPr>
        <p:spPr bwMode="auto">
          <a:xfrm>
            <a:off x="914400" y="609600"/>
            <a:ext cx="4114800" cy="1249363"/>
          </a:xfrm>
          <a:prstGeom prst="rect">
            <a:avLst/>
          </a:prstGeom>
          <a:solidFill>
            <a:schemeClr val="bg1"/>
          </a:solidFill>
          <a:ln w="9525">
            <a:noFill/>
            <a:miter lim="800000"/>
            <a:headEnd/>
            <a:tailEnd/>
          </a:ln>
        </p:spPr>
        <p:txBody>
          <a:bodyPr anchor="ctr"/>
          <a:lstStyle/>
          <a:p>
            <a:pPr algn="ctr"/>
            <a:r>
              <a:rPr lang="uz-Cyrl-UZ" sz="2800" b="1">
                <a:solidFill>
                  <a:srgbClr val="FF0000"/>
                </a:solidFill>
                <a:ea typeface="Times New Roman" pitchFamily="18" charset="0"/>
                <a:cs typeface="Arial" charset="0"/>
              </a:rPr>
              <a:t>Жабрланувчини кўчириш ва ташиш</a:t>
            </a:r>
            <a:endParaRPr lang="ru-RU" sz="2800" b="1">
              <a:solidFill>
                <a:srgbClr val="FF0000"/>
              </a:solidFill>
              <a:ea typeface="Times New Roman" pitchFamily="18" charset="0"/>
              <a:cs typeface="Arial" charset="0"/>
            </a:endParaRPr>
          </a:p>
        </p:txBody>
      </p:sp>
      <p:sp>
        <p:nvSpPr>
          <p:cNvPr id="39939" name="Заголовок 1"/>
          <p:cNvSpPr txBox="1">
            <a:spLocks/>
          </p:cNvSpPr>
          <p:nvPr/>
        </p:nvSpPr>
        <p:spPr bwMode="auto">
          <a:xfrm>
            <a:off x="762000" y="2209800"/>
            <a:ext cx="4191000" cy="381000"/>
          </a:xfrm>
          <a:prstGeom prst="rect">
            <a:avLst/>
          </a:prstGeom>
          <a:solidFill>
            <a:schemeClr val="bg1"/>
          </a:solidFill>
          <a:ln w="9525">
            <a:noFill/>
            <a:miter lim="800000"/>
            <a:headEnd/>
            <a:tailEnd/>
          </a:ln>
        </p:spPr>
        <p:txBody>
          <a:bodyPr anchor="ctr"/>
          <a:lstStyle/>
          <a:p>
            <a:pPr algn="ctr"/>
            <a:r>
              <a:rPr lang="uz-Cyrl-UZ" sz="2000" b="1" i="1">
                <a:solidFill>
                  <a:srgbClr val="002060"/>
                </a:solidFill>
                <a:ea typeface="Times New Roman" pitchFamily="18" charset="0"/>
                <a:cs typeface="Arial" charset="0"/>
              </a:rPr>
              <a:t>Қўл билан</a:t>
            </a:r>
            <a:endParaRPr lang="ru-RU" sz="2000" b="1" i="1">
              <a:solidFill>
                <a:srgbClr val="002060"/>
              </a:solidFill>
              <a:ea typeface="Times New Roman" pitchFamily="18" charset="0"/>
              <a:cs typeface="Arial" charset="0"/>
            </a:endParaRPr>
          </a:p>
        </p:txBody>
      </p:sp>
      <p:sp>
        <p:nvSpPr>
          <p:cNvPr id="39940" name="Заголовок 1"/>
          <p:cNvSpPr txBox="1">
            <a:spLocks/>
          </p:cNvSpPr>
          <p:nvPr/>
        </p:nvSpPr>
        <p:spPr bwMode="auto">
          <a:xfrm>
            <a:off x="5257800" y="2133600"/>
            <a:ext cx="3048000" cy="381000"/>
          </a:xfrm>
          <a:prstGeom prst="rect">
            <a:avLst/>
          </a:prstGeom>
          <a:solidFill>
            <a:schemeClr val="bg1"/>
          </a:solidFill>
          <a:ln w="9525">
            <a:noFill/>
            <a:miter lim="800000"/>
            <a:headEnd/>
            <a:tailEnd/>
          </a:ln>
        </p:spPr>
        <p:txBody>
          <a:bodyPr anchor="ctr"/>
          <a:lstStyle/>
          <a:p>
            <a:pPr algn="ctr"/>
            <a:r>
              <a:rPr lang="uz-Cyrl-UZ" sz="2000" b="1" i="1">
                <a:solidFill>
                  <a:srgbClr val="002060"/>
                </a:solidFill>
                <a:ea typeface="Times New Roman" pitchFamily="18" charset="0"/>
                <a:cs typeface="Arial" charset="0"/>
              </a:rPr>
              <a:t>Қўлда</a:t>
            </a:r>
            <a:endParaRPr lang="ru-RU" sz="2000" b="1" i="1">
              <a:solidFill>
                <a:srgbClr val="002060"/>
              </a:solidFill>
              <a:ea typeface="Times New Roman" pitchFamily="18" charset="0"/>
              <a:cs typeface="Arial"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Box 10"/>
          <p:cNvSpPr txBox="1">
            <a:spLocks noChangeArrowheads="1"/>
          </p:cNvSpPr>
          <p:nvPr/>
        </p:nvSpPr>
        <p:spPr bwMode="auto">
          <a:xfrm>
            <a:off x="1524000" y="1447800"/>
            <a:ext cx="6172200" cy="2258054"/>
          </a:xfrm>
          <a:prstGeom prst="rect">
            <a:avLst/>
          </a:prstGeom>
          <a:noFill/>
          <a:ln w="9525">
            <a:noFill/>
            <a:miter lim="800000"/>
            <a:headEnd/>
            <a:tailEnd/>
          </a:ln>
        </p:spPr>
        <p:txBody>
          <a:bodyPr wrap="square">
            <a:spAutoFit/>
          </a:bodyPr>
          <a:lstStyle/>
          <a:p>
            <a:pPr algn="ctr">
              <a:lnSpc>
                <a:spcPct val="150000"/>
              </a:lnSpc>
            </a:pPr>
            <a:r>
              <a:rPr lang="uz-Cyrl-UZ" sz="5000" b="1" dirty="0"/>
              <a:t>Эътиборларингиз учун рахмат</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595</TotalTime>
  <Words>2025</Words>
  <Application>Microsoft Office PowerPoint</Application>
  <PresentationFormat>Экран (4:3)</PresentationFormat>
  <Paragraphs>193</Paragraphs>
  <Slides>28</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28</vt:i4>
      </vt:variant>
    </vt:vector>
  </HeadingPairs>
  <TitlesOfParts>
    <vt:vector size="33" baseType="lpstr">
      <vt:lpstr>Arial</vt:lpstr>
      <vt:lpstr>Calibri</vt:lpstr>
      <vt:lpstr>Times New Roman</vt:lpstr>
      <vt:lpstr>Verdana</vt:lpstr>
      <vt:lpstr>Office Theme</vt:lpstr>
      <vt:lpstr>Презентация PowerPoint</vt:lpstr>
      <vt:lpstr>Газ хўжалигининг принципиал схемаси</vt:lpstr>
      <vt:lpstr> Табиий газнинг хоссалари </vt:lpstr>
      <vt:lpstr>Презентация PowerPoint</vt:lpstr>
      <vt:lpstr>Презентация PowerPoint</vt:lpstr>
      <vt:lpstr>Табиий газдан турмушда фойдаланиш</vt:lpstr>
      <vt:lpstr> Ис гази нима? </vt:lpstr>
      <vt:lpstr>Презентация PowerPoint</vt:lpstr>
      <vt:lpstr>Презентация PowerPoint</vt:lpstr>
      <vt:lpstr>Ис газини юзага келтирувчи асосий газ жиҳозлари </vt:lpstr>
      <vt:lpstr>Турмушда  табиий газдан фойдаланилаётганда абонентларга қуйидагилар тақиқланади: </vt:lpstr>
      <vt:lpstr>Cуюлтирилган газнинг хоссалари</vt:lpstr>
      <vt:lpstr>Презентация PowerPoint</vt:lpstr>
      <vt:lpstr>Суюлтирилган газдан турмушда ҳавфсиз фойдаланиш</vt:lpstr>
      <vt:lpstr>Презентация PowerPoint</vt:lpstr>
      <vt:lpstr>Презентация PowerPoint</vt:lpstr>
      <vt:lpstr>Газдан заҳарланганда биринчи ёрдам кўрсатиш</vt:lpstr>
      <vt:lpstr>Презентация PowerPoint</vt:lpstr>
      <vt:lpstr>Газ ҳидини сезсангиз!</vt:lpstr>
      <vt:lpstr> Жароҳатлангада қон  кетишини  тўхтатиш</vt:lpstr>
      <vt:lpstr>Презентация PowerPoint</vt:lpstr>
      <vt:lpstr>Куйганда биринчи ёрдам кўрсатиш</vt:lpstr>
      <vt:lpstr>Презентация PowerPoint</vt:lpstr>
      <vt:lpstr>Кимёвий ва электр токи таъсиридан куйиш</vt:lpstr>
      <vt:lpstr>Сунъий нафас бериш усуллари</vt:lpstr>
      <vt:lpstr>Жабрланувчини кўчириш ва ташиш</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eshankulov</dc:creator>
  <cp:lastModifiedBy>Абдусаттар Каюмов Абдукадирович</cp:lastModifiedBy>
  <cp:revision>37</cp:revision>
  <dcterms:created xsi:type="dcterms:W3CDTF">2016-10-27T11:43:00Z</dcterms:created>
  <dcterms:modified xsi:type="dcterms:W3CDTF">2022-11-22T11:53:32Z</dcterms:modified>
</cp:coreProperties>
</file>